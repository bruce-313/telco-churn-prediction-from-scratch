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63" r:id="rId4"/>
    <p:sldId id="312" r:id="rId5"/>
    <p:sldId id="321" r:id="rId7"/>
    <p:sldId id="322" r:id="rId8"/>
    <p:sldId id="340" r:id="rId9"/>
    <p:sldId id="277" r:id="rId10"/>
    <p:sldId id="273" r:id="rId11"/>
    <p:sldId id="329" r:id="rId12"/>
    <p:sldId id="330" r:id="rId13"/>
    <p:sldId id="331" r:id="rId14"/>
    <p:sldId id="332" r:id="rId15"/>
    <p:sldId id="333" r:id="rId16"/>
    <p:sldId id="334" r:id="rId17"/>
    <p:sldId id="335" r:id="rId18"/>
    <p:sldId id="336" r:id="rId19"/>
    <p:sldId id="337" r:id="rId20"/>
    <p:sldId id="338" r:id="rId21"/>
    <p:sldId id="323" r:id="rId22"/>
    <p:sldId id="341" r:id="rId23"/>
    <p:sldId id="316" r:id="rId24"/>
    <p:sldId id="324" r:id="rId25"/>
    <p:sldId id="296" r:id="rId26"/>
    <p:sldId id="342" r:id="rId27"/>
    <p:sldId id="326" r:id="rId28"/>
    <p:sldId id="328" r:id="rId29"/>
    <p:sldId id="327" r:id="rId30"/>
    <p:sldId id="343" r:id="rId31"/>
    <p:sldId id="325"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3904" userDrawn="1">
          <p15:clr>
            <a:srgbClr val="A4A3A4"/>
          </p15:clr>
        </p15:guide>
        <p15:guide id="3" pos="393" userDrawn="1">
          <p15:clr>
            <a:srgbClr val="A4A3A4"/>
          </p15:clr>
        </p15:guide>
        <p15:guide id="4" pos="7243" userDrawn="1">
          <p15:clr>
            <a:srgbClr val="A4A3A4"/>
          </p15:clr>
        </p15:guide>
        <p15:guide id="5" pos="1242" userDrawn="1">
          <p15:clr>
            <a:srgbClr val="A4A3A4"/>
          </p15:clr>
        </p15:guide>
        <p15:guide id="6" orient="horz" pos="570" userDrawn="1">
          <p15:clr>
            <a:srgbClr val="A4A3A4"/>
          </p15:clr>
        </p15:guide>
        <p15:guide id="7" orient="horz" pos="2637" userDrawn="1">
          <p15:clr>
            <a:srgbClr val="A4A3A4"/>
          </p15:clr>
        </p15:guide>
        <p15:guide id="8" orient="horz" pos="2326" userDrawn="1">
          <p15:clr>
            <a:srgbClr val="A4A3A4"/>
          </p15:clr>
        </p15:guide>
        <p15:guide id="9" orient="horz" pos="3876" userDrawn="1">
          <p15:clr>
            <a:srgbClr val="A4A3A4"/>
          </p15:clr>
        </p15:guide>
        <p15:guide id="10" pos="6440" userDrawn="1">
          <p15:clr>
            <a:srgbClr val="A4A3A4"/>
          </p15:clr>
        </p15:guide>
        <p15:guide id="11" pos="29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F5DFC1"/>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5" autoAdjust="0"/>
    <p:restoredTop sz="96310" autoAdjust="0"/>
  </p:normalViewPr>
  <p:slideViewPr>
    <p:cSldViewPr snapToGrid="0" showGuides="1">
      <p:cViewPr varScale="1">
        <p:scale>
          <a:sx n="94" d="100"/>
          <a:sy n="94" d="100"/>
        </p:scale>
        <p:origin x="228" y="45"/>
      </p:cViewPr>
      <p:guideLst>
        <p:guide orient="horz" pos="1440"/>
        <p:guide pos="3904"/>
        <p:guide pos="393"/>
        <p:guide pos="7243"/>
        <p:guide pos="1242"/>
        <p:guide orient="horz" pos="570"/>
        <p:guide orient="horz" pos="2637"/>
        <p:guide orient="horz" pos="2326"/>
        <p:guide orient="horz" pos="3876"/>
        <p:guide pos="6440"/>
        <p:guide pos="29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4A753B-2874-4FFC-84E0-4174D26EC6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B00FA9-2D04-4F22-B39D-7ACD5AA67CD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introduce   </a:t>
            </a:r>
            <a:endParaRPr lang="en-US" altLang="zh-CN"/>
          </a:p>
          <a:p>
            <a:r>
              <a:rPr lang="en-US" altLang="zh-CN"/>
              <a:t>describe</a:t>
            </a:r>
            <a:endParaRPr lang="en-US" altLang="zh-CN"/>
          </a:p>
          <a:p>
            <a:r>
              <a:rPr lang="en-US" altLang="zh-CN"/>
              <a:t>present   </a:t>
            </a:r>
            <a:endParaRPr lang="en-US" altLang="zh-CN"/>
          </a:p>
          <a:p>
            <a:r>
              <a:rPr lang="en-US" altLang="zh-CN"/>
              <a:t>after that    show</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From a business perspective, churn is a very important problem because losing customers directly reduces revenue. Also, it is widely known that XXX so churn prevention is a cost-effective strategy.</a:t>
            </a:r>
            <a:endParaRPr lang="en-US" altLang="zh-CN"/>
          </a:p>
          <a:p>
            <a:r>
              <a:rPr lang="en-US" altLang="zh-CN"/>
              <a:t>In our project, we aim to predict whether a customer will churn based on customer information such as contract type, service usage, payment method, and billing-related features. This is a binary classification problem: the target label is either churn or not churn.</a:t>
            </a:r>
            <a:endParaRPr lang="en-US" altLang="zh-CN"/>
          </a:p>
          <a:p>
            <a:r>
              <a:rPr lang="en-US" altLang="zh-CN"/>
              <a:t>The practical value is that if we can identify high-risk customers early, the company can take actions such as targeted discounts, service upgrades, or customer support interventions to reduce churn.</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The raw dataset contains XXX including both numerical </a:t>
            </a:r>
            <a:r>
              <a:rPr lang="zh-CN" altLang="en-US"/>
              <a:t>&amp;</a:t>
            </a:r>
            <a:r>
              <a:rPr lang="en-US" altLang="zh-CN"/>
              <a:t>categorical variables. The target column is Churn, labeled as Yes or No.</a:t>
            </a:r>
            <a:endParaRPr lang="en-US" altLang="zh-CN"/>
          </a:p>
          <a:p>
            <a:r>
              <a:rPr lang="en-US" altLang="zh-CN"/>
              <a:t>During cleaning, we handle the `TotalCharges` column by converting it to numeric values. Some entries are missing or non-numeric, so we treat them properly and remove a small number of invalid rows. After cleaning, we have 703</a:t>
            </a:r>
            <a:endParaRPr lang="en-US" altLang="zh-CN"/>
          </a:p>
          <a:p>
            <a:r>
              <a:rPr lang="en-US" altLang="zh-CN"/>
              <a:t>Because many features are categorical, we apply one-hot encoding, so the feature dimension increases to 46 encoded features. Later in preprocessing, we standardize numerical features such as tenure and charges.</a:t>
            </a:r>
            <a:endParaRPr lang="en-US" altLang="zh-CN"/>
          </a:p>
          <a:p>
            <a:r>
              <a:rPr lang="en-US" altLang="zh-CN"/>
              <a:t>So overall, this dataset has sufficient size and a rich mixture of feature types, which allows meaningful comparisons among different models. In the next section, we will show exploratory data analysis to understand class distribution and key churn-related patterns.</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I am Huang Yu. Let me introduce sections three, model theory and implementation</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en-US" altLang="zh-CN">
                <a:cs typeface="Arial" panose="020B0604020202020204" pitchFamily="34" charset="0"/>
              </a:rPr>
              <a:t>.</a:t>
            </a:r>
            <a:r>
              <a:rPr lang="en-US" altLang="zh-CN"/>
              <a:t>Because of this imbalance, accuracy alone is not enough, so we also use metrics such as precision, recall, F1</a:t>
            </a:r>
            <a:r>
              <a:rPr lang="zh-CN" altLang="en-US"/>
              <a:t>-</a:t>
            </a:r>
            <a:r>
              <a:rPr lang="en-US" altLang="zh-CN"/>
              <a:t>score, ROC</a:t>
            </a:r>
            <a:r>
              <a:rPr lang="zh-CN" altLang="en-US"/>
              <a:t>-</a:t>
            </a:r>
            <a:r>
              <a:rPr lang="en-US" altLang="zh-CN"/>
              <a:t>AUC, and PR</a:t>
            </a:r>
            <a:r>
              <a:rPr lang="zh-CN" altLang="en-US"/>
              <a:t>-</a:t>
            </a:r>
            <a:r>
              <a:rPr lang="en-US" altLang="zh-CN"/>
              <a:t>AUC.</a:t>
            </a:r>
            <a:endParaRPr lang="en-US" altLang="zh-CN"/>
          </a:p>
          <a:p>
            <a:r>
              <a:rPr lang="en-US" altLang="zh-CN"/>
              <a:t>2.This suggests that longer contracts are associated with more stable customers.</a:t>
            </a:r>
            <a:endParaRPr lang="en-US" altLang="zh-CN"/>
          </a:p>
          <a:p>
            <a:r>
              <a:rPr lang="en-US" altLang="zh-CN"/>
              <a:t>3.Customers using electronic check also churn more frequently, with a churn rate around 45.3%, much higher than automatic payment methods.</a:t>
            </a:r>
            <a:endParaRPr lang="en-US" altLang="zh-CN"/>
          </a:p>
          <a:p>
            <a:r>
              <a:rPr lang="en-US" altLang="zh-CN"/>
              <a:t>4.Overall, EDA suggests that contract type, tenure, internet service, and payment method are informative features for churn prediction.</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6</a:t>
            </a:r>
            <a:r>
              <a:rPr lang="en-US" altLang="zh-CN">
                <a:cs typeface="Arial" panose="020B0604020202020204" pitchFamily="34" charset="0"/>
              </a:rPr>
              <a:t>.</a:t>
            </a:r>
            <a:r>
              <a:rPr lang="en-US" altLang="zh-CN"/>
              <a:t>For categorical variables such as Contract, InternetService, and PaymentMethod, we used one</a:t>
            </a:r>
            <a:r>
              <a:rPr lang="zh-CN" altLang="en-US"/>
              <a:t>-</a:t>
            </a:r>
            <a:r>
              <a:rPr lang="en-US" altLang="zh-CN"/>
              <a:t>hot encoding. This converts categories into numerical binary features, which can be used by our from</a:t>
            </a:r>
            <a:r>
              <a:rPr lang="zh-CN" altLang="en-US"/>
              <a:t>-</a:t>
            </a:r>
            <a:r>
              <a:rPr lang="en-US" altLang="zh-CN"/>
              <a:t>scratch models.</a:t>
            </a:r>
            <a:endParaRPr lang="en-US" altLang="zh-CN"/>
          </a:p>
          <a:p>
            <a:r>
              <a:rPr lang="en-US" altLang="zh-CN"/>
              <a:t>7.makes gradient descent more stable.</a:t>
            </a:r>
            <a:endParaRPr lang="en-US" altLang="zh-CN"/>
          </a:p>
          <a:p>
            <a:r>
              <a:rPr lang="en-US" altLang="zh-CN"/>
              <a:t>8.which keeps the churn ratio similar in each fold and helps produce a fairer model evaluation.</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I am Huang Yu. Let me introduce sections three, model theory and implementation</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These are the three models we have implemented logistic regression, gaussian, NAV bay, and decision tree</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For logistic regression, first we used sigmoid function to scale the results of multiplication between 0 and 1. Next, we set 0.5 as the liner decision boundary. Then, we defined a loss function using binary cross entropy to which measures the GAP between predicted probabilities and true labels. Finally, we used gradient descent to minimize the loss which it updates parameters by gradient. Additionally, to prevent over fitting and limit the parameter scale, we applied l2 regularization strategy</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0" i="0" u="none" strike="noStrike" kern="1200" dirty="0">
                <a:solidFill>
                  <a:schemeClr val="tx1"/>
                </a:solidFill>
                <a:effectLst/>
                <a:latin typeface="+mn-lt"/>
                <a:ea typeface="+mn-ea"/>
                <a:cs typeface="+mn-cs"/>
              </a:rPr>
              <a:t>Now let me introduce the pros and cons of logistic regression. First, it is highly interpretable. The sign of weight w directly reflect the feature's impact on the result, and it is simple and fast and often used as a baseline model for large scale data. However, it has a limited capacity as well as a prone to under fitting if the decision boundary is long liner in reality. what's more It is sensitive to outliers, so data cleaning is essential for logistic regression</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Next, we have gaussian naïve  bayes. It is a simple and efficient classifier based on Bayer, Syrian and the knife assumption of future conditional independence. .We choose this model because it is extremely fast and insensitive to the number of classes or feature dimensions, since the number of classes of our data set is large. The above are the Syrian basics of this model. Bayes theorem, which calculates the protester probability of a class, naive assumption, which assumes all features are conditionally independent, gaussian distribution, which assumes that condition features follow normal distribution, and the decision rule, which predicts the class with the maximum posterior probability</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The steps of training gaussian naïve bears is simple. First, we calculate the prior probability for each class. Second, we calculate the mean meal and standard deviation for each class and feature. Third, we use this function to calculate the posterior probability of each new sample. At last, we select the class with the highest score as the prediction result</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Now let's look at the pros and cons of this </a:t>
            </a:r>
            <a:r>
              <a:rPr lang="en-US" sz="1400" b="0" i="0" u="none" strike="noStrike" dirty="0" err="1">
                <a:solidFill>
                  <a:srgbClr val="000000"/>
                </a:solidFill>
              </a:rPr>
              <a:t>model..First</a:t>
            </a:r>
            <a:r>
              <a:rPr lang="en-US" sz="1400" b="0" i="0" u="none" strike="noStrike" dirty="0">
                <a:solidFill>
                  <a:srgbClr val="000000"/>
                </a:solidFill>
              </a:rPr>
              <a:t>, it is extremely fast in training because it only requires calculating statistics with no iterative optimization process. Second, it is insensitive to the missing data since it bases on probabilistic design </a:t>
            </a:r>
            <a:r>
              <a:rPr lang="en-US" sz="1400" b="0" i="0" u="none" strike="noStrike" dirty="0" err="1">
                <a:solidFill>
                  <a:srgbClr val="000000"/>
                </a:solidFill>
              </a:rPr>
              <a:t>principles..However</a:t>
            </a:r>
            <a:r>
              <a:rPr lang="en-US" sz="1400" b="0" i="0" u="none" strike="noStrike" dirty="0">
                <a:solidFill>
                  <a:srgbClr val="000000"/>
                </a:solidFill>
              </a:rPr>
              <a:t>, we assume that all the features are independent, but features in real world data are often correlated. Additionally, this model is based on the gaussian distribution </a:t>
            </a:r>
            <a:r>
              <a:rPr lang="en-US" sz="1400" b="0" i="0" u="none" strike="noStrike" dirty="0" err="1">
                <a:solidFill>
                  <a:srgbClr val="000000"/>
                </a:solidFill>
              </a:rPr>
              <a:t>and.Is</a:t>
            </a:r>
            <a:r>
              <a:rPr lang="en-US" sz="1400" b="0" i="0" u="none" strike="noStrike" dirty="0">
                <a:solidFill>
                  <a:srgbClr val="000000"/>
                </a:solidFill>
              </a:rPr>
              <a:t> sensitive to the distribution of the data set</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altLang="zh-CN" sz="1400" b="0" i="0" u="none" strike="noStrike" kern="1200" dirty="0">
                <a:solidFill>
                  <a:schemeClr val="tx1"/>
                </a:solidFill>
                <a:effectLst/>
                <a:latin typeface="+mn-lt"/>
                <a:ea typeface="+mn-ea"/>
                <a:cs typeface="+mn-cs"/>
              </a:rPr>
              <a:t>Now let's move on to decision tree. The training process of decision tree is recursive. First, we find an optimal split, we iterate through all the features and thresholds, calculating the genie impurity after splitting to select the optimal one. Then we split the data set into two subsets based on the optimal split and create child nodes. third. We replace all the above process for each child node to build sub trees .And at last, when it reaches the maximum depth or the number of samples in a node is too small, we stops the recursion. Our criterion of splitting is genie impurity, which ranges from zero to 0.5 and our goal is to find the split that maximizes the reduction of impurity</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0" i="0" u="none" strike="noStrike" kern="1200" dirty="0">
                <a:solidFill>
                  <a:schemeClr val="tx1"/>
                </a:solidFill>
                <a:effectLst/>
                <a:latin typeface="+mn-lt"/>
                <a:ea typeface="+mn-ea"/>
                <a:cs typeface="+mn-cs"/>
              </a:rPr>
              <a:t>When it comes to the pros and cons of decision tree, it is high interpretable either because the decision process is clear and intuitive and similar to human decision making logic. Additionally, it handles non linear relationships and no complex transformations of the data are needed. However. They are prone to over fitting things on restricted growth makes them memorize noises which leads to poor generation ability. Decision trees are in stable as well because slight adjustments or sampling of the training data may lead to completely different tree structures</a:t>
            </a:r>
            <a:endParaRPr lang="en-US" altLang="zh-CN" sz="1400" b="0" i="0" u="none" strike="noStrike" kern="1200" dirty="0">
              <a:solidFill>
                <a:schemeClr val="tx1"/>
              </a:solidFill>
              <a:effectLst/>
              <a:latin typeface="+mn-lt"/>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Now I’ll summarize our main experimental results based on stratified 5-fold cross validation.</a:t>
            </a:r>
            <a:endParaRPr lang="en-US" altLang="zh-CN"/>
          </a:p>
          <a:p>
            <a:r>
              <a:rPr lang="en-US" altLang="zh-CN"/>
              <a:t>Overall, Gaussian Naive Bayes achieves the best F1-score, meaning it gives the best balance between precision and recall at the chosen threshold. Logistic Regression has the highest ROC-AUC, so it ranks churn customers most reliably across thresholds. Decision Tree is competitive, but its performance is slightly less stable across folds.</a:t>
            </a:r>
            <a:endParaRPr lang="en-US" altLang="zh-CN"/>
          </a:p>
          <a:p>
            <a:r>
              <a:rPr lang="en-US" altLang="zh-CN"/>
              <a:t>In short: if we care about ranking quality, Logistic Regression is strongest; if we care about F1 at a specific operating point, Naive Bayes performs best; and the Decision Tree can capture nonlinearity but needs careful tuning.</a:t>
            </a:r>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This slide compares ROC curves and precision–recall curves.</a:t>
            </a:r>
            <a:endParaRPr lang="en-US" altLang="zh-CN"/>
          </a:p>
          <a:p>
            <a:r>
              <a:rPr lang="en-US" altLang="zh-CN"/>
              <a:t>ROC-AUC measures how well a model separates churn vs non-churn across different false positive rates, and Logistic Regression leads here, consistent with its strong ranking ability.</a:t>
            </a:r>
            <a:endParaRPr lang="en-US" altLang="zh-CN"/>
          </a:p>
          <a:p>
            <a:r>
              <a:rPr lang="en-US" altLang="zh-CN"/>
              <a:t>But since churn is class-imbalanced, PR curves are often more actionable. PR focuses directly on the positive class—churn customers—so it highlights the trade-off we actually face: increasing recall catches more churners, but may reduce precision, meaning more unnecessary retention offers.</a:t>
            </a:r>
            <a:endParaRPr lang="en-US" altLang="zh-CN"/>
          </a:p>
          <a:p>
            <a:r>
              <a:rPr lang="en-US" altLang="zh-CN"/>
              <a:t>So we use ROC to evaluate ranking, but we rely more on PR to decide a practical operating point.</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Next is efficiency and generalization.</a:t>
            </a:r>
            <a:endParaRPr lang="en-US" altLang="zh-CN"/>
          </a:p>
          <a:p>
            <a:r>
              <a:rPr lang="en-US" altLang="zh-CN"/>
              <a:t>Naive Bayes is the fastest, because training is just estimating class-wise means and variances. Logistic Regression is slower due to iterative gradient-based optimization. Decision Trees can also be slower since they search over many possible splits.</a:t>
            </a:r>
            <a:endParaRPr lang="en-US" altLang="zh-CN"/>
          </a:p>
          <a:p>
            <a:r>
              <a:rPr lang="en-US" altLang="zh-CN"/>
              <a:t>For generalization, Logistic Regression shows the smallest train–validation gap, which indicates stable behavior. The Decision Tree shows higher overfitting risk, so controlling depth and other complexity-related parameters is important.</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Here we show sensitivity to hyperparameters, which reflects the bias–variance trade-off.</a:t>
            </a:r>
            <a:endParaRPr lang="en-US" altLang="zh-CN"/>
          </a:p>
          <a:p>
            <a:r>
              <a:rPr lang="en-US" altLang="zh-CN"/>
              <a:t>For Logistic Regression, overly strong L2 regularization can hurt validation performance because it makes the model too rigid. So we need moderate regularization.</a:t>
            </a:r>
            <a:endParaRPr lang="en-US" altLang="zh-CN"/>
          </a:p>
          <a:p>
            <a:r>
              <a:rPr lang="en-US" altLang="zh-CN"/>
              <a:t>For the Decision Tree, increasing max depth usually improves training F1, but validation performance may plateau or drop—classic overfitting.</a:t>
            </a:r>
            <a:endParaRPr lang="en-US" altLang="zh-CN"/>
          </a:p>
          <a:p>
            <a:r>
              <a:rPr lang="en-US" altLang="zh-CN"/>
              <a:t>The takeaway is that tuning is not just for better numbers; it also explains why flexible models can degrade on unseen data without constraints.</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b="1"/>
              <a:t>This slide shows a **threshold sensitivity analysis**. We sweep the decision threshold from 0.2 to 0.8 and track how **precision, recall, F1-score, and balanced accuracy** change.</a:t>
            </a:r>
            <a:endParaRPr lang="en-US" altLang="zh-CN" b="1"/>
          </a:p>
          <a:p>
            <a:endParaRPr lang="en-US" altLang="zh-CN" b="1"/>
          </a:p>
          <a:p>
            <a:r>
              <a:rPr lang="en-US" altLang="zh-CN" b="1"/>
              <a:t>On the **left**, with standard **Logistic Regression**, increasing the threshold makes the model more conservative. As a result, **precision steadily increases**, but **recall drops sharply**, so **F1 first improves and then declines**. The dashed line marks the best threshold by F1, which is around **0.30**. This tells us that for an imbalanced churn dataset, using a threshold **lower than 0.5** can better balance catching churners while keeping false alarms manageable.</a:t>
            </a:r>
            <a:endParaRPr lang="en-US" altLang="zh-CN" b="1"/>
          </a:p>
          <a:p>
            <a:endParaRPr lang="en-US" altLang="zh-CN" b="1"/>
          </a:p>
          <a:p>
            <a:r>
              <a:rPr lang="en-US" altLang="zh-CN" b="1"/>
              <a:t>On the **right**, with **cost-sensitive Logistic Regression**, the trade-off shifts because mistakes have different costs. Here, the best F1 happens at a higher threshold, around **0.55**. </a:t>
            </a:r>
            <a:endParaRPr lang="en-US" altLang="zh-CN" b="1"/>
          </a:p>
          <a:p>
            <a:endParaRPr lang="en-US" altLang="zh-CN" b="1"/>
          </a:p>
          <a:p>
            <a:r>
              <a:rPr lang="en-US" altLang="zh-CN" b="1"/>
              <a:t>The key takeaway is that the threshold should be **tuned to the business objective**, not fixed at 0.5, because it directly controls the precision–recall trade-off.</a:t>
            </a:r>
            <a:endParaRPr lang="en-US" altLang="zh-CN"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On this slide, we show learning curves for both F1-score on the left and accuracy on the right, as we increase the training set size.</a:t>
            </a:r>
            <a:endParaRPr lang="en-US" altLang="zh-CN"/>
          </a:p>
          <a:p>
            <a:r>
              <a:rPr lang="en-US" altLang="zh-CN"/>
              <a:t>A key takeaway is that validation curves become more stable with more data—the fluctuations and the gap between training and validation generally shrink. This suggests our models benefit from additional samples and that the current dataset size is reasonable, but not yet fully saturated.</a:t>
            </a:r>
            <a:endParaRPr lang="en-US" altLang="zh-CN"/>
          </a:p>
          <a:p>
            <a:r>
              <a:rPr lang="en-US" altLang="zh-CN"/>
              <a:t>We also see different generalization behaviors: Logistic Regression stays relatively stable, while more flexible models, especially the Decision Tree, show a larger train–validation gap, indicating higher overfitting risk.</a:t>
            </a:r>
            <a:endParaRPr lang="en-US" altLang="zh-CN"/>
          </a:p>
          <a:p>
            <a:r>
              <a:rPr lang="zh-CN" altLang="en-US"/>
              <a:t>记得讲一下创新点（就是两个新模型）的提升（左图）直接读图</a:t>
            </a:r>
            <a:r>
              <a:rPr lang="zh-CN" altLang="en-US"/>
              <a:t>就好</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1.7.2013</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cs-CZ"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To summarize our contributions: we didn’t just implement three standard models—we adapted them for churn, covering modeling, training, and deployment.</a:t>
            </a:r>
            <a:endParaRPr lang="en-US" altLang="zh-CN"/>
          </a:p>
          <a:p>
            <a:r>
              <a:rPr lang="en-US" altLang="zh-CN"/>
              <a:t>First, we built a Hybrid Naive Bayes for mixed telecom features—Gaussian for continuous variables and Bernoulli for binary ones—which improved F1 over standard Gaussian NB.</a:t>
            </a:r>
            <a:endParaRPr lang="en-US" altLang="zh-CN"/>
          </a:p>
          <a:p>
            <a:r>
              <a:rPr lang="en-US" altLang="zh-CN"/>
              <a:t>Second, we designed a cost-sensitive Logistic Regression by weighting business costs in the loss, so the model penalizes missed churners more during training. As evidence, the best threshold shifted from 0.30 to 0.55, showing imbalance was handled in training, not only by post-hoc tuning.</a:t>
            </a:r>
            <a:endParaRPr lang="en-US" altLang="zh-CN"/>
          </a:p>
          <a:p>
            <a:r>
              <a:rPr lang="en-US" altLang="zh-CN"/>
              <a:t>Third, we provided a threshold selection framework for deployment: the right threshold should be chosen based on business costs, not a default 0.5.</a:t>
            </a:r>
            <a:endParaRPr lang="en-US" altLang="zh-CN"/>
          </a:p>
          <a:p>
            <a:r>
              <a:rPr lang="en-US" altLang="zh-CN"/>
              <a:t>Overall, these improvements form an end-to-end churn prediction pipeline.</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2B21A70-E21A-4B5F-AB8A-B8814C50169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8813B4-C22F-49CB-AE8C-5A9FF229A91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microsoft.com/office/2007/relationships/hdphoto" Target="../media/image2.wdp"/><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extLst>
              <a:ext uri="{BEBA8EAE-BF5A-486C-A8C5-ECC9F3942E4B}">
                <a14:imgProps xmlns:a14="http://schemas.microsoft.com/office/drawing/2010/main">
                  <a14:imgLayer r:embed="rId13">
                    <a14:imgEffect>
                      <a14:brightnessContrast contrast="-2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B21A70-E21A-4B5F-AB8A-B8814C50169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813B4-C22F-49CB-AE8C-5A9FF229A91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image" Target="../media/image4.png"/><Relationship Id="rId5" Type="http://schemas.openxmlformats.org/officeDocument/2006/relationships/tags" Target="../tags/tag5.xml"/><Relationship Id="rId4" Type="http://schemas.openxmlformats.org/officeDocument/2006/relationships/tags" Target="../tags/tag4.xml"/><Relationship Id="rId33" Type="http://schemas.openxmlformats.org/officeDocument/2006/relationships/slideLayout" Target="../slideLayouts/slideLayout7.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3.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image" Target="../media/image4.png"/><Relationship Id="rId5" Type="http://schemas.openxmlformats.org/officeDocument/2006/relationships/tags" Target="../tags/tag36.xml"/><Relationship Id="rId4" Type="http://schemas.openxmlformats.org/officeDocument/2006/relationships/tags" Target="../tags/tag35.xml"/><Relationship Id="rId34" Type="http://schemas.openxmlformats.org/officeDocument/2006/relationships/notesSlide" Target="../notesSlides/notesSlide6.xml"/><Relationship Id="rId33" Type="http://schemas.openxmlformats.org/officeDocument/2006/relationships/slideLayout" Target="../slideLayouts/slideLayout7.xml"/><Relationship Id="rId32" Type="http://schemas.openxmlformats.org/officeDocument/2006/relationships/tags" Target="../tags/tag62.xml"/><Relationship Id="rId31" Type="http://schemas.openxmlformats.org/officeDocument/2006/relationships/tags" Target="../tags/tag61.xml"/><Relationship Id="rId30" Type="http://schemas.openxmlformats.org/officeDocument/2006/relationships/tags" Target="../tags/tag60.xml"/><Relationship Id="rId3" Type="http://schemas.openxmlformats.org/officeDocument/2006/relationships/tags" Target="../tags/tag34.xml"/><Relationship Id="rId29" Type="http://schemas.openxmlformats.org/officeDocument/2006/relationships/tags" Target="../tags/tag59.xml"/><Relationship Id="rId28" Type="http://schemas.openxmlformats.org/officeDocument/2006/relationships/tags" Target="../tags/tag58.xml"/><Relationship Id="rId27" Type="http://schemas.openxmlformats.org/officeDocument/2006/relationships/tags" Target="../tags/tag57.xml"/><Relationship Id="rId26" Type="http://schemas.openxmlformats.org/officeDocument/2006/relationships/tags" Target="../tags/tag56.xml"/><Relationship Id="rId25" Type="http://schemas.openxmlformats.org/officeDocument/2006/relationships/tags" Target="../tags/tag55.xml"/><Relationship Id="rId24" Type="http://schemas.openxmlformats.org/officeDocument/2006/relationships/tags" Target="../tags/tag54.xml"/><Relationship Id="rId23" Type="http://schemas.openxmlformats.org/officeDocument/2006/relationships/tags" Target="../tags/tag53.xml"/><Relationship Id="rId22" Type="http://schemas.openxmlformats.org/officeDocument/2006/relationships/tags" Target="../tags/tag5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3.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image" Target="../media/image4.png"/><Relationship Id="rId4" Type="http://schemas.openxmlformats.org/officeDocument/2006/relationships/tags" Target="../tags/tag65.xml"/><Relationship Id="rId3" Type="http://schemas.openxmlformats.org/officeDocument/2006/relationships/image" Target="../media/image11.jpeg"/><Relationship Id="rId2" Type="http://schemas.openxmlformats.org/officeDocument/2006/relationships/tags" Target="../tags/tag64.xml"/><Relationship Id="rId14" Type="http://schemas.openxmlformats.org/officeDocument/2006/relationships/slideLayout" Target="../slideLayouts/slideLayout7.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133601" y="-4735288"/>
            <a:ext cx="5689601" cy="10885717"/>
            <a:chOff x="-2133601" y="-4735288"/>
            <a:chExt cx="5689601" cy="10885717"/>
          </a:xfrm>
        </p:grpSpPr>
        <p:sp>
          <p:nvSpPr>
            <p:cNvPr id="5" name="矩形 4"/>
            <p:cNvSpPr/>
            <p:nvPr/>
          </p:nvSpPr>
          <p:spPr>
            <a:xfrm>
              <a:off x="711200" y="707572"/>
              <a:ext cx="2844800" cy="5442857"/>
            </a:xfrm>
            <a:prstGeom prst="rect">
              <a:avLst/>
            </a:prstGeom>
            <a:solidFill>
              <a:schemeClr val="bg1"/>
            </a:solid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133601" y="707572"/>
              <a:ext cx="2844800" cy="54428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11200" y="-4735288"/>
              <a:ext cx="2844800" cy="54428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133601" y="-4735288"/>
              <a:ext cx="2844800" cy="54428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9" name="直接连接符 8"/>
          <p:cNvCxnSpPr/>
          <p:nvPr/>
        </p:nvCxnSpPr>
        <p:spPr>
          <a:xfrm>
            <a:off x="870857" y="1572393"/>
            <a:ext cx="2525486" cy="0"/>
          </a:xfrm>
          <a:prstGeom prst="line">
            <a:avLst/>
          </a:prstGeom>
          <a:ln w="19050" cap="rnd">
            <a:gradFill flip="none" rotWithShape="1">
              <a:gsLst>
                <a:gs pos="0">
                  <a:schemeClr val="accent1">
                    <a:lumMod val="20000"/>
                    <a:lumOff val="80000"/>
                    <a:alpha val="53000"/>
                  </a:schemeClr>
                </a:gs>
                <a:gs pos="100000">
                  <a:schemeClr val="accent1">
                    <a:lumMod val="20000"/>
                    <a:lumOff val="80000"/>
                    <a:alpha val="53000"/>
                  </a:schemeClr>
                </a:gs>
                <a:gs pos="50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3802743" y="707569"/>
            <a:ext cx="15387864" cy="9847946"/>
            <a:chOff x="3802743" y="707569"/>
            <a:chExt cx="15387864" cy="9847946"/>
          </a:xfrm>
        </p:grpSpPr>
        <p:grpSp>
          <p:nvGrpSpPr>
            <p:cNvPr id="4" name="组合 3"/>
            <p:cNvGrpSpPr/>
            <p:nvPr/>
          </p:nvGrpSpPr>
          <p:grpSpPr>
            <a:xfrm>
              <a:off x="3802743" y="707569"/>
              <a:ext cx="15387864" cy="9847946"/>
              <a:chOff x="3802743" y="707569"/>
              <a:chExt cx="15387864" cy="9847946"/>
            </a:xfrm>
          </p:grpSpPr>
          <p:sp>
            <p:nvSpPr>
              <p:cNvPr id="17" name="矩形 16"/>
              <p:cNvSpPr/>
              <p:nvPr/>
            </p:nvSpPr>
            <p:spPr>
              <a:xfrm>
                <a:off x="3802743" y="707569"/>
                <a:ext cx="7693932" cy="4923973"/>
              </a:xfrm>
              <a:prstGeom prst="rect">
                <a:avLst/>
              </a:prstGeom>
              <a:solidFill>
                <a:schemeClr val="bg1"/>
              </a:solid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4" name="矩形 33"/>
              <p:cNvSpPr/>
              <p:nvPr/>
            </p:nvSpPr>
            <p:spPr>
              <a:xfrm>
                <a:off x="11496675" y="707569"/>
                <a:ext cx="7693932" cy="4923973"/>
              </a:xfrm>
              <a:prstGeom prst="rect">
                <a:avLst/>
              </a:prstGeom>
              <a:no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6" name="矩形 35"/>
              <p:cNvSpPr/>
              <p:nvPr/>
            </p:nvSpPr>
            <p:spPr>
              <a:xfrm>
                <a:off x="3802743" y="5631542"/>
                <a:ext cx="7693932" cy="4923973"/>
              </a:xfrm>
              <a:prstGeom prst="rect">
                <a:avLst/>
              </a:prstGeom>
              <a:no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7" name="矩形 36"/>
              <p:cNvSpPr/>
              <p:nvPr/>
            </p:nvSpPr>
            <p:spPr>
              <a:xfrm>
                <a:off x="11496675" y="5631542"/>
                <a:ext cx="7693932" cy="4923973"/>
              </a:xfrm>
              <a:prstGeom prst="rect">
                <a:avLst/>
              </a:prstGeom>
              <a:no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2" name="组合 1"/>
            <p:cNvGrpSpPr/>
            <p:nvPr/>
          </p:nvGrpSpPr>
          <p:grpSpPr>
            <a:xfrm>
              <a:off x="10370077" y="707569"/>
              <a:ext cx="1126599" cy="4923974"/>
              <a:chOff x="10370077" y="707569"/>
              <a:chExt cx="1126599" cy="4923974"/>
            </a:xfrm>
          </p:grpSpPr>
          <p:pic>
            <p:nvPicPr>
              <p:cNvPr id="35" name="图片 34"/>
              <p:cNvPicPr>
                <a:picLocks noChangeAspect="1"/>
              </p:cNvPicPr>
              <p:nvPr/>
            </p:nvPicPr>
            <p:blipFill rotWithShape="1">
              <a:blip r:embed="rId1" cstate="screen">
                <a:duotone>
                  <a:schemeClr val="accent1">
                    <a:shade val="45000"/>
                    <a:satMod val="135000"/>
                  </a:schemeClr>
                  <a:prstClr val="white"/>
                </a:duotone>
              </a:blip>
              <a:srcRect/>
              <a:stretch>
                <a:fillRect/>
              </a:stretch>
            </p:blipFill>
            <p:spPr>
              <a:xfrm>
                <a:off x="10372726" y="707569"/>
                <a:ext cx="1123950" cy="4923974"/>
              </a:xfrm>
              <a:prstGeom prst="rect">
                <a:avLst/>
              </a:prstGeom>
              <a:solidFill>
                <a:schemeClr val="bg1"/>
              </a:solidFill>
              <a:ln>
                <a:noFill/>
              </a:ln>
              <a:effectLst/>
            </p:spPr>
          </p:pic>
          <p:sp>
            <p:nvSpPr>
              <p:cNvPr id="32" name="矩形 31"/>
              <p:cNvSpPr/>
              <p:nvPr/>
            </p:nvSpPr>
            <p:spPr>
              <a:xfrm>
                <a:off x="10370077" y="707572"/>
                <a:ext cx="1126599" cy="4923971"/>
              </a:xfrm>
              <a:prstGeom prst="rect">
                <a:avLst/>
              </a:prstGeom>
              <a:gradFill flip="none" rotWithShape="1">
                <a:gsLst>
                  <a:gs pos="37000">
                    <a:schemeClr val="bg1">
                      <a:alpha val="1000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sp>
        <p:nvSpPr>
          <p:cNvPr id="12" name="矩形 11"/>
          <p:cNvSpPr/>
          <p:nvPr/>
        </p:nvSpPr>
        <p:spPr>
          <a:xfrm>
            <a:off x="4152269" y="1302247"/>
            <a:ext cx="6419215" cy="1691640"/>
          </a:xfrm>
          <a:prstGeom prst="rect">
            <a:avLst/>
          </a:prstGeom>
        </p:spPr>
        <p:txBody>
          <a:bodyPr wrap="square">
            <a:spAutoFit/>
          </a:bodyPr>
          <a:lstStyle/>
          <a:p>
            <a:pPr>
              <a:lnSpc>
                <a:spcPct val="130000"/>
              </a:lnSpc>
            </a:pPr>
            <a:r>
              <a:rPr lang="en-US" altLang="zh-CN" sz="4000" b="1" dirty="0">
                <a:gradFill flip="none" rotWithShape="1">
                  <a:gsLst>
                    <a:gs pos="0">
                      <a:schemeClr val="accent1"/>
                    </a:gs>
                    <a:gs pos="100000">
                      <a:schemeClr val="accent1">
                        <a:lumMod val="60000"/>
                        <a:lumOff val="40000"/>
                      </a:schemeClr>
                    </a:gs>
                  </a:gsLst>
                  <a:lin ang="18900000" scaled="1"/>
                  <a:tileRect/>
                </a:gradFill>
                <a:latin typeface="+mj-lt"/>
              </a:rPr>
              <a:t>Telecom Customer Churn Prediction</a:t>
            </a:r>
            <a:endParaRPr lang="en-US" altLang="zh-CN" sz="4000" b="1" dirty="0">
              <a:gradFill flip="none" rotWithShape="1">
                <a:gsLst>
                  <a:gs pos="0">
                    <a:schemeClr val="accent1"/>
                  </a:gs>
                  <a:gs pos="100000">
                    <a:schemeClr val="accent1">
                      <a:lumMod val="60000"/>
                      <a:lumOff val="40000"/>
                    </a:schemeClr>
                  </a:gs>
                </a:gsLst>
                <a:lin ang="18900000" scaled="1"/>
                <a:tileRect/>
              </a:gradFill>
              <a:latin typeface="+mj-lt"/>
            </a:endParaRPr>
          </a:p>
        </p:txBody>
      </p:sp>
      <p:sp>
        <p:nvSpPr>
          <p:cNvPr id="19" name="矩形 18"/>
          <p:cNvSpPr/>
          <p:nvPr/>
        </p:nvSpPr>
        <p:spPr>
          <a:xfrm>
            <a:off x="4152269" y="3374523"/>
            <a:ext cx="5697968" cy="410845"/>
          </a:xfrm>
          <a:prstGeom prst="rect">
            <a:avLst/>
          </a:prstGeom>
        </p:spPr>
        <p:txBody>
          <a:bodyPr wrap="square">
            <a:spAutoFit/>
          </a:bodyPr>
          <a:lstStyle/>
          <a:p>
            <a:pPr>
              <a:lnSpc>
                <a:spcPct val="130000"/>
              </a:lnSpc>
            </a:pPr>
            <a:r>
              <a:rPr lang="en-US" altLang="zh-CN" sz="1600" dirty="0">
                <a:solidFill>
                  <a:schemeClr val="tx1">
                    <a:lumMod val="50000"/>
                    <a:lumOff val="50000"/>
                  </a:schemeClr>
                </a:solidFill>
              </a:rPr>
              <a:t>Machine Learning Models Implemented From Scratch</a:t>
            </a:r>
            <a:endParaRPr lang="en-US" altLang="zh-CN" sz="1600" dirty="0">
              <a:solidFill>
                <a:schemeClr val="tx1">
                  <a:lumMod val="50000"/>
                  <a:lumOff val="50000"/>
                </a:schemeClr>
              </a:solidFill>
            </a:endParaRPr>
          </a:p>
        </p:txBody>
      </p:sp>
      <p:grpSp>
        <p:nvGrpSpPr>
          <p:cNvPr id="16" name="组合 15"/>
          <p:cNvGrpSpPr/>
          <p:nvPr/>
        </p:nvGrpSpPr>
        <p:grpSpPr>
          <a:xfrm>
            <a:off x="4063199" y="4109661"/>
            <a:ext cx="5606585" cy="1261705"/>
            <a:chOff x="4240835" y="282739"/>
            <a:chExt cx="7255845" cy="2455998"/>
          </a:xfrm>
          <a:effectLst>
            <a:outerShdw blurRad="419100" dist="279400" dir="2700000" sx="98000" sy="98000" algn="tl" rotWithShape="0">
              <a:schemeClr val="bg1">
                <a:lumMod val="50000"/>
                <a:alpha val="33000"/>
              </a:schemeClr>
            </a:outerShdw>
          </a:effectLst>
        </p:grpSpPr>
        <p:sp>
          <p:nvSpPr>
            <p:cNvPr id="14" name="矩形 13"/>
            <p:cNvSpPr/>
            <p:nvPr/>
          </p:nvSpPr>
          <p:spPr>
            <a:xfrm>
              <a:off x="4356106" y="282739"/>
              <a:ext cx="7140574" cy="1641818"/>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240835" y="2543749"/>
              <a:ext cx="7140574" cy="1949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24" name="文本框 23"/>
          <p:cNvSpPr txBox="1"/>
          <p:nvPr/>
        </p:nvSpPr>
        <p:spPr>
          <a:xfrm>
            <a:off x="4231691" y="4246321"/>
            <a:ext cx="5539105" cy="706755"/>
          </a:xfrm>
          <a:prstGeom prst="rect">
            <a:avLst/>
          </a:prstGeom>
          <a:noFill/>
        </p:spPr>
        <p:txBody>
          <a:bodyPr wrap="square" rtlCol="0">
            <a:spAutoFit/>
          </a:bodyPr>
          <a:lstStyle/>
          <a:p>
            <a:pPr algn="ctr"/>
            <a:r>
              <a:rPr lang="en-US" altLang="zh-CN" sz="2000" dirty="0">
                <a:ln>
                  <a:solidFill>
                    <a:schemeClr val="bg1"/>
                  </a:solidFill>
                  <a:miter lim="800000"/>
                </a:ln>
                <a:solidFill>
                  <a:schemeClr val="bg1"/>
                </a:solidFill>
              </a:rPr>
              <a:t>AI3013 Machine Learning Course Project</a:t>
            </a:r>
            <a:endParaRPr lang="en-US" altLang="zh-CN" sz="2000" dirty="0">
              <a:ln>
                <a:solidFill>
                  <a:schemeClr val="bg1"/>
                </a:solidFill>
                <a:miter lim="800000"/>
              </a:ln>
              <a:solidFill>
                <a:schemeClr val="bg1"/>
              </a:solidFill>
            </a:endParaRPr>
          </a:p>
          <a:p>
            <a:pPr algn="ctr"/>
            <a:endParaRPr lang="zh-CN" altLang="en-US" sz="2000" dirty="0">
              <a:ln>
                <a:solidFill>
                  <a:schemeClr val="bg1"/>
                </a:solidFill>
                <a:miter lim="800000"/>
              </a:ln>
              <a:solidFill>
                <a:schemeClr val="bg1"/>
              </a:solidFill>
            </a:endParaRPr>
          </a:p>
        </p:txBody>
      </p:sp>
      <p:sp>
        <p:nvSpPr>
          <p:cNvPr id="7" name="文本框 6"/>
          <p:cNvSpPr txBox="1"/>
          <p:nvPr userDrawn="1"/>
        </p:nvSpPr>
        <p:spPr>
          <a:xfrm>
            <a:off x="10251440" y="6347460"/>
            <a:ext cx="2061210" cy="368300"/>
          </a:xfrm>
          <a:prstGeom prst="rect">
            <a:avLst/>
          </a:prstGeom>
        </p:spPr>
        <p:txBody>
          <a:bodyPr wrap="square" rtlCol="0">
            <a:spAutoFit/>
          </a:bodyPr>
          <a:p>
            <a:r>
              <a:rPr lang="en-US" altLang="zh-CN"/>
              <a:t>Gao Ruiyang</a:t>
            </a:r>
            <a:endParaRPr lang="zh-CN" altLang="en-US"/>
          </a:p>
        </p:txBody>
      </p:sp>
      <p:sp>
        <p:nvSpPr>
          <p:cNvPr id="10" name="文本框 9"/>
          <p:cNvSpPr txBox="1"/>
          <p:nvPr userDrawn="1"/>
        </p:nvSpPr>
        <p:spPr>
          <a:xfrm>
            <a:off x="975360" y="1670685"/>
            <a:ext cx="2456180" cy="3969385"/>
          </a:xfrm>
          <a:prstGeom prst="rect">
            <a:avLst/>
          </a:prstGeom>
        </p:spPr>
        <p:txBody>
          <a:bodyPr wrap="square" rtlCol="0">
            <a:spAutoFit/>
          </a:bodyPr>
          <a:p>
            <a:r>
              <a:rPr lang="en-US" altLang="zh-CN"/>
              <a:t>explain</a:t>
            </a:r>
            <a:endParaRPr lang="en-US" altLang="zh-CN"/>
          </a:p>
          <a:p>
            <a:r>
              <a:rPr lang="en-US" altLang="zh-CN"/>
              <a:t>problems motivation</a:t>
            </a:r>
            <a:endParaRPr lang="en-US" altLang="zh-CN"/>
          </a:p>
          <a:p>
            <a:endParaRPr lang="zh-CN" altLang="en-US"/>
          </a:p>
          <a:p>
            <a:r>
              <a:rPr lang="en-US" altLang="zh-CN"/>
              <a:t>data</a:t>
            </a:r>
            <a:r>
              <a:rPr lang="en-US" altLang="zh-CN">
                <a:solidFill>
                  <a:schemeClr val="tx1"/>
                </a:solidFill>
              </a:rPr>
              <a:t>set</a:t>
            </a:r>
            <a:endParaRPr lang="en-US" altLang="zh-CN">
              <a:solidFill>
                <a:schemeClr val="tx1"/>
              </a:solidFill>
            </a:endParaRPr>
          </a:p>
          <a:p>
            <a:endParaRPr lang="zh-CN" altLang="en-US"/>
          </a:p>
          <a:p>
            <a:r>
              <a:rPr lang="en-US" altLang="zh-CN"/>
              <a:t>describe</a:t>
            </a:r>
            <a:endParaRPr lang="en-US" altLang="zh-CN"/>
          </a:p>
          <a:p>
            <a:r>
              <a:rPr lang="en-US" altLang="zh-CN"/>
              <a:t>preprocessing pipelines</a:t>
            </a:r>
            <a:endParaRPr lang="en-US" altLang="zh-CN"/>
          </a:p>
          <a:p>
            <a:endParaRPr lang="en-US" altLang="zh-CN"/>
          </a:p>
          <a:p>
            <a:r>
              <a:rPr lang="en-US" altLang="zh-CN"/>
              <a:t>how to evaluate</a:t>
            </a:r>
            <a:endParaRPr lang="en-US" altLang="zh-CN"/>
          </a:p>
          <a:p>
            <a:r>
              <a:rPr lang="en-US" altLang="zh-CN"/>
              <a:t>models</a:t>
            </a:r>
            <a:endParaRPr lang="en-US" altLang="zh-CN"/>
          </a:p>
          <a:p>
            <a:endParaRPr lang="zh-CN" altLang="en-US"/>
          </a:p>
          <a:p>
            <a:r>
              <a:rPr lang="en-US" altLang="zh-CN"/>
              <a:t>experimental</a:t>
            </a:r>
            <a:endParaRPr lang="en-US" altLang="zh-CN"/>
          </a:p>
          <a:p>
            <a:r>
              <a:rPr lang="en-US" altLang="zh-CN"/>
              <a:t>results</a:t>
            </a:r>
            <a:r>
              <a:rPr lang="zh-CN" altLang="en-US"/>
              <a:t>&amp;</a:t>
            </a:r>
            <a:r>
              <a:rPr lang="en-US" altLang="zh-CN"/>
              <a:t>conclusions</a:t>
            </a:r>
            <a:endParaRPr lang="zh-CN" altLang="en-US"/>
          </a:p>
        </p:txBody>
      </p:sp>
      <p:sp>
        <p:nvSpPr>
          <p:cNvPr id="11" name="左中括号 10"/>
          <p:cNvSpPr/>
          <p:nvPr userDrawn="1"/>
        </p:nvSpPr>
        <p:spPr>
          <a:xfrm>
            <a:off x="870814" y="1724076"/>
            <a:ext cx="203200" cy="3409950"/>
          </a:xfrm>
          <a:prstGeom prst="leftBracket">
            <a:avLst/>
          </a:prstGeom>
        </p:spPr>
        <p:style>
          <a:lnRef idx="2">
            <a:schemeClr val="accent1"/>
          </a:lnRef>
          <a:fillRef idx="0">
            <a:srgbClr val="FFFFFF"/>
          </a:fillRef>
          <a:effectRef idx="0">
            <a:srgbClr val="FFFFFF"/>
          </a:effectRef>
          <a:fontRef idx="minor">
            <a:schemeClr val="tx1"/>
          </a:fontRef>
        </p:style>
        <p:txBody>
          <a:bodyPr rtlCol="0" anchor="ctr">
            <a:noAutofit/>
          </a:bodyP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Effect transition="in" filter="fade">
                                      <p:cBhvr>
                                        <p:cTn id="9" dur="1000"/>
                                        <p:tgtEl>
                                          <p:spTgt spid="3"/>
                                        </p:tgtEl>
                                      </p:cBhvr>
                                    </p:animEffect>
                                  </p:childTnLst>
                                </p:cTn>
                              </p:par>
                              <p:par>
                                <p:cTn id="10" presetID="16" presetClass="entr" presetSubtype="37" fill="hold" nodeType="withEffect">
                                  <p:stCondLst>
                                    <p:cond delay="1000"/>
                                  </p:stCondLst>
                                  <p:childTnLst>
                                    <p:set>
                                      <p:cBhvr>
                                        <p:cTn id="11" dur="1" fill="hold">
                                          <p:stCondLst>
                                            <p:cond delay="0"/>
                                          </p:stCondLst>
                                        </p:cTn>
                                        <p:tgtEl>
                                          <p:spTgt spid="9"/>
                                        </p:tgtEl>
                                        <p:attrNameLst>
                                          <p:attrName>style.visibility</p:attrName>
                                        </p:attrNameLst>
                                      </p:cBhvr>
                                      <p:to>
                                        <p:strVal val="visible"/>
                                      </p:to>
                                    </p:set>
                                    <p:animEffect transition="in" filter="barn(outVertical)">
                                      <p:cBhvr>
                                        <p:cTn id="12" dur="750"/>
                                        <p:tgtEl>
                                          <p:spTgt spid="9"/>
                                        </p:tgtEl>
                                      </p:cBhvr>
                                    </p:animEffect>
                                  </p:childTnLst>
                                </p:cTn>
                              </p:par>
                              <p:par>
                                <p:cTn id="13" presetID="10" presetClass="entr" presetSubtype="0" fill="hold" grpId="0" nodeType="withEffect">
                                  <p:stCondLst>
                                    <p:cond delay="100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750"/>
                                        <p:tgtEl>
                                          <p:spTgt spid="24"/>
                                        </p:tgtEl>
                                      </p:cBhvr>
                                    </p:animEffect>
                                  </p:childTnLst>
                                </p:cTn>
                              </p:par>
                              <p:par>
                                <p:cTn id="16" presetID="63" presetClass="path" presetSubtype="0" decel="50000" fill="hold" grpId="1" nodeType="withEffect">
                                  <p:stCondLst>
                                    <p:cond delay="1000"/>
                                  </p:stCondLst>
                                  <p:childTnLst>
                                    <p:animMotion origin="layout" path="M -0.01562 3.7037E-7 L 0.11081 3.7037E-7 " pathEditMode="relative" rAng="0" ptsTypes="AA">
                                      <p:cBhvr>
                                        <p:cTn id="17" dur="750" spd="-100000" fill="hold"/>
                                        <p:tgtEl>
                                          <p:spTgt spid="24"/>
                                        </p:tgtEl>
                                        <p:attrNameLst>
                                          <p:attrName>ppt_x</p:attrName>
                                          <p:attrName>ppt_y</p:attrName>
                                        </p:attrNameLst>
                                      </p:cBhvr>
                                      <p:rCtr x="6315" y="0"/>
                                    </p:animMotion>
                                  </p:childTnLst>
                                </p:cTn>
                              </p:par>
                              <p:par>
                                <p:cTn id="18" presetID="35" presetClass="path" presetSubtype="0" accel="50000" decel="50000" fill="hold" grpId="2" nodeType="withEffect">
                                  <p:stCondLst>
                                    <p:cond delay="1750"/>
                                  </p:stCondLst>
                                  <p:childTnLst>
                                    <p:animMotion origin="layout" path="M -0.01562 3.7037E-7 L -2.29167E-6 3.7037E-7 " pathEditMode="relative" rAng="0" ptsTypes="AA">
                                      <p:cBhvr>
                                        <p:cTn id="19" dur="750" fill="hold"/>
                                        <p:tgtEl>
                                          <p:spTgt spid="24"/>
                                        </p:tgtEl>
                                        <p:attrNameLst>
                                          <p:attrName>ppt_x</p:attrName>
                                          <p:attrName>ppt_y</p:attrName>
                                        </p:attrNameLst>
                                      </p:cBhvr>
                                      <p:rCtr x="781" y="0"/>
                                    </p:animMotion>
                                  </p:childTnLst>
                                </p:cTn>
                              </p:par>
                              <p:par>
                                <p:cTn id="20" presetID="10" presetClass="entr" presetSubtype="0" fill="hold" nodeType="withEffect">
                                  <p:stCondLst>
                                    <p:cond delay="10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750"/>
                                        <p:tgtEl>
                                          <p:spTgt spid="16"/>
                                        </p:tgtEl>
                                      </p:cBhvr>
                                    </p:animEffect>
                                  </p:childTnLst>
                                </p:cTn>
                              </p:par>
                              <p:par>
                                <p:cTn id="23" presetID="63" presetClass="path" presetSubtype="0" decel="50000" fill="hold" nodeType="withEffect">
                                  <p:stCondLst>
                                    <p:cond delay="1000"/>
                                  </p:stCondLst>
                                  <p:childTnLst>
                                    <p:animMotion origin="layout" path="M -0.01562 3.7037E-7 L 0.11081 3.7037E-7 " pathEditMode="relative" rAng="0" ptsTypes="AA">
                                      <p:cBhvr>
                                        <p:cTn id="24" dur="750" spd="-100000" fill="hold"/>
                                        <p:tgtEl>
                                          <p:spTgt spid="16"/>
                                        </p:tgtEl>
                                        <p:attrNameLst>
                                          <p:attrName>ppt_x</p:attrName>
                                          <p:attrName>ppt_y</p:attrName>
                                        </p:attrNameLst>
                                      </p:cBhvr>
                                      <p:rCtr x="6315" y="0"/>
                                    </p:animMotion>
                                  </p:childTnLst>
                                </p:cTn>
                              </p:par>
                              <p:par>
                                <p:cTn id="25" presetID="35" presetClass="path" presetSubtype="0" accel="50000" decel="50000" fill="hold" nodeType="withEffect">
                                  <p:stCondLst>
                                    <p:cond delay="1750"/>
                                  </p:stCondLst>
                                  <p:childTnLst>
                                    <p:animMotion origin="layout" path="M -0.01562 3.7037E-7 L -2.29167E-6 3.7037E-7 " pathEditMode="relative" rAng="0" ptsTypes="AA">
                                      <p:cBhvr>
                                        <p:cTn id="26" dur="750" fill="hold"/>
                                        <p:tgtEl>
                                          <p:spTgt spid="16"/>
                                        </p:tgtEl>
                                        <p:attrNameLst>
                                          <p:attrName>ppt_x</p:attrName>
                                          <p:attrName>ppt_y</p:attrName>
                                        </p:attrNameLst>
                                      </p:cBhvr>
                                      <p:rCtr x="781" y="0"/>
                                    </p:animMotion>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Effect transition="in" filter="fade">
                                      <p:cBhvr>
                                        <p:cTn id="31" dur="1000"/>
                                        <p:tgtEl>
                                          <p:spTgt spid="8"/>
                                        </p:tgtEl>
                                      </p:cBhvr>
                                    </p:animEffect>
                                  </p:childTnLst>
                                </p:cTn>
                              </p:par>
                              <p:par>
                                <p:cTn id="32" presetID="10" presetClass="entr" presetSubtype="0" fill="hold" grpId="0" nodeType="withEffect">
                                  <p:stCondLst>
                                    <p:cond delay="175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750"/>
                                        <p:tgtEl>
                                          <p:spTgt spid="12"/>
                                        </p:tgtEl>
                                      </p:cBhvr>
                                    </p:animEffect>
                                  </p:childTnLst>
                                </p:cTn>
                              </p:par>
                              <p:par>
                                <p:cTn id="35" presetID="35" presetClass="path" presetSubtype="0" accel="50000" decel="50000" fill="hold" grpId="1" nodeType="withEffect">
                                  <p:stCondLst>
                                    <p:cond delay="1750"/>
                                  </p:stCondLst>
                                  <p:childTnLst>
                                    <p:animMotion origin="layout" path="M -0.01563 7.40741E-7 L 2.70833E-6 7.40741E-7 " pathEditMode="relative" rAng="0" ptsTypes="AA">
                                      <p:cBhvr>
                                        <p:cTn id="36" dur="750" fill="hold"/>
                                        <p:tgtEl>
                                          <p:spTgt spid="12"/>
                                        </p:tgtEl>
                                        <p:attrNameLst>
                                          <p:attrName>ppt_x</p:attrName>
                                          <p:attrName>ppt_y</p:attrName>
                                        </p:attrNameLst>
                                      </p:cBhvr>
                                      <p:rCtr x="781" y="0"/>
                                    </p:animMotion>
                                  </p:childTnLst>
                                </p:cTn>
                              </p:par>
                              <p:par>
                                <p:cTn id="37" presetID="42" presetClass="path" presetSubtype="0" decel="50000" fill="hold" grpId="2" nodeType="withEffect">
                                  <p:stCondLst>
                                    <p:cond delay="2500"/>
                                  </p:stCondLst>
                                  <p:childTnLst>
                                    <p:animMotion origin="layout" path="M 2.70833E-6 7.40741E-7 L 2.70833E-6 -0.05602 " pathEditMode="relative" rAng="0" ptsTypes="AA">
                                      <p:cBhvr>
                                        <p:cTn id="38" dur="750" fill="hold"/>
                                        <p:tgtEl>
                                          <p:spTgt spid="12"/>
                                        </p:tgtEl>
                                        <p:attrNameLst>
                                          <p:attrName>ppt_x</p:attrName>
                                          <p:attrName>ppt_y</p:attrName>
                                        </p:attrNameLst>
                                      </p:cBhvr>
                                      <p:rCtr x="0" y="-2801"/>
                                    </p:animMotion>
                                  </p:childTnLst>
                                </p:cTn>
                              </p:par>
                              <p:par>
                                <p:cTn id="39" presetID="10" presetClass="entr" presetSubtype="0" fill="hold" grpId="0" nodeType="withEffect">
                                  <p:stCondLst>
                                    <p:cond delay="2500"/>
                                  </p:stCondLst>
                                  <p:iterate type="lt">
                                    <p:tmPct val="0"/>
                                  </p:iterate>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42" presetClass="path" presetSubtype="0" decel="50000" fill="hold" grpId="1" nodeType="withEffect">
                                  <p:stCondLst>
                                    <p:cond delay="2500"/>
                                  </p:stCondLst>
                                  <p:iterate type="lt">
                                    <p:tmPct val="0"/>
                                  </p:iterate>
                                  <p:childTnLst>
                                    <p:animMotion origin="layout" path="M 0 0 L 0 0.05625 " pathEditMode="relative" rAng="0" ptsTypes="AA">
                                      <p:cBhvr>
                                        <p:cTn id="43" dur="750" spd="-100000" fill="hold"/>
                                        <p:tgtEl>
                                          <p:spTgt spid="19"/>
                                        </p:tgtEl>
                                        <p:attrNameLst>
                                          <p:attrName>ppt_x</p:attrName>
                                          <p:attrName>ppt_y</p:attrName>
                                        </p:attrNameLst>
                                      </p:cBhvr>
                                      <p:rCtr x="0" y="28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2" grpId="2"/>
      <p:bldP spid="19" grpId="0"/>
      <p:bldP spid="19" grpId="1"/>
      <p:bldP spid="24" grpId="0"/>
      <p:bldP spid="24" grpId="1"/>
      <p:bldP spid="24" grpId="2"/>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117600" y="1181100"/>
            <a:ext cx="9956800" cy="4495800"/>
            <a:chOff x="1117600" y="1181100"/>
            <a:chExt cx="9956800" cy="4495800"/>
          </a:xfrm>
        </p:grpSpPr>
        <p:sp>
          <p:nvSpPr>
            <p:cNvPr id="23" name="矩形 22"/>
            <p:cNvSpPr/>
            <p:nvPr/>
          </p:nvSpPr>
          <p:spPr>
            <a:xfrm>
              <a:off x="1117600" y="1181100"/>
              <a:ext cx="9956800" cy="4495800"/>
            </a:xfrm>
            <a:prstGeom prst="rect">
              <a:avLst/>
            </a:prstGeom>
            <a:solidFill>
              <a:schemeClr val="bg1"/>
            </a:solidFill>
            <a:ln>
              <a:noFill/>
            </a:ln>
            <a:effectLst>
              <a:outerShdw blurRad="660400" dist="3937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 name="矩形 1"/>
            <p:cNvSpPr/>
            <p:nvPr/>
          </p:nvSpPr>
          <p:spPr>
            <a:xfrm>
              <a:off x="1117600" y="1181100"/>
              <a:ext cx="9956800" cy="912585"/>
            </a:xfrm>
            <a:prstGeom prst="rect">
              <a:avLst/>
            </a:prstGeom>
            <a:blipFill>
              <a:blip r:embed="rId1"/>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1911912" y="1443135"/>
            <a:ext cx="1097280" cy="1097280"/>
            <a:chOff x="1911912" y="1443135"/>
            <a:chExt cx="1097280" cy="1097280"/>
          </a:xfrm>
        </p:grpSpPr>
        <p:sp>
          <p:nvSpPr>
            <p:cNvPr id="3" name="椭圆 2"/>
            <p:cNvSpPr/>
            <p:nvPr/>
          </p:nvSpPr>
          <p:spPr>
            <a:xfrm>
              <a:off x="1911912" y="1443135"/>
              <a:ext cx="1097280" cy="109728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2009465" y="1540741"/>
              <a:ext cx="902175" cy="902175"/>
            </a:xfrm>
            <a:prstGeom prst="ellipse">
              <a:avLst/>
            </a:prstGeom>
            <a:blipFill dpi="0" rotWithShape="1">
              <a:blip r:embed="rId1"/>
              <a:srcRect/>
              <a:tile tx="0" ty="0" sx="100000" sy="100000" flip="none" algn="tl"/>
            </a:blipFill>
            <a:ln w="25400">
              <a:noFill/>
            </a:ln>
            <a:effectLst>
              <a:outerShdw blurRad="266700" dist="139700" dir="2700000" algn="tl" rotWithShape="0">
                <a:schemeClr val="tx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6" name="文本框 15"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1922145" y="3076575"/>
            <a:ext cx="4338320" cy="768350"/>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lin ang="0" scaled="1"/>
                </a:gradFill>
                <a:latin typeface="+mj-lt"/>
              </a:rPr>
              <a:t>01.   Problem and Motivation</a:t>
            </a:r>
            <a:endParaRPr lang="en-US" altLang="zh-CN" sz="2200" dirty="0">
              <a:gradFill>
                <a:gsLst>
                  <a:gs pos="54000">
                    <a:schemeClr val="accent1"/>
                  </a:gs>
                  <a:gs pos="100000">
                    <a:schemeClr val="accent1">
                      <a:lumMod val="60000"/>
                      <a:lumOff val="40000"/>
                    </a:schemeClr>
                  </a:gs>
                </a:gsLst>
                <a:lin ang="0" scaled="1"/>
              </a:gradFill>
              <a:latin typeface="+mj-lt"/>
            </a:endParaRPr>
          </a:p>
          <a:p>
            <a:endParaRPr lang="en-US" altLang="zh-CN" sz="2200" dirty="0">
              <a:gradFill>
                <a:gsLst>
                  <a:gs pos="54000">
                    <a:schemeClr val="accent1"/>
                  </a:gs>
                  <a:gs pos="100000">
                    <a:schemeClr val="accent1">
                      <a:lumMod val="60000"/>
                      <a:lumOff val="40000"/>
                    </a:schemeClr>
                  </a:gs>
                </a:gsLst>
                <a:lin ang="0" scaled="1"/>
              </a:gradFill>
              <a:latin typeface="+mj-lt"/>
            </a:endParaRPr>
          </a:p>
        </p:txBody>
      </p:sp>
      <p:sp>
        <p:nvSpPr>
          <p:cNvPr id="17" name="文本框 16"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6035004" y="3077156"/>
            <a:ext cx="3610142" cy="429895"/>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gradFill>
                <a:latin typeface="+mj-lt"/>
              </a:rPr>
              <a:t>02. Dataset and EDA</a:t>
            </a:r>
            <a:endParaRPr lang="en-US" altLang="zh-CN" sz="2200" dirty="0">
              <a:gradFill>
                <a:gsLst>
                  <a:gs pos="54000">
                    <a:schemeClr val="accent1"/>
                  </a:gs>
                  <a:gs pos="100000">
                    <a:schemeClr val="accent1">
                      <a:lumMod val="60000"/>
                      <a:lumOff val="40000"/>
                    </a:schemeClr>
                  </a:gs>
                </a:gsLst>
              </a:gradFill>
              <a:latin typeface="+mj-lt"/>
            </a:endParaRPr>
          </a:p>
        </p:txBody>
      </p:sp>
      <p:sp>
        <p:nvSpPr>
          <p:cNvPr id="18" name="文本框 17"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1911985" y="3722370"/>
            <a:ext cx="4866005" cy="768350"/>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gradFill>
                <a:latin typeface="+mj-lt"/>
              </a:rPr>
              <a:t>03. Methodology and Models</a:t>
            </a:r>
            <a:endParaRPr lang="en-US" altLang="zh-CN" sz="2200" dirty="0">
              <a:gradFill>
                <a:gsLst>
                  <a:gs pos="54000">
                    <a:schemeClr val="accent1"/>
                  </a:gs>
                  <a:gs pos="100000">
                    <a:schemeClr val="accent1">
                      <a:lumMod val="60000"/>
                      <a:lumOff val="40000"/>
                    </a:schemeClr>
                  </a:gs>
                </a:gsLst>
              </a:gradFill>
              <a:latin typeface="+mj-lt"/>
            </a:endParaRPr>
          </a:p>
          <a:p>
            <a:endParaRPr lang="en-US" altLang="zh-CN" sz="2200" dirty="0">
              <a:gradFill>
                <a:gsLst>
                  <a:gs pos="54000">
                    <a:schemeClr val="accent1"/>
                  </a:gs>
                  <a:gs pos="100000">
                    <a:schemeClr val="accent1">
                      <a:lumMod val="60000"/>
                      <a:lumOff val="40000"/>
                    </a:schemeClr>
                  </a:gs>
                </a:gsLst>
              </a:gradFill>
              <a:latin typeface="+mj-lt"/>
            </a:endParaRPr>
          </a:p>
        </p:txBody>
      </p:sp>
      <p:sp>
        <p:nvSpPr>
          <p:cNvPr id="19" name="文本框 18"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1922145" y="4474210"/>
            <a:ext cx="4112895" cy="1106805"/>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gradFill>
                <a:latin typeface="+mj-lt"/>
              </a:rPr>
              <a:t>05. Sensitivity Analysis and Learning Curves</a:t>
            </a:r>
            <a:endParaRPr lang="en-US" altLang="zh-CN" sz="2200" dirty="0">
              <a:gradFill>
                <a:gsLst>
                  <a:gs pos="54000">
                    <a:schemeClr val="accent1"/>
                  </a:gs>
                  <a:gs pos="100000">
                    <a:schemeClr val="accent1">
                      <a:lumMod val="60000"/>
                      <a:lumOff val="40000"/>
                    </a:schemeClr>
                  </a:gs>
                </a:gsLst>
              </a:gradFill>
              <a:latin typeface="+mj-lt"/>
            </a:endParaRPr>
          </a:p>
          <a:p>
            <a:endParaRPr lang="en-US" altLang="zh-CN" sz="2200" dirty="0">
              <a:gradFill>
                <a:gsLst>
                  <a:gs pos="54000">
                    <a:schemeClr val="accent1"/>
                  </a:gs>
                  <a:gs pos="100000">
                    <a:schemeClr val="accent1">
                      <a:lumMod val="60000"/>
                      <a:lumOff val="40000"/>
                    </a:schemeClr>
                  </a:gs>
                </a:gsLst>
              </a:gradFill>
              <a:latin typeface="+mj-lt"/>
            </a:endParaRPr>
          </a:p>
        </p:txBody>
      </p:sp>
      <p:sp>
        <p:nvSpPr>
          <p:cNvPr id="20" name="文本框 19"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6035040" y="3722370"/>
            <a:ext cx="3733800" cy="768350"/>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gradFill>
                <a:latin typeface="+mj-lt"/>
              </a:rPr>
              <a:t>04. Experimental Results</a:t>
            </a:r>
            <a:endParaRPr lang="en-US" altLang="zh-CN" sz="2200" dirty="0">
              <a:gradFill>
                <a:gsLst>
                  <a:gs pos="54000">
                    <a:schemeClr val="accent1"/>
                  </a:gs>
                  <a:gs pos="100000">
                    <a:schemeClr val="accent1">
                      <a:lumMod val="60000"/>
                      <a:lumOff val="40000"/>
                    </a:schemeClr>
                  </a:gs>
                </a:gsLst>
              </a:gradFill>
              <a:latin typeface="+mj-lt"/>
            </a:endParaRPr>
          </a:p>
          <a:p>
            <a:endParaRPr lang="en-US" altLang="zh-CN" sz="2200" dirty="0">
              <a:gradFill>
                <a:gsLst>
                  <a:gs pos="54000">
                    <a:schemeClr val="accent1"/>
                  </a:gs>
                  <a:gs pos="100000">
                    <a:schemeClr val="accent1">
                      <a:lumMod val="60000"/>
                      <a:lumOff val="40000"/>
                    </a:schemeClr>
                  </a:gs>
                </a:gsLst>
              </a:gradFill>
              <a:latin typeface="+mj-lt"/>
            </a:endParaRPr>
          </a:p>
        </p:txBody>
      </p:sp>
      <p:sp>
        <p:nvSpPr>
          <p:cNvPr id="25" name="文本框 24"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1793081" y="1524067"/>
            <a:ext cx="3387556" cy="923330"/>
          </a:xfrm>
          <a:prstGeom prst="rect">
            <a:avLst/>
          </a:prstGeom>
        </p:spPr>
        <p:txBody>
          <a:bodyPr wrap="square" rtlCol="0">
            <a:spAutoFit/>
          </a:bodyPr>
          <a:lstStyle>
            <a:defPPr>
              <a:defRPr lang="zh-CN"/>
            </a:defPPr>
            <a:lvl1pPr algn="dist">
              <a:defRPr sz="3600">
                <a:gradFill flip="none" rotWithShape="1">
                  <a:gsLst>
                    <a:gs pos="100000">
                      <a:schemeClr val="accent1"/>
                    </a:gs>
                    <a:gs pos="0">
                      <a:schemeClr val="accent2"/>
                    </a:gs>
                  </a:gsLst>
                  <a:lin ang="10800000" scaled="1"/>
                  <a:tileRect/>
                </a:gradFill>
                <a:latin typeface="Arca Majora 2 Heavy" panose="00000A00000000000000" pitchFamily="2" charset="0"/>
              </a:defRPr>
            </a:lvl1pPr>
          </a:lstStyle>
          <a:p>
            <a:pPr algn="ctr"/>
            <a:r>
              <a:rPr lang="en-US" altLang="zh-CN" sz="5400" spc="300" dirty="0">
                <a:solidFill>
                  <a:schemeClr val="accent2"/>
                </a:solidFill>
                <a:effectLst>
                  <a:outerShdw blurRad="190500" dist="76200" dir="2700000" algn="tl" rotWithShape="0">
                    <a:prstClr val="black">
                      <a:alpha val="17000"/>
                    </a:prstClr>
                  </a:outerShdw>
                </a:effectLst>
                <a:latin typeface="+mj-lt"/>
              </a:rPr>
              <a:t>C</a:t>
            </a:r>
            <a:r>
              <a:rPr lang="en-US" altLang="zh-CN" sz="5400" spc="300" dirty="0">
                <a:solidFill>
                  <a:schemeClr val="bg1"/>
                </a:solidFill>
                <a:latin typeface="+mj-lt"/>
              </a:rPr>
              <a:t>  </a:t>
            </a:r>
            <a:r>
              <a:rPr lang="en-US" altLang="zh-CN" sz="2800" b="1" spc="150" dirty="0">
                <a:gradFill flip="none" rotWithShape="1">
                  <a:gsLst>
                    <a:gs pos="100000">
                      <a:schemeClr val="accent1"/>
                    </a:gs>
                    <a:gs pos="68000">
                      <a:schemeClr val="accent1"/>
                    </a:gs>
                    <a:gs pos="61000">
                      <a:schemeClr val="accent1">
                        <a:lumMod val="20000"/>
                        <a:lumOff val="80000"/>
                      </a:schemeClr>
                    </a:gs>
                    <a:gs pos="60000">
                      <a:schemeClr val="accent1">
                        <a:lumMod val="20000"/>
                        <a:lumOff val="80000"/>
                      </a:schemeClr>
                    </a:gs>
                  </a:gsLst>
                  <a:lin ang="5400000" scaled="1"/>
                  <a:tileRect/>
                </a:gradFill>
                <a:latin typeface="+mj-lt"/>
              </a:rPr>
              <a:t>ONTENTS</a:t>
            </a:r>
            <a:endParaRPr lang="zh-CN" altLang="en-US" sz="3200" b="1" spc="150" dirty="0">
              <a:gradFill flip="none" rotWithShape="1">
                <a:gsLst>
                  <a:gs pos="100000">
                    <a:schemeClr val="accent1"/>
                  </a:gs>
                  <a:gs pos="68000">
                    <a:schemeClr val="accent1"/>
                  </a:gs>
                  <a:gs pos="61000">
                    <a:schemeClr val="accent1">
                      <a:lumMod val="20000"/>
                      <a:lumOff val="80000"/>
                    </a:schemeClr>
                  </a:gs>
                  <a:gs pos="60000">
                    <a:schemeClr val="accent1">
                      <a:lumMod val="20000"/>
                      <a:lumOff val="80000"/>
                    </a:schemeClr>
                  </a:gs>
                </a:gsLst>
                <a:lin ang="5400000" scaled="1"/>
                <a:tileRect/>
              </a:gradFill>
              <a:latin typeface="+mj-lt"/>
            </a:endParaRPr>
          </a:p>
        </p:txBody>
      </p:sp>
      <p:sp>
        <p:nvSpPr>
          <p:cNvPr id="26" name="[动画大师]_Oval 7"/>
          <p:cNvSpPr/>
          <p:nvPr/>
        </p:nvSpPr>
        <p:spPr>
          <a:xfrm>
            <a:off x="10222287" y="5353068"/>
            <a:ext cx="108000" cy="1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7" name="椭圆 26"/>
          <p:cNvSpPr/>
          <p:nvPr/>
        </p:nvSpPr>
        <p:spPr>
          <a:xfrm>
            <a:off x="10471534" y="5353068"/>
            <a:ext cx="108000" cy="1080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8" name="椭圆 27"/>
          <p:cNvSpPr/>
          <p:nvPr/>
        </p:nvSpPr>
        <p:spPr>
          <a:xfrm>
            <a:off x="10720782" y="5353068"/>
            <a:ext cx="108000" cy="1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文本框 5" descr="e7d195523061f1c0d3ba7f298e59d031c9c3f97027ed136f882110EF8F17BAD1F2C348D17C7856EF46CB4678CC9E44EE1ABA681E3133328A7B4D22AAF822B2429426B2355AA8CC4431B8568D2CF3B73ADF5964BB9916C1AAFCE9EA833C7DDC8425D8BA88DB0599F6A00A20541FA24F913707B9AB8618371F45B8F4E26F5A89A2851711534E8E3A97"/>
          <p:cNvSpPr txBox="1"/>
          <p:nvPr/>
        </p:nvSpPr>
        <p:spPr>
          <a:xfrm>
            <a:off x="6035675" y="4474210"/>
            <a:ext cx="4436110" cy="1106805"/>
          </a:xfrm>
          <a:prstGeom prst="rect">
            <a:avLst/>
          </a:prstGeom>
          <a:noFill/>
        </p:spPr>
        <p:txBody>
          <a:bodyPr wrap="square" rtlCol="0">
            <a:spAutoFit/>
          </a:bodyPr>
          <a:lstStyle/>
          <a:p>
            <a:r>
              <a:rPr lang="en-US" altLang="zh-CN" sz="2200" dirty="0">
                <a:gradFill>
                  <a:gsLst>
                    <a:gs pos="54000">
                      <a:schemeClr val="accent1"/>
                    </a:gs>
                    <a:gs pos="100000">
                      <a:schemeClr val="accent1">
                        <a:lumMod val="60000"/>
                        <a:lumOff val="40000"/>
                      </a:schemeClr>
                    </a:gs>
                  </a:gsLst>
                </a:gradFill>
                <a:latin typeface="+mj-lt"/>
              </a:rPr>
              <a:t>06. Interpretation and Conclusion</a:t>
            </a:r>
            <a:endParaRPr lang="en-US" altLang="zh-CN" sz="2200" dirty="0">
              <a:gradFill>
                <a:gsLst>
                  <a:gs pos="54000">
                    <a:schemeClr val="accent1"/>
                  </a:gs>
                  <a:gs pos="100000">
                    <a:schemeClr val="accent1">
                      <a:lumMod val="60000"/>
                      <a:lumOff val="40000"/>
                    </a:schemeClr>
                  </a:gs>
                </a:gsLst>
              </a:gradFill>
              <a:latin typeface="+mj-lt"/>
            </a:endParaRPr>
          </a:p>
          <a:p>
            <a:endParaRPr lang="en-US" altLang="zh-CN" sz="2200" dirty="0">
              <a:gradFill>
                <a:gsLst>
                  <a:gs pos="54000">
                    <a:schemeClr val="accent1"/>
                  </a:gs>
                  <a:gs pos="100000">
                    <a:schemeClr val="accent1">
                      <a:lumMod val="60000"/>
                      <a:lumOff val="40000"/>
                    </a:schemeClr>
                  </a:gs>
                </a:gsLst>
              </a:gradFill>
              <a:latin typeface="+mj-lt"/>
            </a:endParaRPr>
          </a:p>
        </p:txBody>
      </p:sp>
      <p:sp>
        <p:nvSpPr>
          <p:cNvPr id="7" name="文本框 6"/>
          <p:cNvSpPr txBox="1"/>
          <p:nvPr userDrawn="1"/>
        </p:nvSpPr>
        <p:spPr>
          <a:xfrm>
            <a:off x="10429240" y="6449060"/>
            <a:ext cx="1858010" cy="368300"/>
          </a:xfrm>
          <a:prstGeom prst="rect">
            <a:avLst/>
          </a:prstGeom>
        </p:spPr>
        <p:txBody>
          <a:bodyPr wrap="square" rtlCol="0">
            <a:spAutoFit/>
          </a:bodyPr>
          <a:p>
            <a:r>
              <a:rPr lang="en-US" altLang="zh-CN"/>
              <a:t>Gao Ruiyang</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par>
                                <p:cTn id="8" presetID="63" presetClass="path" presetSubtype="0" decel="50000" fill="hold" nodeType="withEffect">
                                  <p:stCondLst>
                                    <p:cond delay="0"/>
                                  </p:stCondLst>
                                  <p:childTnLst>
                                    <p:animMotion origin="layout" path="M 0.12747 -0.03773 L 0 0 " pathEditMode="relative" rAng="0" ptsTypes="AA">
                                      <p:cBhvr>
                                        <p:cTn id="9" dur="750" fill="hold"/>
                                        <p:tgtEl>
                                          <p:spTgt spid="4"/>
                                        </p:tgtEl>
                                        <p:attrNameLst>
                                          <p:attrName>ppt_x</p:attrName>
                                          <p:attrName>ppt_y</p:attrName>
                                        </p:attrNameLst>
                                      </p:cBhvr>
                                      <p:rCtr x="-6380" y="1875"/>
                                    </p:animMotion>
                                  </p:childTnLst>
                                </p:cTn>
                              </p:par>
                              <p:par>
                                <p:cTn id="10" presetID="6" presetClass="emph" presetSubtype="0" decel="50000" fill="hold" nodeType="withEffect">
                                  <p:stCondLst>
                                    <p:cond delay="0"/>
                                  </p:stCondLst>
                                  <p:childTnLst>
                                    <p:animScale>
                                      <p:cBhvr>
                                        <p:cTn id="11" dur="750" fill="hold"/>
                                        <p:tgtEl>
                                          <p:spTgt spid="4"/>
                                        </p:tgtEl>
                                      </p:cBhvr>
                                      <p:by x="150000" y="150000"/>
                                      <p:from x="77273" y="109524"/>
                                      <p:to x="100000" y="100000"/>
                                    </p:animScale>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nodeType="withEffect">
                                  <p:stCondLst>
                                    <p:cond delay="0"/>
                                  </p:stCondLst>
                                  <p:childTnLst>
                                    <p:animMotion origin="layout" path="M 0.01523 3.7037E-7 L -0.10885 3.7037E-7 " pathEditMode="relative" rAng="0" ptsTypes="AA">
                                      <p:cBhvr>
                                        <p:cTn id="16" dur="750" spd="-100000" fill="hold"/>
                                        <p:tgtEl>
                                          <p:spTgt spid="5"/>
                                        </p:tgtEl>
                                        <p:attrNameLst>
                                          <p:attrName>ppt_x</p:attrName>
                                          <p:attrName>ppt_y</p:attrName>
                                        </p:attrNameLst>
                                      </p:cBhvr>
                                      <p:rCtr x="-6211" y="0"/>
                                    </p:animMotion>
                                  </p:childTnLst>
                                </p:cTn>
                              </p:par>
                              <p:par>
                                <p:cTn id="17" presetID="35" presetClass="path" presetSubtype="0" accel="50000" decel="50000" fill="hold" nodeType="withEffect">
                                  <p:stCondLst>
                                    <p:cond delay="750"/>
                                  </p:stCondLst>
                                  <p:childTnLst>
                                    <p:animMotion origin="layout" path="M 0.01601 3.7037E-7 L 8.33333E-7 3.7037E-7 " pathEditMode="relative" rAng="0" ptsTypes="AA">
                                      <p:cBhvr>
                                        <p:cTn id="18" dur="750" fill="hold"/>
                                        <p:tgtEl>
                                          <p:spTgt spid="5"/>
                                        </p:tgtEl>
                                        <p:attrNameLst>
                                          <p:attrName>ppt_x</p:attrName>
                                          <p:attrName>ppt_y</p:attrName>
                                        </p:attrNameLst>
                                      </p:cBhvr>
                                      <p:rCtr x="-807" y="0"/>
                                    </p:animMotion>
                                  </p:childTnLst>
                                </p:cTn>
                              </p:par>
                              <p:par>
                                <p:cTn id="19" presetID="53" presetClass="entr" presetSubtype="16" fill="hold" grpId="0" nodeType="withEffect">
                                  <p:stCondLst>
                                    <p:cond delay="750"/>
                                  </p:stCondLst>
                                  <p:childTnLst>
                                    <p:set>
                                      <p:cBhvr>
                                        <p:cTn id="20" dur="1" fill="hold">
                                          <p:stCondLst>
                                            <p:cond delay="0"/>
                                          </p:stCondLst>
                                        </p:cTn>
                                        <p:tgtEl>
                                          <p:spTgt spid="25"/>
                                        </p:tgtEl>
                                        <p:attrNameLst>
                                          <p:attrName>style.visibility</p:attrName>
                                        </p:attrNameLst>
                                      </p:cBhvr>
                                      <p:to>
                                        <p:strVal val="visible"/>
                                      </p:to>
                                    </p:set>
                                    <p:anim calcmode="lin" valueType="num">
                                      <p:cBhvr>
                                        <p:cTn id="21" dur="750" fill="hold"/>
                                        <p:tgtEl>
                                          <p:spTgt spid="25"/>
                                        </p:tgtEl>
                                        <p:attrNameLst>
                                          <p:attrName>ppt_w</p:attrName>
                                        </p:attrNameLst>
                                      </p:cBhvr>
                                      <p:tavLst>
                                        <p:tav tm="0">
                                          <p:val>
                                            <p:fltVal val="0"/>
                                          </p:val>
                                        </p:tav>
                                        <p:tav tm="100000">
                                          <p:val>
                                            <p:strVal val="#ppt_w"/>
                                          </p:val>
                                        </p:tav>
                                      </p:tavLst>
                                    </p:anim>
                                    <p:anim calcmode="lin" valueType="num">
                                      <p:cBhvr>
                                        <p:cTn id="22" dur="750" fill="hold"/>
                                        <p:tgtEl>
                                          <p:spTgt spid="25"/>
                                        </p:tgtEl>
                                        <p:attrNameLst>
                                          <p:attrName>ppt_h</p:attrName>
                                        </p:attrNameLst>
                                      </p:cBhvr>
                                      <p:tavLst>
                                        <p:tav tm="0">
                                          <p:val>
                                            <p:fltVal val="0"/>
                                          </p:val>
                                        </p:tav>
                                        <p:tav tm="100000">
                                          <p:val>
                                            <p:strVal val="#ppt_h"/>
                                          </p:val>
                                        </p:tav>
                                      </p:tavLst>
                                    </p:anim>
                                    <p:animEffect transition="in" filter="fade">
                                      <p:cBhvr>
                                        <p:cTn id="23" dur="750"/>
                                        <p:tgtEl>
                                          <p:spTgt spid="25"/>
                                        </p:tgtEl>
                                      </p:cBhvr>
                                    </p:animEffect>
                                  </p:childTnLst>
                                </p:cTn>
                              </p:par>
                              <p:par>
                                <p:cTn id="24" presetID="22" presetClass="entr" presetSubtype="8" fill="hold" grpId="0" nodeType="withEffect">
                                  <p:stCondLst>
                                    <p:cond delay="100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750"/>
                                        <p:tgtEl>
                                          <p:spTgt spid="16"/>
                                        </p:tgtEl>
                                      </p:cBhvr>
                                    </p:animEffect>
                                  </p:childTnLst>
                                </p:cTn>
                              </p:par>
                              <p:par>
                                <p:cTn id="27" presetID="22" presetClass="entr" presetSubtype="8" fill="hold" grpId="0" nodeType="withEffect">
                                  <p:stCondLst>
                                    <p:cond delay="1000"/>
                                  </p:stCondLst>
                                  <p:childTnLst>
                                    <p:set>
                                      <p:cBhvr>
                                        <p:cTn id="28" dur="1" fill="hold">
                                          <p:stCondLst>
                                            <p:cond delay="0"/>
                                          </p:stCondLst>
                                        </p:cTn>
                                        <p:tgtEl>
                                          <p:spTgt spid="17"/>
                                        </p:tgtEl>
                                        <p:attrNameLst>
                                          <p:attrName>style.visibility</p:attrName>
                                        </p:attrNameLst>
                                      </p:cBhvr>
                                      <p:to>
                                        <p:strVal val="visible"/>
                                      </p:to>
                                    </p:set>
                                    <p:animEffect transition="in" filter="wipe(left)">
                                      <p:cBhvr>
                                        <p:cTn id="29" dur="750"/>
                                        <p:tgtEl>
                                          <p:spTgt spid="17"/>
                                        </p:tgtEl>
                                      </p:cBhvr>
                                    </p:animEffect>
                                  </p:childTnLst>
                                </p:cTn>
                              </p:par>
                              <p:par>
                                <p:cTn id="30" presetID="22" presetClass="entr" presetSubtype="8" fill="hold" grpId="0" nodeType="withEffect">
                                  <p:stCondLst>
                                    <p:cond delay="100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750"/>
                                        <p:tgtEl>
                                          <p:spTgt spid="20"/>
                                        </p:tgtEl>
                                      </p:cBhvr>
                                    </p:animEffect>
                                  </p:childTnLst>
                                </p:cTn>
                              </p:par>
                              <p:par>
                                <p:cTn id="33" presetID="22" presetClass="entr" presetSubtype="8" fill="hold" grpId="0" nodeType="withEffect">
                                  <p:stCondLst>
                                    <p:cond delay="100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750"/>
                                        <p:tgtEl>
                                          <p:spTgt spid="18"/>
                                        </p:tgtEl>
                                      </p:cBhvr>
                                    </p:animEffect>
                                  </p:childTnLst>
                                </p:cTn>
                              </p:par>
                              <p:par>
                                <p:cTn id="36" presetID="22" presetClass="entr" presetSubtype="8" fill="hold" grpId="0" nodeType="withEffect">
                                  <p:stCondLst>
                                    <p:cond delay="1000"/>
                                  </p:stCondLst>
                                  <p:childTnLst>
                                    <p:set>
                                      <p:cBhvr>
                                        <p:cTn id="37" dur="1" fill="hold">
                                          <p:stCondLst>
                                            <p:cond delay="0"/>
                                          </p:stCondLst>
                                        </p:cTn>
                                        <p:tgtEl>
                                          <p:spTgt spid="19"/>
                                        </p:tgtEl>
                                        <p:attrNameLst>
                                          <p:attrName>style.visibility</p:attrName>
                                        </p:attrNameLst>
                                      </p:cBhvr>
                                      <p:to>
                                        <p:strVal val="visible"/>
                                      </p:to>
                                    </p:set>
                                    <p:animEffect transition="in" filter="wipe(left)">
                                      <p:cBhvr>
                                        <p:cTn id="38" dur="750"/>
                                        <p:tgtEl>
                                          <p:spTgt spid="19"/>
                                        </p:tgtEl>
                                      </p:cBhvr>
                                    </p:animEffect>
                                  </p:childTnLst>
                                </p:cTn>
                              </p:par>
                              <p:par>
                                <p:cTn id="39" presetID="10" presetClass="entr" presetSubtype="0" repeatCount="indefinite" fill="hold" grpId="0" nodeType="withEffect">
                                  <p:stCondLst>
                                    <p:cond delay="2100"/>
                                  </p:stCondLst>
                                  <p:childTnLst>
                                    <p:set>
                                      <p:cBhvr>
                                        <p:cTn id="40" dur="1" fill="hold">
                                          <p:stCondLst>
                                            <p:cond delay="0"/>
                                          </p:stCondLst>
                                        </p:cTn>
                                        <p:tgtEl>
                                          <p:spTgt spid="26"/>
                                        </p:tgtEl>
                                        <p:attrNameLst>
                                          <p:attrName>style.visibility</p:attrName>
                                        </p:attrNameLst>
                                      </p:cBhvr>
                                      <p:to>
                                        <p:strVal val="visible"/>
                                      </p:to>
                                    </p:set>
                                    <p:animMotion origin="layout" path="M 0 7.40741E-7 L 0 -0.03079 " pathEditMode="relative">
                                      <p:cBhvr additive="base">
                                        <p:cTn id="41" dur="750" autoRev="1" fill="hold">
                                          <p:stCondLst>
                                            <p:cond delay="0"/>
                                          </p:stCondLst>
                                        </p:cTn>
                                        <p:tgtEl>
                                          <p:spTgt spid="26"/>
                                        </p:tgtEl>
                                        <p:attrNameLst>
                                          <p:attrName>ppt_x</p:attrName>
                                          <p:attrName>ppt_y</p:attrName>
                                        </p:attrNameLst>
                                      </p:cBhvr>
                                    </p:animMotion>
                                    <p:set>
                                      <p:cBhvr additive="base">
                                        <p:cTn id="42" dur="750" fill="hold">
                                          <p:stCondLst>
                                            <p:cond delay="1500"/>
                                          </p:stCondLst>
                                        </p:cTn>
                                        <p:tgtEl>
                                          <p:spTgt spid="26"/>
                                        </p:tgtEl>
                                        <p:attrNameLst>
                                          <p:attrName>style.visibility</p:attrName>
                                        </p:attrNameLst>
                                      </p:cBhvr>
                                      <p:to>
                                        <p:strVal val="visible"/>
                                      </p:to>
                                    </p:set>
                                  </p:childTnLst>
                                </p:cTn>
                              </p:par>
                              <p:par>
                                <p:cTn id="43" presetID="10" presetClass="entr" presetSubtype="0" repeatCount="indefinite" fill="hold" grpId="0" nodeType="withEffect">
                                  <p:stCondLst>
                                    <p:cond delay="2250"/>
                                  </p:stCondLst>
                                  <p:childTnLst>
                                    <p:set>
                                      <p:cBhvr>
                                        <p:cTn id="44" dur="1" fill="hold">
                                          <p:stCondLst>
                                            <p:cond delay="0"/>
                                          </p:stCondLst>
                                        </p:cTn>
                                        <p:tgtEl>
                                          <p:spTgt spid="27"/>
                                        </p:tgtEl>
                                        <p:attrNameLst>
                                          <p:attrName>style.visibility</p:attrName>
                                        </p:attrNameLst>
                                      </p:cBhvr>
                                      <p:to>
                                        <p:strVal val="visible"/>
                                      </p:to>
                                    </p:set>
                                    <p:animMotion origin="layout" path="M 0 7.40741E-7 L 0 -0.03079 " pathEditMode="relative">
                                      <p:cBhvr additive="base">
                                        <p:cTn id="45" dur="750" autoRev="1" fill="hold">
                                          <p:stCondLst>
                                            <p:cond delay="0"/>
                                          </p:stCondLst>
                                        </p:cTn>
                                        <p:tgtEl>
                                          <p:spTgt spid="27"/>
                                        </p:tgtEl>
                                        <p:attrNameLst>
                                          <p:attrName>ppt_x</p:attrName>
                                          <p:attrName>ppt_y</p:attrName>
                                        </p:attrNameLst>
                                      </p:cBhvr>
                                    </p:animMotion>
                                    <p:set>
                                      <p:cBhvr additive="base">
                                        <p:cTn id="46" dur="750" fill="hold">
                                          <p:stCondLst>
                                            <p:cond delay="1500"/>
                                          </p:stCondLst>
                                        </p:cTn>
                                        <p:tgtEl>
                                          <p:spTgt spid="27"/>
                                        </p:tgtEl>
                                        <p:attrNameLst>
                                          <p:attrName>style.visibility</p:attrName>
                                        </p:attrNameLst>
                                      </p:cBhvr>
                                      <p:to>
                                        <p:strVal val="visible"/>
                                      </p:to>
                                    </p:set>
                                  </p:childTnLst>
                                </p:cTn>
                              </p:par>
                              <p:par>
                                <p:cTn id="47" presetID="10" presetClass="entr" presetSubtype="0" repeatCount="indefinite" fill="hold" grpId="0" nodeType="withEffect">
                                  <p:stCondLst>
                                    <p:cond delay="2400"/>
                                  </p:stCondLst>
                                  <p:childTnLst>
                                    <p:set>
                                      <p:cBhvr>
                                        <p:cTn id="48" dur="1" fill="hold">
                                          <p:stCondLst>
                                            <p:cond delay="0"/>
                                          </p:stCondLst>
                                        </p:cTn>
                                        <p:tgtEl>
                                          <p:spTgt spid="28"/>
                                        </p:tgtEl>
                                        <p:attrNameLst>
                                          <p:attrName>style.visibility</p:attrName>
                                        </p:attrNameLst>
                                      </p:cBhvr>
                                      <p:to>
                                        <p:strVal val="visible"/>
                                      </p:to>
                                    </p:set>
                                    <p:animMotion origin="layout" path="M 0 7.40741E-7 L 0 -0.03079 " pathEditMode="relative">
                                      <p:cBhvr additive="base">
                                        <p:cTn id="49" dur="750" autoRev="1" fill="hold">
                                          <p:stCondLst>
                                            <p:cond delay="0"/>
                                          </p:stCondLst>
                                        </p:cTn>
                                        <p:tgtEl>
                                          <p:spTgt spid="28"/>
                                        </p:tgtEl>
                                        <p:attrNameLst>
                                          <p:attrName>ppt_x</p:attrName>
                                          <p:attrName>ppt_y</p:attrName>
                                        </p:attrNameLst>
                                      </p:cBhvr>
                                    </p:animMotion>
                                    <p:set>
                                      <p:cBhvr additive="base">
                                        <p:cTn id="50" dur="750" fill="hold">
                                          <p:stCondLst>
                                            <p:cond delay="1500"/>
                                          </p:stCondLst>
                                        </p:cTn>
                                        <p:tgtEl>
                                          <p:spTgt spid="28"/>
                                        </p:tgtEl>
                                        <p:attrNameLst>
                                          <p:attrName>style.visibility</p:attrName>
                                        </p:attrNameLst>
                                      </p:cBhvr>
                                      <p:to>
                                        <p:strVal val="visible"/>
                                      </p:to>
                                    </p:set>
                                  </p:childTnLst>
                                </p:cTn>
                              </p:par>
                              <p:par>
                                <p:cTn id="51" presetID="22" presetClass="entr" presetSubtype="8" fill="hold" grpId="0" nodeType="withEffect">
                                  <p:stCondLst>
                                    <p:cond delay="1000"/>
                                  </p:stCondLst>
                                  <p:childTnLst>
                                    <p:set>
                                      <p:cBhvr>
                                        <p:cTn id="52" dur="1" fill="hold">
                                          <p:stCondLst>
                                            <p:cond delay="0"/>
                                          </p:stCondLst>
                                        </p:cTn>
                                        <p:tgtEl>
                                          <p:spTgt spid="6"/>
                                        </p:tgtEl>
                                        <p:attrNameLst>
                                          <p:attrName>style.visibility</p:attrName>
                                        </p:attrNameLst>
                                      </p:cBhvr>
                                      <p:to>
                                        <p:strVal val="visible"/>
                                      </p:to>
                                    </p:set>
                                    <p:animEffect transition="in" filter="wipe(left)">
                                      <p:cBhvr>
                                        <p:cTn id="53"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5" grpId="0"/>
      <p:bldP spid="26" grpId="0" animBg="1"/>
      <p:bldP spid="27" grpId="0" animBg="1"/>
      <p:bldP spid="28" grpId="0" animBg="1"/>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p:cNvSpPr/>
          <p:nvPr/>
        </p:nvSpPr>
        <p:spPr>
          <a:xfrm>
            <a:off x="3692128" y="1025128"/>
            <a:ext cx="4807744" cy="4807744"/>
          </a:xfrm>
          <a:prstGeom prst="ellipse">
            <a:avLst/>
          </a:prstGeom>
          <a:solidFill>
            <a:schemeClr val="bg2">
              <a:alpha val="4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95325" y="692151"/>
            <a:ext cx="5168446" cy="1836737"/>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95325" y="4329113"/>
            <a:ext cx="5168446" cy="1870284"/>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328229" y="692151"/>
            <a:ext cx="5168446" cy="1836737"/>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328229" y="4329113"/>
            <a:ext cx="5168446" cy="1870284"/>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p:cNvSpPr/>
          <p:nvPr/>
        </p:nvSpPr>
        <p:spPr>
          <a:xfrm>
            <a:off x="4178300" y="2775232"/>
            <a:ext cx="3835400" cy="2011045"/>
          </a:xfrm>
          <a:prstGeom prst="rect">
            <a:avLst/>
          </a:prstGeom>
        </p:spPr>
        <p:txBody>
          <a:bodyPr wrap="square">
            <a:spAutoFit/>
          </a:bodyPr>
          <a:lstStyle/>
          <a:p>
            <a:pPr algn="ct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Why Customer Churn Prediction Matters</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sp>
        <p:nvSpPr>
          <p:cNvPr id="37" name="椭圆 36"/>
          <p:cNvSpPr/>
          <p:nvPr/>
        </p:nvSpPr>
        <p:spPr>
          <a:xfrm>
            <a:off x="4664030" y="1219200"/>
            <a:ext cx="782638" cy="782638"/>
          </a:xfrm>
          <a:prstGeom prst="ellipse">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14"/>
          <p:cNvSpPr>
            <a:spLocks noEditPoints="1"/>
          </p:cNvSpPr>
          <p:nvPr/>
        </p:nvSpPr>
        <p:spPr bwMode="auto">
          <a:xfrm>
            <a:off x="4919452" y="1439495"/>
            <a:ext cx="347994" cy="342048"/>
          </a:xfrm>
          <a:custGeom>
            <a:avLst/>
            <a:gdLst>
              <a:gd name="T0" fmla="*/ 291 w 765"/>
              <a:gd name="T1" fmla="*/ 268 h 752"/>
              <a:gd name="T2" fmla="*/ 268 w 765"/>
              <a:gd name="T3" fmla="*/ 266 h 752"/>
              <a:gd name="T4" fmla="*/ 306 w 765"/>
              <a:gd name="T5" fmla="*/ 191 h 752"/>
              <a:gd name="T6" fmla="*/ 265 w 765"/>
              <a:gd name="T7" fmla="*/ 112 h 752"/>
              <a:gd name="T8" fmla="*/ 331 w 765"/>
              <a:gd name="T9" fmla="*/ 8 h 752"/>
              <a:gd name="T10" fmla="*/ 308 w 765"/>
              <a:gd name="T11" fmla="*/ 53 h 752"/>
              <a:gd name="T12" fmla="*/ 313 w 765"/>
              <a:gd name="T13" fmla="*/ 132 h 752"/>
              <a:gd name="T14" fmla="*/ 456 w 765"/>
              <a:gd name="T15" fmla="*/ 196 h 752"/>
              <a:gd name="T16" fmla="*/ 398 w 765"/>
              <a:gd name="T17" fmla="*/ 271 h 752"/>
              <a:gd name="T18" fmla="*/ 388 w 765"/>
              <a:gd name="T19" fmla="*/ 243 h 752"/>
              <a:gd name="T20" fmla="*/ 408 w 765"/>
              <a:gd name="T21" fmla="*/ 154 h 752"/>
              <a:gd name="T22" fmla="*/ 426 w 765"/>
              <a:gd name="T23" fmla="*/ 5 h 752"/>
              <a:gd name="T24" fmla="*/ 446 w 765"/>
              <a:gd name="T25" fmla="*/ 31 h 752"/>
              <a:gd name="T26" fmla="*/ 414 w 765"/>
              <a:gd name="T27" fmla="*/ 106 h 752"/>
              <a:gd name="T28" fmla="*/ 456 w 765"/>
              <a:gd name="T29" fmla="*/ 196 h 752"/>
              <a:gd name="T30" fmla="*/ 173 w 765"/>
              <a:gd name="T31" fmla="*/ 268 h 752"/>
              <a:gd name="T32" fmla="*/ 150 w 765"/>
              <a:gd name="T33" fmla="*/ 266 h 752"/>
              <a:gd name="T34" fmla="*/ 188 w 765"/>
              <a:gd name="T35" fmla="*/ 191 h 752"/>
              <a:gd name="T36" fmla="*/ 146 w 765"/>
              <a:gd name="T37" fmla="*/ 112 h 752"/>
              <a:gd name="T38" fmla="*/ 213 w 765"/>
              <a:gd name="T39" fmla="*/ 8 h 752"/>
              <a:gd name="T40" fmla="*/ 190 w 765"/>
              <a:gd name="T41" fmla="*/ 53 h 752"/>
              <a:gd name="T42" fmla="*/ 195 w 765"/>
              <a:gd name="T43" fmla="*/ 132 h 752"/>
              <a:gd name="T44" fmla="*/ 671 w 765"/>
              <a:gd name="T45" fmla="*/ 356 h 752"/>
              <a:gd name="T46" fmla="*/ 608 w 765"/>
              <a:gd name="T47" fmla="*/ 320 h 752"/>
              <a:gd name="T48" fmla="*/ 16 w 765"/>
              <a:gd name="T49" fmla="*/ 304 h 752"/>
              <a:gd name="T50" fmla="*/ 0 w 765"/>
              <a:gd name="T51" fmla="*/ 496 h 752"/>
              <a:gd name="T52" fmla="*/ 84 w 765"/>
              <a:gd name="T53" fmla="*/ 704 h 752"/>
              <a:gd name="T54" fmla="*/ 172 w 765"/>
              <a:gd name="T55" fmla="*/ 752 h 752"/>
              <a:gd name="T56" fmla="*/ 415 w 765"/>
              <a:gd name="T57" fmla="*/ 752 h 752"/>
              <a:gd name="T58" fmla="*/ 578 w 765"/>
              <a:gd name="T59" fmla="*/ 629 h 752"/>
              <a:gd name="T60" fmla="*/ 608 w 765"/>
              <a:gd name="T61" fmla="*/ 455 h 752"/>
              <a:gd name="T62" fmla="*/ 671 w 765"/>
              <a:gd name="T63" fmla="*/ 388 h 752"/>
              <a:gd name="T64" fmla="*/ 671 w 765"/>
              <a:gd name="T65" fmla="*/ 512 h 752"/>
              <a:gd name="T66" fmla="*/ 671 w 765"/>
              <a:gd name="T67" fmla="*/ 544 h 752"/>
              <a:gd name="T68" fmla="*/ 671 w 765"/>
              <a:gd name="T69" fmla="*/ 356 h 752"/>
              <a:gd name="T70" fmla="*/ 550 w 765"/>
              <a:gd name="T71" fmla="*/ 614 h 752"/>
              <a:gd name="T72" fmla="*/ 410 w 765"/>
              <a:gd name="T73" fmla="*/ 720 h 752"/>
              <a:gd name="T74" fmla="*/ 105 w 765"/>
              <a:gd name="T75" fmla="*/ 680 h 752"/>
              <a:gd name="T76" fmla="*/ 32 w 765"/>
              <a:gd name="T77" fmla="*/ 496 h 752"/>
              <a:gd name="T78" fmla="*/ 576 w 765"/>
              <a:gd name="T79" fmla="*/ 336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65" h="752">
                <a:moveTo>
                  <a:pt x="338" y="196"/>
                </a:moveTo>
                <a:cubicBezTo>
                  <a:pt x="332" y="231"/>
                  <a:pt x="295" y="264"/>
                  <a:pt x="291" y="268"/>
                </a:cubicBezTo>
                <a:cubicBezTo>
                  <a:pt x="288" y="270"/>
                  <a:pt x="284" y="271"/>
                  <a:pt x="280" y="271"/>
                </a:cubicBezTo>
                <a:cubicBezTo>
                  <a:pt x="276" y="271"/>
                  <a:pt x="271" y="270"/>
                  <a:pt x="268" y="266"/>
                </a:cubicBezTo>
                <a:cubicBezTo>
                  <a:pt x="262" y="259"/>
                  <a:pt x="263" y="249"/>
                  <a:pt x="270" y="243"/>
                </a:cubicBezTo>
                <a:cubicBezTo>
                  <a:pt x="279" y="236"/>
                  <a:pt x="303" y="211"/>
                  <a:pt x="306" y="191"/>
                </a:cubicBezTo>
                <a:cubicBezTo>
                  <a:pt x="309" y="174"/>
                  <a:pt x="302" y="166"/>
                  <a:pt x="290" y="154"/>
                </a:cubicBezTo>
                <a:cubicBezTo>
                  <a:pt x="280" y="144"/>
                  <a:pt x="268" y="132"/>
                  <a:pt x="265" y="112"/>
                </a:cubicBezTo>
                <a:cubicBezTo>
                  <a:pt x="253" y="48"/>
                  <a:pt x="306" y="7"/>
                  <a:pt x="308" y="5"/>
                </a:cubicBezTo>
                <a:cubicBezTo>
                  <a:pt x="315" y="0"/>
                  <a:pt x="325" y="1"/>
                  <a:pt x="331" y="8"/>
                </a:cubicBezTo>
                <a:cubicBezTo>
                  <a:pt x="336" y="15"/>
                  <a:pt x="335" y="25"/>
                  <a:pt x="328" y="31"/>
                </a:cubicBezTo>
                <a:cubicBezTo>
                  <a:pt x="328" y="31"/>
                  <a:pt x="317" y="39"/>
                  <a:pt x="308" y="53"/>
                </a:cubicBezTo>
                <a:cubicBezTo>
                  <a:pt x="297" y="70"/>
                  <a:pt x="293" y="88"/>
                  <a:pt x="296" y="106"/>
                </a:cubicBezTo>
                <a:cubicBezTo>
                  <a:pt x="298" y="116"/>
                  <a:pt x="305" y="123"/>
                  <a:pt x="313" y="132"/>
                </a:cubicBezTo>
                <a:cubicBezTo>
                  <a:pt x="326" y="146"/>
                  <a:pt x="343" y="163"/>
                  <a:pt x="338" y="196"/>
                </a:cubicBezTo>
                <a:close/>
                <a:moveTo>
                  <a:pt x="456" y="196"/>
                </a:moveTo>
                <a:cubicBezTo>
                  <a:pt x="450" y="231"/>
                  <a:pt x="413" y="264"/>
                  <a:pt x="409" y="268"/>
                </a:cubicBezTo>
                <a:cubicBezTo>
                  <a:pt x="406" y="270"/>
                  <a:pt x="402" y="271"/>
                  <a:pt x="398" y="271"/>
                </a:cubicBezTo>
                <a:cubicBezTo>
                  <a:pt x="394" y="271"/>
                  <a:pt x="389" y="270"/>
                  <a:pt x="386" y="266"/>
                </a:cubicBezTo>
                <a:cubicBezTo>
                  <a:pt x="380" y="259"/>
                  <a:pt x="381" y="249"/>
                  <a:pt x="388" y="243"/>
                </a:cubicBezTo>
                <a:cubicBezTo>
                  <a:pt x="397" y="236"/>
                  <a:pt x="421" y="211"/>
                  <a:pt x="424" y="191"/>
                </a:cubicBezTo>
                <a:cubicBezTo>
                  <a:pt x="427" y="174"/>
                  <a:pt x="420" y="166"/>
                  <a:pt x="408" y="154"/>
                </a:cubicBezTo>
                <a:cubicBezTo>
                  <a:pt x="398" y="144"/>
                  <a:pt x="386" y="132"/>
                  <a:pt x="383" y="112"/>
                </a:cubicBezTo>
                <a:cubicBezTo>
                  <a:pt x="371" y="48"/>
                  <a:pt x="424" y="7"/>
                  <a:pt x="426" y="5"/>
                </a:cubicBezTo>
                <a:cubicBezTo>
                  <a:pt x="433" y="0"/>
                  <a:pt x="443" y="1"/>
                  <a:pt x="449" y="8"/>
                </a:cubicBezTo>
                <a:cubicBezTo>
                  <a:pt x="454" y="15"/>
                  <a:pt x="453" y="25"/>
                  <a:pt x="446" y="31"/>
                </a:cubicBezTo>
                <a:cubicBezTo>
                  <a:pt x="446" y="31"/>
                  <a:pt x="435" y="39"/>
                  <a:pt x="426" y="53"/>
                </a:cubicBezTo>
                <a:cubicBezTo>
                  <a:pt x="415" y="70"/>
                  <a:pt x="411" y="88"/>
                  <a:pt x="414" y="106"/>
                </a:cubicBezTo>
                <a:cubicBezTo>
                  <a:pt x="416" y="116"/>
                  <a:pt x="423" y="123"/>
                  <a:pt x="431" y="132"/>
                </a:cubicBezTo>
                <a:cubicBezTo>
                  <a:pt x="444" y="146"/>
                  <a:pt x="461" y="163"/>
                  <a:pt x="456" y="196"/>
                </a:cubicBezTo>
                <a:close/>
                <a:moveTo>
                  <a:pt x="220" y="196"/>
                </a:moveTo>
                <a:cubicBezTo>
                  <a:pt x="214" y="231"/>
                  <a:pt x="177" y="264"/>
                  <a:pt x="173" y="268"/>
                </a:cubicBezTo>
                <a:cubicBezTo>
                  <a:pt x="170" y="270"/>
                  <a:pt x="166" y="271"/>
                  <a:pt x="162" y="271"/>
                </a:cubicBezTo>
                <a:cubicBezTo>
                  <a:pt x="158" y="271"/>
                  <a:pt x="153" y="270"/>
                  <a:pt x="150" y="266"/>
                </a:cubicBezTo>
                <a:cubicBezTo>
                  <a:pt x="144" y="259"/>
                  <a:pt x="145" y="249"/>
                  <a:pt x="152" y="243"/>
                </a:cubicBezTo>
                <a:cubicBezTo>
                  <a:pt x="161" y="236"/>
                  <a:pt x="185" y="211"/>
                  <a:pt x="188" y="191"/>
                </a:cubicBezTo>
                <a:cubicBezTo>
                  <a:pt x="191" y="174"/>
                  <a:pt x="184" y="166"/>
                  <a:pt x="172" y="154"/>
                </a:cubicBezTo>
                <a:cubicBezTo>
                  <a:pt x="162" y="144"/>
                  <a:pt x="150" y="132"/>
                  <a:pt x="146" y="112"/>
                </a:cubicBezTo>
                <a:cubicBezTo>
                  <a:pt x="135" y="48"/>
                  <a:pt x="188" y="7"/>
                  <a:pt x="190" y="5"/>
                </a:cubicBezTo>
                <a:cubicBezTo>
                  <a:pt x="197" y="0"/>
                  <a:pt x="207" y="1"/>
                  <a:pt x="213" y="8"/>
                </a:cubicBezTo>
                <a:cubicBezTo>
                  <a:pt x="218" y="15"/>
                  <a:pt x="217" y="25"/>
                  <a:pt x="210" y="31"/>
                </a:cubicBezTo>
                <a:cubicBezTo>
                  <a:pt x="210" y="31"/>
                  <a:pt x="199" y="39"/>
                  <a:pt x="190" y="53"/>
                </a:cubicBezTo>
                <a:cubicBezTo>
                  <a:pt x="179" y="70"/>
                  <a:pt x="175" y="88"/>
                  <a:pt x="178" y="106"/>
                </a:cubicBezTo>
                <a:cubicBezTo>
                  <a:pt x="180" y="116"/>
                  <a:pt x="187" y="123"/>
                  <a:pt x="195" y="132"/>
                </a:cubicBezTo>
                <a:cubicBezTo>
                  <a:pt x="208" y="146"/>
                  <a:pt x="225" y="163"/>
                  <a:pt x="220" y="196"/>
                </a:cubicBezTo>
                <a:close/>
                <a:moveTo>
                  <a:pt x="671" y="356"/>
                </a:moveTo>
                <a:cubicBezTo>
                  <a:pt x="647" y="356"/>
                  <a:pt x="625" y="365"/>
                  <a:pt x="608" y="380"/>
                </a:cubicBezTo>
                <a:cubicBezTo>
                  <a:pt x="608" y="320"/>
                  <a:pt x="608" y="320"/>
                  <a:pt x="608" y="320"/>
                </a:cubicBezTo>
                <a:cubicBezTo>
                  <a:pt x="608" y="312"/>
                  <a:pt x="601" y="304"/>
                  <a:pt x="592" y="304"/>
                </a:cubicBezTo>
                <a:cubicBezTo>
                  <a:pt x="16" y="304"/>
                  <a:pt x="16" y="304"/>
                  <a:pt x="16" y="304"/>
                </a:cubicBezTo>
                <a:cubicBezTo>
                  <a:pt x="7" y="304"/>
                  <a:pt x="0" y="312"/>
                  <a:pt x="0" y="320"/>
                </a:cubicBezTo>
                <a:cubicBezTo>
                  <a:pt x="0" y="496"/>
                  <a:pt x="0" y="496"/>
                  <a:pt x="0" y="496"/>
                </a:cubicBezTo>
                <a:cubicBezTo>
                  <a:pt x="0" y="545"/>
                  <a:pt x="9" y="588"/>
                  <a:pt x="26" y="626"/>
                </a:cubicBezTo>
                <a:cubicBezTo>
                  <a:pt x="40" y="656"/>
                  <a:pt x="59" y="683"/>
                  <a:pt x="84" y="704"/>
                </a:cubicBezTo>
                <a:cubicBezTo>
                  <a:pt x="125" y="741"/>
                  <a:pt x="167" y="751"/>
                  <a:pt x="169" y="752"/>
                </a:cubicBezTo>
                <a:cubicBezTo>
                  <a:pt x="170" y="752"/>
                  <a:pt x="171" y="752"/>
                  <a:pt x="172" y="752"/>
                </a:cubicBezTo>
                <a:cubicBezTo>
                  <a:pt x="412" y="752"/>
                  <a:pt x="412" y="752"/>
                  <a:pt x="412" y="752"/>
                </a:cubicBezTo>
                <a:cubicBezTo>
                  <a:pt x="413" y="752"/>
                  <a:pt x="414" y="752"/>
                  <a:pt x="415" y="752"/>
                </a:cubicBezTo>
                <a:cubicBezTo>
                  <a:pt x="417" y="751"/>
                  <a:pt x="464" y="742"/>
                  <a:pt x="512" y="707"/>
                </a:cubicBezTo>
                <a:cubicBezTo>
                  <a:pt x="540" y="685"/>
                  <a:pt x="562" y="659"/>
                  <a:pt x="578" y="629"/>
                </a:cubicBezTo>
                <a:cubicBezTo>
                  <a:pt x="598" y="592"/>
                  <a:pt x="608" y="548"/>
                  <a:pt x="608" y="499"/>
                </a:cubicBezTo>
                <a:cubicBezTo>
                  <a:pt x="608" y="455"/>
                  <a:pt x="608" y="455"/>
                  <a:pt x="608" y="455"/>
                </a:cubicBezTo>
                <a:cubicBezTo>
                  <a:pt x="609" y="454"/>
                  <a:pt x="609" y="452"/>
                  <a:pt x="609" y="450"/>
                </a:cubicBezTo>
                <a:cubicBezTo>
                  <a:pt x="609" y="416"/>
                  <a:pt x="637" y="388"/>
                  <a:pt x="671" y="388"/>
                </a:cubicBezTo>
                <a:cubicBezTo>
                  <a:pt x="706" y="388"/>
                  <a:pt x="733" y="416"/>
                  <a:pt x="733" y="450"/>
                </a:cubicBezTo>
                <a:cubicBezTo>
                  <a:pt x="733" y="484"/>
                  <a:pt x="706" y="512"/>
                  <a:pt x="671" y="512"/>
                </a:cubicBezTo>
                <a:cubicBezTo>
                  <a:pt x="662" y="512"/>
                  <a:pt x="655" y="519"/>
                  <a:pt x="655" y="528"/>
                </a:cubicBezTo>
                <a:cubicBezTo>
                  <a:pt x="655" y="537"/>
                  <a:pt x="662" y="544"/>
                  <a:pt x="671" y="544"/>
                </a:cubicBezTo>
                <a:cubicBezTo>
                  <a:pt x="723" y="544"/>
                  <a:pt x="765" y="502"/>
                  <a:pt x="765" y="450"/>
                </a:cubicBezTo>
                <a:cubicBezTo>
                  <a:pt x="765" y="398"/>
                  <a:pt x="723" y="356"/>
                  <a:pt x="671" y="356"/>
                </a:cubicBezTo>
                <a:close/>
                <a:moveTo>
                  <a:pt x="576" y="499"/>
                </a:moveTo>
                <a:cubicBezTo>
                  <a:pt x="576" y="542"/>
                  <a:pt x="567" y="581"/>
                  <a:pt x="550" y="614"/>
                </a:cubicBezTo>
                <a:cubicBezTo>
                  <a:pt x="536" y="640"/>
                  <a:pt x="517" y="662"/>
                  <a:pt x="493" y="680"/>
                </a:cubicBezTo>
                <a:cubicBezTo>
                  <a:pt x="456" y="709"/>
                  <a:pt x="418" y="718"/>
                  <a:pt x="410" y="720"/>
                </a:cubicBezTo>
                <a:cubicBezTo>
                  <a:pt x="174" y="720"/>
                  <a:pt x="174" y="720"/>
                  <a:pt x="174" y="720"/>
                </a:cubicBezTo>
                <a:cubicBezTo>
                  <a:pt x="167" y="718"/>
                  <a:pt x="136" y="708"/>
                  <a:pt x="105" y="680"/>
                </a:cubicBezTo>
                <a:cubicBezTo>
                  <a:pt x="84" y="662"/>
                  <a:pt x="67" y="639"/>
                  <a:pt x="55" y="613"/>
                </a:cubicBezTo>
                <a:cubicBezTo>
                  <a:pt x="40" y="579"/>
                  <a:pt x="32" y="540"/>
                  <a:pt x="32" y="496"/>
                </a:cubicBezTo>
                <a:cubicBezTo>
                  <a:pt x="32" y="336"/>
                  <a:pt x="32" y="336"/>
                  <a:pt x="32" y="336"/>
                </a:cubicBezTo>
                <a:cubicBezTo>
                  <a:pt x="576" y="336"/>
                  <a:pt x="576" y="336"/>
                  <a:pt x="576" y="336"/>
                </a:cubicBezTo>
                <a:lnTo>
                  <a:pt x="576" y="499"/>
                </a:ln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1" name="矩形 40"/>
          <p:cNvSpPr/>
          <p:nvPr/>
        </p:nvSpPr>
        <p:spPr>
          <a:xfrm>
            <a:off x="976092" y="1239499"/>
            <a:ext cx="3378532" cy="810260"/>
          </a:xfrm>
          <a:prstGeom prst="rect">
            <a:avLst/>
          </a:prstGeom>
        </p:spPr>
        <p:txBody>
          <a:bodyPr wrap="square">
            <a:spAutoFit/>
          </a:bodyPr>
          <a:lstStyle/>
          <a:p>
            <a:pPr algn="r">
              <a:lnSpc>
                <a:spcPct val="130000"/>
              </a:lnSpc>
            </a:pPr>
            <a:r>
              <a:rPr lang="en-US" altLang="zh-CN" sz="1200" dirty="0">
                <a:solidFill>
                  <a:schemeClr val="tx1">
                    <a:lumMod val="50000"/>
                    <a:lumOff val="50000"/>
                  </a:schemeClr>
                </a:solidFill>
              </a:rPr>
              <a:t>Customer churn means a customer stops using telecom services.</a:t>
            </a:r>
            <a:endParaRPr lang="en-US" altLang="zh-CN" sz="1200" dirty="0">
              <a:solidFill>
                <a:schemeClr val="tx1">
                  <a:lumMod val="50000"/>
                  <a:lumOff val="50000"/>
                </a:schemeClr>
              </a:solidFill>
            </a:endParaRPr>
          </a:p>
          <a:p>
            <a:pPr algn="r">
              <a:lnSpc>
                <a:spcPct val="130000"/>
              </a:lnSpc>
            </a:pPr>
            <a:endParaRPr lang="en-US" altLang="zh-CN" sz="1200" dirty="0">
              <a:solidFill>
                <a:schemeClr val="tx1">
                  <a:lumMod val="50000"/>
                  <a:lumOff val="50000"/>
                </a:schemeClr>
              </a:solidFill>
            </a:endParaRPr>
          </a:p>
        </p:txBody>
      </p:sp>
      <p:sp>
        <p:nvSpPr>
          <p:cNvPr id="49" name="椭圆 48"/>
          <p:cNvSpPr/>
          <p:nvPr/>
        </p:nvSpPr>
        <p:spPr>
          <a:xfrm>
            <a:off x="4664030" y="4865009"/>
            <a:ext cx="782638" cy="782638"/>
          </a:xfrm>
          <a:prstGeom prst="ellipse">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976092" y="4864988"/>
            <a:ext cx="3378532" cy="570865"/>
          </a:xfrm>
          <a:prstGeom prst="rect">
            <a:avLst/>
          </a:prstGeom>
        </p:spPr>
        <p:txBody>
          <a:bodyPr wrap="square">
            <a:spAutoFit/>
          </a:bodyPr>
          <a:lstStyle/>
          <a:p>
            <a:pPr algn="r">
              <a:lnSpc>
                <a:spcPct val="130000"/>
              </a:lnSpc>
            </a:pPr>
            <a:r>
              <a:rPr lang="en-US" altLang="zh-CN" sz="1200" dirty="0">
                <a:solidFill>
                  <a:schemeClr val="tx1">
                    <a:lumMod val="50000"/>
                    <a:lumOff val="50000"/>
                  </a:schemeClr>
                </a:solidFill>
              </a:rPr>
              <a:t>Early prediction helps companies identify high-risk customers.</a:t>
            </a:r>
            <a:endParaRPr lang="en-US" altLang="zh-CN" sz="1200" dirty="0">
              <a:solidFill>
                <a:schemeClr val="tx1">
                  <a:lumMod val="50000"/>
                  <a:lumOff val="50000"/>
                </a:schemeClr>
              </a:solidFill>
            </a:endParaRPr>
          </a:p>
        </p:txBody>
      </p:sp>
      <p:sp>
        <p:nvSpPr>
          <p:cNvPr id="52" name="椭圆 51"/>
          <p:cNvSpPr/>
          <p:nvPr/>
        </p:nvSpPr>
        <p:spPr>
          <a:xfrm>
            <a:off x="6739236" y="1219200"/>
            <a:ext cx="782638" cy="782638"/>
          </a:xfrm>
          <a:prstGeom prst="ellipse">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7831280" y="1239499"/>
            <a:ext cx="3378532" cy="570865"/>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Retaining existing customers is cheaper than acquiring new ones.</a:t>
            </a:r>
            <a:endParaRPr lang="en-US" altLang="zh-CN" sz="1200" dirty="0">
              <a:solidFill>
                <a:schemeClr val="tx1">
                  <a:lumMod val="50000"/>
                  <a:lumOff val="50000"/>
                </a:schemeClr>
              </a:solidFill>
            </a:endParaRPr>
          </a:p>
        </p:txBody>
      </p:sp>
      <p:sp>
        <p:nvSpPr>
          <p:cNvPr id="55" name="椭圆 54"/>
          <p:cNvSpPr/>
          <p:nvPr/>
        </p:nvSpPr>
        <p:spPr>
          <a:xfrm>
            <a:off x="6739236" y="4865009"/>
            <a:ext cx="782638" cy="782638"/>
          </a:xfrm>
          <a:prstGeom prst="ellipse">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7830010" y="4889753"/>
            <a:ext cx="3378532" cy="570865"/>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This task is formulated as a binary classification problem.</a:t>
            </a:r>
            <a:endParaRPr lang="en-US" altLang="zh-CN" sz="1200" dirty="0">
              <a:solidFill>
                <a:schemeClr val="tx1">
                  <a:lumMod val="50000"/>
                  <a:lumOff val="50000"/>
                </a:schemeClr>
              </a:solidFill>
            </a:endParaRPr>
          </a:p>
        </p:txBody>
      </p:sp>
      <p:sp>
        <p:nvSpPr>
          <p:cNvPr id="63" name="Freeform 18"/>
          <p:cNvSpPr/>
          <p:nvPr/>
        </p:nvSpPr>
        <p:spPr bwMode="auto">
          <a:xfrm>
            <a:off x="6958913" y="5082309"/>
            <a:ext cx="343496" cy="343316"/>
          </a:xfrm>
          <a:custGeom>
            <a:avLst/>
            <a:gdLst>
              <a:gd name="T0" fmla="*/ 693 w 800"/>
              <a:gd name="T1" fmla="*/ 672 h 800"/>
              <a:gd name="T2" fmla="*/ 674 w 800"/>
              <a:gd name="T3" fmla="*/ 691 h 800"/>
              <a:gd name="T4" fmla="*/ 563 w 800"/>
              <a:gd name="T5" fmla="*/ 645 h 800"/>
              <a:gd name="T6" fmla="*/ 463 w 800"/>
              <a:gd name="T7" fmla="*/ 570 h 800"/>
              <a:gd name="T8" fmla="*/ 461 w 800"/>
              <a:gd name="T9" fmla="*/ 501 h 800"/>
              <a:gd name="T10" fmla="*/ 498 w 800"/>
              <a:gd name="T11" fmla="*/ 421 h 800"/>
              <a:gd name="T12" fmla="*/ 526 w 800"/>
              <a:gd name="T13" fmla="*/ 376 h 800"/>
              <a:gd name="T14" fmla="*/ 514 w 800"/>
              <a:gd name="T15" fmla="*/ 340 h 800"/>
              <a:gd name="T16" fmla="*/ 516 w 800"/>
              <a:gd name="T17" fmla="*/ 190 h 800"/>
              <a:gd name="T18" fmla="*/ 458 w 800"/>
              <a:gd name="T19" fmla="*/ 154 h 800"/>
              <a:gd name="T20" fmla="*/ 296 w 800"/>
              <a:gd name="T21" fmla="*/ 175 h 800"/>
              <a:gd name="T22" fmla="*/ 286 w 800"/>
              <a:gd name="T23" fmla="*/ 341 h 800"/>
              <a:gd name="T24" fmla="*/ 274 w 800"/>
              <a:gd name="T25" fmla="*/ 376 h 800"/>
              <a:gd name="T26" fmla="*/ 302 w 800"/>
              <a:gd name="T27" fmla="*/ 421 h 800"/>
              <a:gd name="T28" fmla="*/ 339 w 800"/>
              <a:gd name="T29" fmla="*/ 501 h 800"/>
              <a:gd name="T30" fmla="*/ 338 w 800"/>
              <a:gd name="T31" fmla="*/ 570 h 800"/>
              <a:gd name="T32" fmla="*/ 238 w 800"/>
              <a:gd name="T33" fmla="*/ 645 h 800"/>
              <a:gd name="T34" fmla="*/ 181 w 800"/>
              <a:gd name="T35" fmla="*/ 651 h 800"/>
              <a:gd name="T36" fmla="*/ 226 w 800"/>
              <a:gd name="T37" fmla="*/ 615 h 800"/>
              <a:gd name="T38" fmla="*/ 307 w 800"/>
              <a:gd name="T39" fmla="*/ 516 h 800"/>
              <a:gd name="T40" fmla="*/ 272 w 800"/>
              <a:gd name="T41" fmla="*/ 435 h 800"/>
              <a:gd name="T42" fmla="*/ 243 w 800"/>
              <a:gd name="T43" fmla="*/ 380 h 800"/>
              <a:gd name="T44" fmla="*/ 270 w 800"/>
              <a:gd name="T45" fmla="*/ 156 h 800"/>
              <a:gd name="T46" fmla="*/ 399 w 800"/>
              <a:gd name="T47" fmla="*/ 102 h 800"/>
              <a:gd name="T48" fmla="*/ 543 w 800"/>
              <a:gd name="T49" fmla="*/ 173 h 800"/>
              <a:gd name="T50" fmla="*/ 557 w 800"/>
              <a:gd name="T51" fmla="*/ 380 h 800"/>
              <a:gd name="T52" fmla="*/ 528 w 800"/>
              <a:gd name="T53" fmla="*/ 435 h 800"/>
              <a:gd name="T54" fmla="*/ 493 w 800"/>
              <a:gd name="T55" fmla="*/ 509 h 800"/>
              <a:gd name="T56" fmla="*/ 495 w 800"/>
              <a:gd name="T57" fmla="*/ 565 h 800"/>
              <a:gd name="T58" fmla="*/ 661 w 800"/>
              <a:gd name="T59" fmla="*/ 658 h 800"/>
              <a:gd name="T60" fmla="*/ 768 w 800"/>
              <a:gd name="T61" fmla="*/ 400 h 800"/>
              <a:gd name="T62" fmla="*/ 660 w 800"/>
              <a:gd name="T63" fmla="*/ 140 h 800"/>
              <a:gd name="T64" fmla="*/ 400 w 800"/>
              <a:gd name="T65" fmla="*/ 32 h 800"/>
              <a:gd name="T66" fmla="*/ 140 w 800"/>
              <a:gd name="T67" fmla="*/ 140 h 800"/>
              <a:gd name="T68" fmla="*/ 32 w 800"/>
              <a:gd name="T69" fmla="*/ 400 h 800"/>
              <a:gd name="T70" fmla="*/ 140 w 800"/>
              <a:gd name="T71" fmla="*/ 660 h 800"/>
              <a:gd name="T72" fmla="*/ 400 w 800"/>
              <a:gd name="T73" fmla="*/ 768 h 800"/>
              <a:gd name="T74" fmla="*/ 600 w 800"/>
              <a:gd name="T75" fmla="*/ 728 h 800"/>
              <a:gd name="T76" fmla="*/ 400 w 800"/>
              <a:gd name="T77" fmla="*/ 800 h 800"/>
              <a:gd name="T78" fmla="*/ 117 w 800"/>
              <a:gd name="T79" fmla="*/ 683 h 800"/>
              <a:gd name="T80" fmla="*/ 0 w 800"/>
              <a:gd name="T81" fmla="*/ 400 h 800"/>
              <a:gd name="T82" fmla="*/ 117 w 800"/>
              <a:gd name="T83" fmla="*/ 117 h 800"/>
              <a:gd name="T84" fmla="*/ 400 w 800"/>
              <a:gd name="T85" fmla="*/ 0 h 800"/>
              <a:gd name="T86" fmla="*/ 683 w 800"/>
              <a:gd name="T87" fmla="*/ 117 h 800"/>
              <a:gd name="T88" fmla="*/ 800 w 800"/>
              <a:gd name="T89" fmla="*/ 40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00" h="800">
                <a:moveTo>
                  <a:pt x="800" y="400"/>
                </a:moveTo>
                <a:cubicBezTo>
                  <a:pt x="800" y="501"/>
                  <a:pt x="762" y="598"/>
                  <a:pt x="693" y="672"/>
                </a:cubicBezTo>
                <a:cubicBezTo>
                  <a:pt x="693" y="673"/>
                  <a:pt x="693" y="673"/>
                  <a:pt x="692" y="673"/>
                </a:cubicBezTo>
                <a:cubicBezTo>
                  <a:pt x="674" y="691"/>
                  <a:pt x="674" y="691"/>
                  <a:pt x="674" y="691"/>
                </a:cubicBezTo>
                <a:cubicBezTo>
                  <a:pt x="668" y="697"/>
                  <a:pt x="658" y="697"/>
                  <a:pt x="652" y="692"/>
                </a:cubicBezTo>
                <a:cubicBezTo>
                  <a:pt x="628" y="670"/>
                  <a:pt x="595" y="657"/>
                  <a:pt x="563" y="645"/>
                </a:cubicBezTo>
                <a:cubicBezTo>
                  <a:pt x="519" y="627"/>
                  <a:pt x="478" y="611"/>
                  <a:pt x="464" y="574"/>
                </a:cubicBezTo>
                <a:cubicBezTo>
                  <a:pt x="463" y="573"/>
                  <a:pt x="463" y="571"/>
                  <a:pt x="463" y="570"/>
                </a:cubicBezTo>
                <a:cubicBezTo>
                  <a:pt x="461" y="549"/>
                  <a:pt x="461" y="533"/>
                  <a:pt x="461" y="516"/>
                </a:cubicBezTo>
                <a:cubicBezTo>
                  <a:pt x="461" y="511"/>
                  <a:pt x="461" y="506"/>
                  <a:pt x="461" y="501"/>
                </a:cubicBezTo>
                <a:cubicBezTo>
                  <a:pt x="461" y="495"/>
                  <a:pt x="465" y="490"/>
                  <a:pt x="470" y="487"/>
                </a:cubicBezTo>
                <a:cubicBezTo>
                  <a:pt x="476" y="483"/>
                  <a:pt x="494" y="452"/>
                  <a:pt x="498" y="421"/>
                </a:cubicBezTo>
                <a:cubicBezTo>
                  <a:pt x="499" y="414"/>
                  <a:pt x="505" y="408"/>
                  <a:pt x="512" y="407"/>
                </a:cubicBezTo>
                <a:cubicBezTo>
                  <a:pt x="514" y="407"/>
                  <a:pt x="523" y="401"/>
                  <a:pt x="526" y="376"/>
                </a:cubicBezTo>
                <a:cubicBezTo>
                  <a:pt x="527" y="363"/>
                  <a:pt x="521" y="358"/>
                  <a:pt x="521" y="358"/>
                </a:cubicBezTo>
                <a:cubicBezTo>
                  <a:pt x="515" y="355"/>
                  <a:pt x="512" y="347"/>
                  <a:pt x="514" y="340"/>
                </a:cubicBezTo>
                <a:cubicBezTo>
                  <a:pt x="517" y="331"/>
                  <a:pt x="526" y="302"/>
                  <a:pt x="529" y="268"/>
                </a:cubicBezTo>
                <a:cubicBezTo>
                  <a:pt x="531" y="235"/>
                  <a:pt x="527" y="208"/>
                  <a:pt x="516" y="190"/>
                </a:cubicBezTo>
                <a:cubicBezTo>
                  <a:pt x="506" y="174"/>
                  <a:pt x="491" y="165"/>
                  <a:pt x="470" y="162"/>
                </a:cubicBezTo>
                <a:cubicBezTo>
                  <a:pt x="465" y="162"/>
                  <a:pt x="460" y="159"/>
                  <a:pt x="458" y="154"/>
                </a:cubicBezTo>
                <a:cubicBezTo>
                  <a:pt x="451" y="142"/>
                  <a:pt x="429" y="134"/>
                  <a:pt x="399" y="134"/>
                </a:cubicBezTo>
                <a:cubicBezTo>
                  <a:pt x="350" y="135"/>
                  <a:pt x="315" y="149"/>
                  <a:pt x="296" y="175"/>
                </a:cubicBezTo>
                <a:cubicBezTo>
                  <a:pt x="282" y="192"/>
                  <a:pt x="275" y="216"/>
                  <a:pt x="274" y="245"/>
                </a:cubicBezTo>
                <a:cubicBezTo>
                  <a:pt x="273" y="272"/>
                  <a:pt x="277" y="304"/>
                  <a:pt x="286" y="341"/>
                </a:cubicBezTo>
                <a:cubicBezTo>
                  <a:pt x="288" y="348"/>
                  <a:pt x="285" y="355"/>
                  <a:pt x="279" y="358"/>
                </a:cubicBezTo>
                <a:cubicBezTo>
                  <a:pt x="279" y="358"/>
                  <a:pt x="273" y="363"/>
                  <a:pt x="274" y="376"/>
                </a:cubicBezTo>
                <a:cubicBezTo>
                  <a:pt x="277" y="401"/>
                  <a:pt x="286" y="407"/>
                  <a:pt x="288" y="407"/>
                </a:cubicBezTo>
                <a:cubicBezTo>
                  <a:pt x="295" y="408"/>
                  <a:pt x="301" y="414"/>
                  <a:pt x="302" y="421"/>
                </a:cubicBezTo>
                <a:cubicBezTo>
                  <a:pt x="305" y="451"/>
                  <a:pt x="325" y="483"/>
                  <a:pt x="331" y="487"/>
                </a:cubicBezTo>
                <a:cubicBezTo>
                  <a:pt x="336" y="490"/>
                  <a:pt x="339" y="495"/>
                  <a:pt x="339" y="501"/>
                </a:cubicBezTo>
                <a:cubicBezTo>
                  <a:pt x="339" y="506"/>
                  <a:pt x="339" y="511"/>
                  <a:pt x="339" y="516"/>
                </a:cubicBezTo>
                <a:cubicBezTo>
                  <a:pt x="340" y="533"/>
                  <a:pt x="340" y="549"/>
                  <a:pt x="338" y="570"/>
                </a:cubicBezTo>
                <a:cubicBezTo>
                  <a:pt x="338" y="571"/>
                  <a:pt x="337" y="573"/>
                  <a:pt x="337" y="574"/>
                </a:cubicBezTo>
                <a:cubicBezTo>
                  <a:pt x="323" y="611"/>
                  <a:pt x="282" y="627"/>
                  <a:pt x="238" y="645"/>
                </a:cubicBezTo>
                <a:cubicBezTo>
                  <a:pt x="226" y="649"/>
                  <a:pt x="214" y="654"/>
                  <a:pt x="202" y="659"/>
                </a:cubicBezTo>
                <a:cubicBezTo>
                  <a:pt x="194" y="663"/>
                  <a:pt x="185" y="659"/>
                  <a:pt x="181" y="651"/>
                </a:cubicBezTo>
                <a:cubicBezTo>
                  <a:pt x="177" y="643"/>
                  <a:pt x="181" y="634"/>
                  <a:pt x="189" y="630"/>
                </a:cubicBezTo>
                <a:cubicBezTo>
                  <a:pt x="201" y="625"/>
                  <a:pt x="214" y="620"/>
                  <a:pt x="226" y="615"/>
                </a:cubicBezTo>
                <a:cubicBezTo>
                  <a:pt x="264" y="600"/>
                  <a:pt x="296" y="587"/>
                  <a:pt x="306" y="565"/>
                </a:cubicBezTo>
                <a:cubicBezTo>
                  <a:pt x="308" y="547"/>
                  <a:pt x="308" y="532"/>
                  <a:pt x="307" y="516"/>
                </a:cubicBezTo>
                <a:cubicBezTo>
                  <a:pt x="307" y="514"/>
                  <a:pt x="307" y="511"/>
                  <a:pt x="307" y="509"/>
                </a:cubicBezTo>
                <a:cubicBezTo>
                  <a:pt x="293" y="494"/>
                  <a:pt x="278" y="463"/>
                  <a:pt x="272" y="435"/>
                </a:cubicBezTo>
                <a:cubicBezTo>
                  <a:pt x="267" y="432"/>
                  <a:pt x="262" y="428"/>
                  <a:pt x="258" y="423"/>
                </a:cubicBezTo>
                <a:cubicBezTo>
                  <a:pt x="250" y="413"/>
                  <a:pt x="245" y="398"/>
                  <a:pt x="243" y="380"/>
                </a:cubicBezTo>
                <a:cubicBezTo>
                  <a:pt x="240" y="362"/>
                  <a:pt x="246" y="348"/>
                  <a:pt x="253" y="339"/>
                </a:cubicBezTo>
                <a:cubicBezTo>
                  <a:pt x="233" y="258"/>
                  <a:pt x="239" y="197"/>
                  <a:pt x="270" y="156"/>
                </a:cubicBezTo>
                <a:cubicBezTo>
                  <a:pt x="296" y="121"/>
                  <a:pt x="339" y="103"/>
                  <a:pt x="398" y="102"/>
                </a:cubicBezTo>
                <a:cubicBezTo>
                  <a:pt x="399" y="102"/>
                  <a:pt x="399" y="102"/>
                  <a:pt x="399" y="102"/>
                </a:cubicBezTo>
                <a:cubicBezTo>
                  <a:pt x="437" y="102"/>
                  <a:pt x="466" y="113"/>
                  <a:pt x="481" y="132"/>
                </a:cubicBezTo>
                <a:cubicBezTo>
                  <a:pt x="509" y="137"/>
                  <a:pt x="529" y="151"/>
                  <a:pt x="543" y="173"/>
                </a:cubicBezTo>
                <a:cubicBezTo>
                  <a:pt x="576" y="226"/>
                  <a:pt x="557" y="308"/>
                  <a:pt x="547" y="340"/>
                </a:cubicBezTo>
                <a:cubicBezTo>
                  <a:pt x="554" y="349"/>
                  <a:pt x="560" y="362"/>
                  <a:pt x="557" y="380"/>
                </a:cubicBezTo>
                <a:cubicBezTo>
                  <a:pt x="555" y="398"/>
                  <a:pt x="550" y="413"/>
                  <a:pt x="542" y="423"/>
                </a:cubicBezTo>
                <a:cubicBezTo>
                  <a:pt x="538" y="428"/>
                  <a:pt x="533" y="432"/>
                  <a:pt x="528" y="435"/>
                </a:cubicBezTo>
                <a:cubicBezTo>
                  <a:pt x="524" y="454"/>
                  <a:pt x="517" y="470"/>
                  <a:pt x="513" y="479"/>
                </a:cubicBezTo>
                <a:cubicBezTo>
                  <a:pt x="508" y="489"/>
                  <a:pt x="501" y="501"/>
                  <a:pt x="493" y="509"/>
                </a:cubicBezTo>
                <a:cubicBezTo>
                  <a:pt x="493" y="511"/>
                  <a:pt x="493" y="514"/>
                  <a:pt x="493" y="516"/>
                </a:cubicBezTo>
                <a:cubicBezTo>
                  <a:pt x="493" y="532"/>
                  <a:pt x="493" y="547"/>
                  <a:pt x="495" y="565"/>
                </a:cubicBezTo>
                <a:cubicBezTo>
                  <a:pt x="504" y="587"/>
                  <a:pt x="537" y="600"/>
                  <a:pt x="574" y="615"/>
                </a:cubicBezTo>
                <a:cubicBezTo>
                  <a:pt x="603" y="626"/>
                  <a:pt x="635" y="639"/>
                  <a:pt x="661" y="658"/>
                </a:cubicBezTo>
                <a:cubicBezTo>
                  <a:pt x="670" y="650"/>
                  <a:pt x="670" y="650"/>
                  <a:pt x="670" y="650"/>
                </a:cubicBezTo>
                <a:cubicBezTo>
                  <a:pt x="733" y="582"/>
                  <a:pt x="768" y="493"/>
                  <a:pt x="768" y="400"/>
                </a:cubicBezTo>
                <a:cubicBezTo>
                  <a:pt x="768" y="350"/>
                  <a:pt x="758" y="302"/>
                  <a:pt x="739" y="257"/>
                </a:cubicBezTo>
                <a:cubicBezTo>
                  <a:pt x="721" y="213"/>
                  <a:pt x="694" y="174"/>
                  <a:pt x="660" y="140"/>
                </a:cubicBezTo>
                <a:cubicBezTo>
                  <a:pt x="626" y="106"/>
                  <a:pt x="587" y="79"/>
                  <a:pt x="543" y="61"/>
                </a:cubicBezTo>
                <a:cubicBezTo>
                  <a:pt x="498" y="42"/>
                  <a:pt x="450" y="32"/>
                  <a:pt x="400" y="32"/>
                </a:cubicBezTo>
                <a:cubicBezTo>
                  <a:pt x="350" y="32"/>
                  <a:pt x="302" y="42"/>
                  <a:pt x="257" y="61"/>
                </a:cubicBezTo>
                <a:cubicBezTo>
                  <a:pt x="213" y="79"/>
                  <a:pt x="174" y="106"/>
                  <a:pt x="140" y="140"/>
                </a:cubicBezTo>
                <a:cubicBezTo>
                  <a:pt x="106" y="174"/>
                  <a:pt x="79" y="213"/>
                  <a:pt x="61" y="257"/>
                </a:cubicBezTo>
                <a:cubicBezTo>
                  <a:pt x="42" y="302"/>
                  <a:pt x="32" y="350"/>
                  <a:pt x="32" y="400"/>
                </a:cubicBezTo>
                <a:cubicBezTo>
                  <a:pt x="32" y="450"/>
                  <a:pt x="42" y="498"/>
                  <a:pt x="61" y="543"/>
                </a:cubicBezTo>
                <a:cubicBezTo>
                  <a:pt x="79" y="587"/>
                  <a:pt x="106" y="626"/>
                  <a:pt x="140" y="660"/>
                </a:cubicBezTo>
                <a:cubicBezTo>
                  <a:pt x="174" y="694"/>
                  <a:pt x="213" y="721"/>
                  <a:pt x="257" y="739"/>
                </a:cubicBezTo>
                <a:cubicBezTo>
                  <a:pt x="302" y="758"/>
                  <a:pt x="350" y="768"/>
                  <a:pt x="400" y="768"/>
                </a:cubicBezTo>
                <a:cubicBezTo>
                  <a:pt x="463" y="768"/>
                  <a:pt x="524" y="752"/>
                  <a:pt x="579" y="722"/>
                </a:cubicBezTo>
                <a:cubicBezTo>
                  <a:pt x="586" y="718"/>
                  <a:pt x="596" y="720"/>
                  <a:pt x="600" y="728"/>
                </a:cubicBezTo>
                <a:cubicBezTo>
                  <a:pt x="605" y="736"/>
                  <a:pt x="602" y="745"/>
                  <a:pt x="594" y="750"/>
                </a:cubicBezTo>
                <a:cubicBezTo>
                  <a:pt x="535" y="783"/>
                  <a:pt x="468" y="800"/>
                  <a:pt x="400" y="800"/>
                </a:cubicBezTo>
                <a:cubicBezTo>
                  <a:pt x="346" y="800"/>
                  <a:pt x="294" y="789"/>
                  <a:pt x="244" y="769"/>
                </a:cubicBezTo>
                <a:cubicBezTo>
                  <a:pt x="197" y="748"/>
                  <a:pt x="154" y="720"/>
                  <a:pt x="117" y="683"/>
                </a:cubicBezTo>
                <a:cubicBezTo>
                  <a:pt x="80" y="646"/>
                  <a:pt x="52" y="603"/>
                  <a:pt x="31" y="556"/>
                </a:cubicBezTo>
                <a:cubicBezTo>
                  <a:pt x="11" y="506"/>
                  <a:pt x="0" y="454"/>
                  <a:pt x="0" y="400"/>
                </a:cubicBezTo>
                <a:cubicBezTo>
                  <a:pt x="0" y="346"/>
                  <a:pt x="11" y="294"/>
                  <a:pt x="31" y="244"/>
                </a:cubicBezTo>
                <a:cubicBezTo>
                  <a:pt x="52" y="197"/>
                  <a:pt x="80" y="154"/>
                  <a:pt x="117" y="117"/>
                </a:cubicBezTo>
                <a:cubicBezTo>
                  <a:pt x="154" y="80"/>
                  <a:pt x="197" y="52"/>
                  <a:pt x="244" y="31"/>
                </a:cubicBezTo>
                <a:cubicBezTo>
                  <a:pt x="294" y="11"/>
                  <a:pt x="346" y="0"/>
                  <a:pt x="400" y="0"/>
                </a:cubicBezTo>
                <a:cubicBezTo>
                  <a:pt x="454" y="0"/>
                  <a:pt x="506" y="11"/>
                  <a:pt x="556" y="31"/>
                </a:cubicBezTo>
                <a:cubicBezTo>
                  <a:pt x="603" y="52"/>
                  <a:pt x="646" y="80"/>
                  <a:pt x="683" y="117"/>
                </a:cubicBezTo>
                <a:cubicBezTo>
                  <a:pt x="720" y="154"/>
                  <a:pt x="748" y="197"/>
                  <a:pt x="769" y="244"/>
                </a:cubicBezTo>
                <a:cubicBezTo>
                  <a:pt x="789" y="294"/>
                  <a:pt x="800" y="346"/>
                  <a:pt x="800" y="400"/>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66" name="Freeform 22"/>
          <p:cNvSpPr>
            <a:spLocks noEditPoints="1"/>
          </p:cNvSpPr>
          <p:nvPr/>
        </p:nvSpPr>
        <p:spPr bwMode="auto">
          <a:xfrm>
            <a:off x="4945767" y="5093231"/>
            <a:ext cx="219164" cy="342048"/>
          </a:xfrm>
          <a:custGeom>
            <a:avLst/>
            <a:gdLst>
              <a:gd name="T0" fmla="*/ 379 w 510"/>
              <a:gd name="T1" fmla="*/ 50 h 797"/>
              <a:gd name="T2" fmla="*/ 255 w 510"/>
              <a:gd name="T3" fmla="*/ 0 h 797"/>
              <a:gd name="T4" fmla="*/ 131 w 510"/>
              <a:gd name="T5" fmla="*/ 50 h 797"/>
              <a:gd name="T6" fmla="*/ 79 w 510"/>
              <a:gd name="T7" fmla="*/ 171 h 797"/>
              <a:gd name="T8" fmla="*/ 79 w 510"/>
              <a:gd name="T9" fmla="*/ 371 h 797"/>
              <a:gd name="T10" fmla="*/ 131 w 510"/>
              <a:gd name="T11" fmla="*/ 492 h 797"/>
              <a:gd name="T12" fmla="*/ 255 w 510"/>
              <a:gd name="T13" fmla="*/ 542 h 797"/>
              <a:gd name="T14" fmla="*/ 379 w 510"/>
              <a:gd name="T15" fmla="*/ 492 h 797"/>
              <a:gd name="T16" fmla="*/ 430 w 510"/>
              <a:gd name="T17" fmla="*/ 371 h 797"/>
              <a:gd name="T18" fmla="*/ 430 w 510"/>
              <a:gd name="T19" fmla="*/ 171 h 797"/>
              <a:gd name="T20" fmla="*/ 379 w 510"/>
              <a:gd name="T21" fmla="*/ 50 h 797"/>
              <a:gd name="T22" fmla="*/ 398 w 510"/>
              <a:gd name="T23" fmla="*/ 371 h 797"/>
              <a:gd name="T24" fmla="*/ 255 w 510"/>
              <a:gd name="T25" fmla="*/ 510 h 797"/>
              <a:gd name="T26" fmla="*/ 111 w 510"/>
              <a:gd name="T27" fmla="*/ 371 h 797"/>
              <a:gd name="T28" fmla="*/ 111 w 510"/>
              <a:gd name="T29" fmla="*/ 171 h 797"/>
              <a:gd name="T30" fmla="*/ 255 w 510"/>
              <a:gd name="T31" fmla="*/ 32 h 797"/>
              <a:gd name="T32" fmla="*/ 398 w 510"/>
              <a:gd name="T33" fmla="*/ 171 h 797"/>
              <a:gd name="T34" fmla="*/ 398 w 510"/>
              <a:gd name="T35" fmla="*/ 371 h 797"/>
              <a:gd name="T36" fmla="*/ 510 w 510"/>
              <a:gd name="T37" fmla="*/ 287 h 797"/>
              <a:gd name="T38" fmla="*/ 510 w 510"/>
              <a:gd name="T39" fmla="*/ 367 h 797"/>
              <a:gd name="T40" fmla="*/ 271 w 510"/>
              <a:gd name="T41" fmla="*/ 621 h 797"/>
              <a:gd name="T42" fmla="*/ 271 w 510"/>
              <a:gd name="T43" fmla="*/ 733 h 797"/>
              <a:gd name="T44" fmla="*/ 255 w 510"/>
              <a:gd name="T45" fmla="*/ 749 h 797"/>
              <a:gd name="T46" fmla="*/ 239 w 510"/>
              <a:gd name="T47" fmla="*/ 733 h 797"/>
              <a:gd name="T48" fmla="*/ 239 w 510"/>
              <a:gd name="T49" fmla="*/ 621 h 797"/>
              <a:gd name="T50" fmla="*/ 0 w 510"/>
              <a:gd name="T51" fmla="*/ 367 h 797"/>
              <a:gd name="T52" fmla="*/ 0 w 510"/>
              <a:gd name="T53" fmla="*/ 287 h 797"/>
              <a:gd name="T54" fmla="*/ 16 w 510"/>
              <a:gd name="T55" fmla="*/ 271 h 797"/>
              <a:gd name="T56" fmla="*/ 32 w 510"/>
              <a:gd name="T57" fmla="*/ 287 h 797"/>
              <a:gd name="T58" fmla="*/ 32 w 510"/>
              <a:gd name="T59" fmla="*/ 367 h 797"/>
              <a:gd name="T60" fmla="*/ 255 w 510"/>
              <a:gd name="T61" fmla="*/ 590 h 797"/>
              <a:gd name="T62" fmla="*/ 478 w 510"/>
              <a:gd name="T63" fmla="*/ 367 h 797"/>
              <a:gd name="T64" fmla="*/ 478 w 510"/>
              <a:gd name="T65" fmla="*/ 287 h 797"/>
              <a:gd name="T66" fmla="*/ 494 w 510"/>
              <a:gd name="T67" fmla="*/ 271 h 797"/>
              <a:gd name="T68" fmla="*/ 510 w 510"/>
              <a:gd name="T69" fmla="*/ 287 h 797"/>
              <a:gd name="T70" fmla="*/ 461 w 510"/>
              <a:gd name="T71" fmla="*/ 781 h 797"/>
              <a:gd name="T72" fmla="*/ 445 w 510"/>
              <a:gd name="T73" fmla="*/ 797 h 797"/>
              <a:gd name="T74" fmla="*/ 64 w 510"/>
              <a:gd name="T75" fmla="*/ 797 h 797"/>
              <a:gd name="T76" fmla="*/ 48 w 510"/>
              <a:gd name="T77" fmla="*/ 781 h 797"/>
              <a:gd name="T78" fmla="*/ 64 w 510"/>
              <a:gd name="T79" fmla="*/ 765 h 797"/>
              <a:gd name="T80" fmla="*/ 445 w 510"/>
              <a:gd name="T81" fmla="*/ 765 h 797"/>
              <a:gd name="T82" fmla="*/ 461 w 510"/>
              <a:gd name="T83" fmla="*/ 781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0" h="797">
                <a:moveTo>
                  <a:pt x="379" y="50"/>
                </a:moveTo>
                <a:cubicBezTo>
                  <a:pt x="346" y="18"/>
                  <a:pt x="302" y="0"/>
                  <a:pt x="255" y="0"/>
                </a:cubicBezTo>
                <a:cubicBezTo>
                  <a:pt x="208" y="0"/>
                  <a:pt x="164" y="18"/>
                  <a:pt x="131" y="50"/>
                </a:cubicBezTo>
                <a:cubicBezTo>
                  <a:pt x="98" y="82"/>
                  <a:pt x="79" y="125"/>
                  <a:pt x="79" y="171"/>
                </a:cubicBezTo>
                <a:cubicBezTo>
                  <a:pt x="79" y="371"/>
                  <a:pt x="79" y="371"/>
                  <a:pt x="79" y="371"/>
                </a:cubicBezTo>
                <a:cubicBezTo>
                  <a:pt x="79" y="417"/>
                  <a:pt x="98" y="460"/>
                  <a:pt x="131" y="492"/>
                </a:cubicBezTo>
                <a:cubicBezTo>
                  <a:pt x="164" y="524"/>
                  <a:pt x="208" y="542"/>
                  <a:pt x="255" y="542"/>
                </a:cubicBezTo>
                <a:cubicBezTo>
                  <a:pt x="302" y="542"/>
                  <a:pt x="346" y="524"/>
                  <a:pt x="379" y="492"/>
                </a:cubicBezTo>
                <a:cubicBezTo>
                  <a:pt x="412" y="460"/>
                  <a:pt x="430" y="417"/>
                  <a:pt x="430" y="371"/>
                </a:cubicBezTo>
                <a:cubicBezTo>
                  <a:pt x="430" y="171"/>
                  <a:pt x="430" y="171"/>
                  <a:pt x="430" y="171"/>
                </a:cubicBezTo>
                <a:cubicBezTo>
                  <a:pt x="430" y="125"/>
                  <a:pt x="412" y="82"/>
                  <a:pt x="379" y="50"/>
                </a:cubicBezTo>
                <a:close/>
                <a:moveTo>
                  <a:pt x="398" y="371"/>
                </a:moveTo>
                <a:cubicBezTo>
                  <a:pt x="398" y="448"/>
                  <a:pt x="334" y="510"/>
                  <a:pt x="255" y="510"/>
                </a:cubicBezTo>
                <a:cubicBezTo>
                  <a:pt x="176" y="510"/>
                  <a:pt x="111" y="448"/>
                  <a:pt x="111" y="371"/>
                </a:cubicBezTo>
                <a:cubicBezTo>
                  <a:pt x="111" y="171"/>
                  <a:pt x="111" y="171"/>
                  <a:pt x="111" y="171"/>
                </a:cubicBezTo>
                <a:cubicBezTo>
                  <a:pt x="111" y="94"/>
                  <a:pt x="176" y="32"/>
                  <a:pt x="255" y="32"/>
                </a:cubicBezTo>
                <a:cubicBezTo>
                  <a:pt x="334" y="32"/>
                  <a:pt x="398" y="94"/>
                  <a:pt x="398" y="171"/>
                </a:cubicBezTo>
                <a:cubicBezTo>
                  <a:pt x="398" y="371"/>
                  <a:pt x="398" y="371"/>
                  <a:pt x="398" y="371"/>
                </a:cubicBezTo>
                <a:close/>
                <a:moveTo>
                  <a:pt x="510" y="287"/>
                </a:moveTo>
                <a:cubicBezTo>
                  <a:pt x="510" y="367"/>
                  <a:pt x="510" y="367"/>
                  <a:pt x="510" y="367"/>
                </a:cubicBezTo>
                <a:cubicBezTo>
                  <a:pt x="510" y="502"/>
                  <a:pt x="404" y="613"/>
                  <a:pt x="271" y="621"/>
                </a:cubicBezTo>
                <a:cubicBezTo>
                  <a:pt x="271" y="733"/>
                  <a:pt x="271" y="733"/>
                  <a:pt x="271" y="733"/>
                </a:cubicBezTo>
                <a:cubicBezTo>
                  <a:pt x="271" y="742"/>
                  <a:pt x="264" y="749"/>
                  <a:pt x="255" y="749"/>
                </a:cubicBezTo>
                <a:cubicBezTo>
                  <a:pt x="246" y="749"/>
                  <a:pt x="239" y="742"/>
                  <a:pt x="239" y="733"/>
                </a:cubicBezTo>
                <a:cubicBezTo>
                  <a:pt x="239" y="621"/>
                  <a:pt x="239" y="621"/>
                  <a:pt x="239" y="621"/>
                </a:cubicBezTo>
                <a:cubicBezTo>
                  <a:pt x="106" y="613"/>
                  <a:pt x="0" y="502"/>
                  <a:pt x="0" y="367"/>
                </a:cubicBezTo>
                <a:cubicBezTo>
                  <a:pt x="0" y="287"/>
                  <a:pt x="0" y="287"/>
                  <a:pt x="0" y="287"/>
                </a:cubicBezTo>
                <a:cubicBezTo>
                  <a:pt x="0" y="278"/>
                  <a:pt x="7" y="271"/>
                  <a:pt x="16" y="271"/>
                </a:cubicBezTo>
                <a:cubicBezTo>
                  <a:pt x="25" y="271"/>
                  <a:pt x="32" y="278"/>
                  <a:pt x="32" y="287"/>
                </a:cubicBezTo>
                <a:cubicBezTo>
                  <a:pt x="32" y="367"/>
                  <a:pt x="32" y="367"/>
                  <a:pt x="32" y="367"/>
                </a:cubicBezTo>
                <a:cubicBezTo>
                  <a:pt x="32" y="490"/>
                  <a:pt x="132" y="590"/>
                  <a:pt x="255" y="590"/>
                </a:cubicBezTo>
                <a:cubicBezTo>
                  <a:pt x="378" y="590"/>
                  <a:pt x="478" y="490"/>
                  <a:pt x="478" y="367"/>
                </a:cubicBezTo>
                <a:cubicBezTo>
                  <a:pt x="478" y="287"/>
                  <a:pt x="478" y="287"/>
                  <a:pt x="478" y="287"/>
                </a:cubicBezTo>
                <a:cubicBezTo>
                  <a:pt x="478" y="278"/>
                  <a:pt x="485" y="271"/>
                  <a:pt x="494" y="271"/>
                </a:cubicBezTo>
                <a:cubicBezTo>
                  <a:pt x="503" y="271"/>
                  <a:pt x="510" y="278"/>
                  <a:pt x="510" y="287"/>
                </a:cubicBezTo>
                <a:close/>
                <a:moveTo>
                  <a:pt x="461" y="781"/>
                </a:moveTo>
                <a:cubicBezTo>
                  <a:pt x="461" y="790"/>
                  <a:pt x="454" y="797"/>
                  <a:pt x="445" y="797"/>
                </a:cubicBezTo>
                <a:cubicBezTo>
                  <a:pt x="64" y="797"/>
                  <a:pt x="64" y="797"/>
                  <a:pt x="64" y="797"/>
                </a:cubicBezTo>
                <a:cubicBezTo>
                  <a:pt x="56" y="797"/>
                  <a:pt x="48" y="790"/>
                  <a:pt x="48" y="781"/>
                </a:cubicBezTo>
                <a:cubicBezTo>
                  <a:pt x="48" y="772"/>
                  <a:pt x="56" y="765"/>
                  <a:pt x="64" y="765"/>
                </a:cubicBezTo>
                <a:cubicBezTo>
                  <a:pt x="445" y="765"/>
                  <a:pt x="445" y="765"/>
                  <a:pt x="445" y="765"/>
                </a:cubicBezTo>
                <a:cubicBezTo>
                  <a:pt x="454" y="765"/>
                  <a:pt x="461" y="772"/>
                  <a:pt x="461" y="781"/>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69" name="Freeform 26"/>
          <p:cNvSpPr>
            <a:spLocks noEditPoints="1"/>
          </p:cNvSpPr>
          <p:nvPr/>
        </p:nvSpPr>
        <p:spPr bwMode="auto">
          <a:xfrm>
            <a:off x="6958898" y="1438316"/>
            <a:ext cx="343314" cy="343134"/>
          </a:xfrm>
          <a:custGeom>
            <a:avLst/>
            <a:gdLst>
              <a:gd name="T0" fmla="*/ 732 w 800"/>
              <a:gd name="T1" fmla="*/ 749 h 800"/>
              <a:gd name="T2" fmla="*/ 655 w 800"/>
              <a:gd name="T3" fmla="*/ 800 h 800"/>
              <a:gd name="T4" fmla="*/ 528 w 800"/>
              <a:gd name="T5" fmla="*/ 766 h 800"/>
              <a:gd name="T6" fmla="*/ 35 w 800"/>
              <a:gd name="T7" fmla="*/ 272 h 800"/>
              <a:gd name="T8" fmla="*/ 1 w 800"/>
              <a:gd name="T9" fmla="*/ 145 h 800"/>
              <a:gd name="T10" fmla="*/ 117 w 800"/>
              <a:gd name="T11" fmla="*/ 13 h 800"/>
              <a:gd name="T12" fmla="*/ 192 w 800"/>
              <a:gd name="T13" fmla="*/ 18 h 800"/>
              <a:gd name="T14" fmla="*/ 296 w 800"/>
              <a:gd name="T15" fmla="*/ 243 h 800"/>
              <a:gd name="T16" fmla="*/ 362 w 800"/>
              <a:gd name="T17" fmla="*/ 439 h 800"/>
              <a:gd name="T18" fmla="*/ 497 w 800"/>
              <a:gd name="T19" fmla="*/ 572 h 800"/>
              <a:gd name="T20" fmla="*/ 339 w 800"/>
              <a:gd name="T21" fmla="*/ 461 h 800"/>
              <a:gd name="T22" fmla="*/ 222 w 800"/>
              <a:gd name="T23" fmla="*/ 309 h 800"/>
              <a:gd name="T24" fmla="*/ 273 w 800"/>
              <a:gd name="T25" fmla="*/ 199 h 800"/>
              <a:gd name="T26" fmla="*/ 135 w 800"/>
              <a:gd name="T27" fmla="*/ 40 h 800"/>
              <a:gd name="T28" fmla="*/ 33 w 800"/>
              <a:gd name="T29" fmla="*/ 144 h 800"/>
              <a:gd name="T30" fmla="*/ 64 w 800"/>
              <a:gd name="T31" fmla="*/ 259 h 800"/>
              <a:gd name="T32" fmla="*/ 542 w 800"/>
              <a:gd name="T33" fmla="*/ 737 h 800"/>
              <a:gd name="T34" fmla="*/ 656 w 800"/>
              <a:gd name="T35" fmla="*/ 768 h 800"/>
              <a:gd name="T36" fmla="*/ 709 w 800"/>
              <a:gd name="T37" fmla="*/ 727 h 800"/>
              <a:gd name="T38" fmla="*/ 763 w 800"/>
              <a:gd name="T39" fmla="*/ 634 h 800"/>
              <a:gd name="T40" fmla="*/ 577 w 800"/>
              <a:gd name="T41" fmla="*/ 530 h 800"/>
              <a:gd name="T42" fmla="*/ 551 w 800"/>
              <a:gd name="T43" fmla="*/ 526 h 800"/>
              <a:gd name="T44" fmla="*/ 565 w 800"/>
              <a:gd name="T45" fmla="*/ 501 h 800"/>
              <a:gd name="T46" fmla="*/ 782 w 800"/>
              <a:gd name="T47" fmla="*/ 608 h 800"/>
              <a:gd name="T48" fmla="*/ 787 w 800"/>
              <a:gd name="T49" fmla="*/ 684 h 800"/>
              <a:gd name="T50" fmla="*/ 581 w 800"/>
              <a:gd name="T51" fmla="*/ 270 h 800"/>
              <a:gd name="T52" fmla="*/ 565 w 800"/>
              <a:gd name="T53" fmla="*/ 286 h 800"/>
              <a:gd name="T54" fmla="*/ 549 w 800"/>
              <a:gd name="T55" fmla="*/ 84 h 800"/>
              <a:gd name="T56" fmla="*/ 576 w 800"/>
              <a:gd name="T57" fmla="*/ 73 h 800"/>
              <a:gd name="T58" fmla="*/ 712 w 800"/>
              <a:gd name="T59" fmla="*/ 84 h 800"/>
              <a:gd name="T60" fmla="*/ 696 w 800"/>
              <a:gd name="T61" fmla="*/ 286 h 800"/>
              <a:gd name="T62" fmla="*/ 680 w 800"/>
              <a:gd name="T63" fmla="*/ 270 h 800"/>
              <a:gd name="T64" fmla="*/ 696 w 800"/>
              <a:gd name="T65" fmla="*/ 68 h 800"/>
              <a:gd name="T66" fmla="*/ 712 w 800"/>
              <a:gd name="T67" fmla="*/ 84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00" h="800">
                <a:moveTo>
                  <a:pt x="787" y="684"/>
                </a:moveTo>
                <a:cubicBezTo>
                  <a:pt x="779" y="695"/>
                  <a:pt x="757" y="723"/>
                  <a:pt x="732" y="749"/>
                </a:cubicBezTo>
                <a:cubicBezTo>
                  <a:pt x="689" y="794"/>
                  <a:pt x="668" y="800"/>
                  <a:pt x="657" y="800"/>
                </a:cubicBezTo>
                <a:cubicBezTo>
                  <a:pt x="656" y="800"/>
                  <a:pt x="656" y="800"/>
                  <a:pt x="655" y="800"/>
                </a:cubicBezTo>
                <a:cubicBezTo>
                  <a:pt x="655" y="800"/>
                  <a:pt x="655" y="800"/>
                  <a:pt x="655" y="800"/>
                </a:cubicBezTo>
                <a:cubicBezTo>
                  <a:pt x="639" y="799"/>
                  <a:pt x="596" y="798"/>
                  <a:pt x="528" y="766"/>
                </a:cubicBezTo>
                <a:cubicBezTo>
                  <a:pt x="444" y="726"/>
                  <a:pt x="350" y="654"/>
                  <a:pt x="248" y="552"/>
                </a:cubicBezTo>
                <a:cubicBezTo>
                  <a:pt x="146" y="450"/>
                  <a:pt x="74" y="356"/>
                  <a:pt x="35" y="272"/>
                </a:cubicBezTo>
                <a:cubicBezTo>
                  <a:pt x="2" y="204"/>
                  <a:pt x="1" y="161"/>
                  <a:pt x="1" y="145"/>
                </a:cubicBezTo>
                <a:cubicBezTo>
                  <a:pt x="1" y="145"/>
                  <a:pt x="1" y="145"/>
                  <a:pt x="1" y="145"/>
                </a:cubicBezTo>
                <a:cubicBezTo>
                  <a:pt x="0" y="133"/>
                  <a:pt x="5" y="113"/>
                  <a:pt x="51" y="68"/>
                </a:cubicBezTo>
                <a:cubicBezTo>
                  <a:pt x="77" y="44"/>
                  <a:pt x="105" y="21"/>
                  <a:pt x="117" y="13"/>
                </a:cubicBezTo>
                <a:cubicBezTo>
                  <a:pt x="126" y="7"/>
                  <a:pt x="141" y="0"/>
                  <a:pt x="159" y="1"/>
                </a:cubicBezTo>
                <a:cubicBezTo>
                  <a:pt x="173" y="3"/>
                  <a:pt x="185" y="9"/>
                  <a:pt x="192" y="18"/>
                </a:cubicBezTo>
                <a:cubicBezTo>
                  <a:pt x="201" y="31"/>
                  <a:pt x="291" y="166"/>
                  <a:pt x="300" y="182"/>
                </a:cubicBezTo>
                <a:cubicBezTo>
                  <a:pt x="310" y="197"/>
                  <a:pt x="308" y="220"/>
                  <a:pt x="296" y="243"/>
                </a:cubicBezTo>
                <a:cubicBezTo>
                  <a:pt x="289" y="256"/>
                  <a:pt x="265" y="298"/>
                  <a:pt x="255" y="316"/>
                </a:cubicBezTo>
                <a:cubicBezTo>
                  <a:pt x="266" y="332"/>
                  <a:pt x="297" y="373"/>
                  <a:pt x="362" y="439"/>
                </a:cubicBezTo>
                <a:cubicBezTo>
                  <a:pt x="447" y="524"/>
                  <a:pt x="491" y="550"/>
                  <a:pt x="491" y="551"/>
                </a:cubicBezTo>
                <a:cubicBezTo>
                  <a:pt x="499" y="555"/>
                  <a:pt x="502" y="565"/>
                  <a:pt x="497" y="572"/>
                </a:cubicBezTo>
                <a:cubicBezTo>
                  <a:pt x="493" y="580"/>
                  <a:pt x="483" y="583"/>
                  <a:pt x="475" y="578"/>
                </a:cubicBezTo>
                <a:cubicBezTo>
                  <a:pt x="473" y="577"/>
                  <a:pt x="428" y="550"/>
                  <a:pt x="339" y="461"/>
                </a:cubicBezTo>
                <a:cubicBezTo>
                  <a:pt x="251" y="372"/>
                  <a:pt x="223" y="327"/>
                  <a:pt x="222" y="325"/>
                </a:cubicBezTo>
                <a:cubicBezTo>
                  <a:pt x="219" y="320"/>
                  <a:pt x="219" y="314"/>
                  <a:pt x="222" y="309"/>
                </a:cubicBezTo>
                <a:cubicBezTo>
                  <a:pt x="223" y="308"/>
                  <a:pt x="259" y="244"/>
                  <a:pt x="268" y="228"/>
                </a:cubicBezTo>
                <a:cubicBezTo>
                  <a:pt x="276" y="213"/>
                  <a:pt x="275" y="202"/>
                  <a:pt x="273" y="199"/>
                </a:cubicBezTo>
                <a:cubicBezTo>
                  <a:pt x="264" y="184"/>
                  <a:pt x="175" y="49"/>
                  <a:pt x="166" y="37"/>
                </a:cubicBezTo>
                <a:cubicBezTo>
                  <a:pt x="164" y="34"/>
                  <a:pt x="151" y="29"/>
                  <a:pt x="135" y="40"/>
                </a:cubicBezTo>
                <a:cubicBezTo>
                  <a:pt x="126" y="46"/>
                  <a:pt x="99" y="67"/>
                  <a:pt x="74" y="91"/>
                </a:cubicBezTo>
                <a:cubicBezTo>
                  <a:pt x="33" y="131"/>
                  <a:pt x="33" y="144"/>
                  <a:pt x="33" y="144"/>
                </a:cubicBezTo>
                <a:cubicBezTo>
                  <a:pt x="33" y="144"/>
                  <a:pt x="33" y="144"/>
                  <a:pt x="33" y="144"/>
                </a:cubicBezTo>
                <a:cubicBezTo>
                  <a:pt x="33" y="159"/>
                  <a:pt x="34" y="196"/>
                  <a:pt x="64" y="259"/>
                </a:cubicBezTo>
                <a:cubicBezTo>
                  <a:pt x="102" y="339"/>
                  <a:pt x="171" y="430"/>
                  <a:pt x="271" y="530"/>
                </a:cubicBezTo>
                <a:cubicBezTo>
                  <a:pt x="370" y="629"/>
                  <a:pt x="461" y="699"/>
                  <a:pt x="542" y="737"/>
                </a:cubicBezTo>
                <a:cubicBezTo>
                  <a:pt x="604" y="766"/>
                  <a:pt x="642" y="767"/>
                  <a:pt x="656" y="768"/>
                </a:cubicBezTo>
                <a:cubicBezTo>
                  <a:pt x="656" y="768"/>
                  <a:pt x="656" y="768"/>
                  <a:pt x="656" y="768"/>
                </a:cubicBezTo>
                <a:cubicBezTo>
                  <a:pt x="656" y="768"/>
                  <a:pt x="660" y="768"/>
                  <a:pt x="668" y="763"/>
                </a:cubicBezTo>
                <a:cubicBezTo>
                  <a:pt x="676" y="757"/>
                  <a:pt x="690" y="747"/>
                  <a:pt x="709" y="727"/>
                </a:cubicBezTo>
                <a:cubicBezTo>
                  <a:pt x="733" y="701"/>
                  <a:pt x="754" y="674"/>
                  <a:pt x="761" y="665"/>
                </a:cubicBezTo>
                <a:cubicBezTo>
                  <a:pt x="771" y="650"/>
                  <a:pt x="767" y="637"/>
                  <a:pt x="763" y="634"/>
                </a:cubicBezTo>
                <a:cubicBezTo>
                  <a:pt x="753" y="627"/>
                  <a:pt x="618" y="537"/>
                  <a:pt x="602" y="527"/>
                </a:cubicBezTo>
                <a:cubicBezTo>
                  <a:pt x="598" y="525"/>
                  <a:pt x="589" y="525"/>
                  <a:pt x="577" y="530"/>
                </a:cubicBezTo>
                <a:cubicBezTo>
                  <a:pt x="576" y="531"/>
                  <a:pt x="574" y="532"/>
                  <a:pt x="572" y="532"/>
                </a:cubicBezTo>
                <a:cubicBezTo>
                  <a:pt x="565" y="537"/>
                  <a:pt x="555" y="534"/>
                  <a:pt x="551" y="526"/>
                </a:cubicBezTo>
                <a:cubicBezTo>
                  <a:pt x="547" y="518"/>
                  <a:pt x="550" y="508"/>
                  <a:pt x="558" y="504"/>
                </a:cubicBezTo>
                <a:cubicBezTo>
                  <a:pt x="560" y="503"/>
                  <a:pt x="562" y="502"/>
                  <a:pt x="565" y="501"/>
                </a:cubicBezTo>
                <a:cubicBezTo>
                  <a:pt x="585" y="492"/>
                  <a:pt x="605" y="492"/>
                  <a:pt x="618" y="500"/>
                </a:cubicBezTo>
                <a:cubicBezTo>
                  <a:pt x="635" y="510"/>
                  <a:pt x="769" y="600"/>
                  <a:pt x="782" y="608"/>
                </a:cubicBezTo>
                <a:cubicBezTo>
                  <a:pt x="792" y="615"/>
                  <a:pt x="798" y="627"/>
                  <a:pt x="799" y="641"/>
                </a:cubicBezTo>
                <a:cubicBezTo>
                  <a:pt x="800" y="651"/>
                  <a:pt x="799" y="667"/>
                  <a:pt x="787" y="684"/>
                </a:cubicBezTo>
                <a:close/>
                <a:moveTo>
                  <a:pt x="581" y="84"/>
                </a:moveTo>
                <a:cubicBezTo>
                  <a:pt x="581" y="270"/>
                  <a:pt x="581" y="270"/>
                  <a:pt x="581" y="270"/>
                </a:cubicBezTo>
                <a:cubicBezTo>
                  <a:pt x="581" y="279"/>
                  <a:pt x="574" y="286"/>
                  <a:pt x="565" y="286"/>
                </a:cubicBezTo>
                <a:cubicBezTo>
                  <a:pt x="565" y="286"/>
                  <a:pt x="565" y="286"/>
                  <a:pt x="565" y="286"/>
                </a:cubicBezTo>
                <a:cubicBezTo>
                  <a:pt x="556" y="286"/>
                  <a:pt x="549" y="279"/>
                  <a:pt x="549" y="270"/>
                </a:cubicBezTo>
                <a:cubicBezTo>
                  <a:pt x="549" y="84"/>
                  <a:pt x="549" y="84"/>
                  <a:pt x="549" y="84"/>
                </a:cubicBezTo>
                <a:cubicBezTo>
                  <a:pt x="549" y="75"/>
                  <a:pt x="556" y="68"/>
                  <a:pt x="565" y="68"/>
                </a:cubicBezTo>
                <a:cubicBezTo>
                  <a:pt x="569" y="68"/>
                  <a:pt x="573" y="70"/>
                  <a:pt x="576" y="73"/>
                </a:cubicBezTo>
                <a:cubicBezTo>
                  <a:pt x="579" y="76"/>
                  <a:pt x="581" y="80"/>
                  <a:pt x="581" y="84"/>
                </a:cubicBezTo>
                <a:close/>
                <a:moveTo>
                  <a:pt x="712" y="84"/>
                </a:moveTo>
                <a:cubicBezTo>
                  <a:pt x="712" y="270"/>
                  <a:pt x="712" y="270"/>
                  <a:pt x="712" y="270"/>
                </a:cubicBezTo>
                <a:cubicBezTo>
                  <a:pt x="712" y="279"/>
                  <a:pt x="704" y="286"/>
                  <a:pt x="696" y="286"/>
                </a:cubicBezTo>
                <a:cubicBezTo>
                  <a:pt x="696" y="286"/>
                  <a:pt x="696" y="286"/>
                  <a:pt x="696" y="286"/>
                </a:cubicBezTo>
                <a:cubicBezTo>
                  <a:pt x="687" y="286"/>
                  <a:pt x="680" y="279"/>
                  <a:pt x="680" y="270"/>
                </a:cubicBezTo>
                <a:cubicBezTo>
                  <a:pt x="680" y="84"/>
                  <a:pt x="680" y="84"/>
                  <a:pt x="680" y="84"/>
                </a:cubicBezTo>
                <a:cubicBezTo>
                  <a:pt x="680" y="75"/>
                  <a:pt x="687" y="68"/>
                  <a:pt x="696" y="68"/>
                </a:cubicBezTo>
                <a:cubicBezTo>
                  <a:pt x="700" y="68"/>
                  <a:pt x="704" y="70"/>
                  <a:pt x="707" y="73"/>
                </a:cubicBezTo>
                <a:cubicBezTo>
                  <a:pt x="710" y="76"/>
                  <a:pt x="712" y="80"/>
                  <a:pt x="712" y="84"/>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 name="文本框 3"/>
          <p:cNvSpPr txBox="1"/>
          <p:nvPr userDrawn="1"/>
        </p:nvSpPr>
        <p:spPr>
          <a:xfrm>
            <a:off x="10009505" y="6347460"/>
            <a:ext cx="2086610" cy="368300"/>
          </a:xfrm>
          <a:prstGeom prst="rect">
            <a:avLst/>
          </a:prstGeom>
        </p:spPr>
        <p:txBody>
          <a:bodyPr wrap="square" rtlCol="0">
            <a:spAutoFit/>
          </a:bodyPr>
          <a:p>
            <a:r>
              <a:rPr lang="en-US" altLang="zh-CN"/>
              <a:t>Gao Ruiyang</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42" presetClass="path" presetSubtype="0" decel="36000" fill="hold" grpId="1" nodeType="withEffect">
                                  <p:stCondLst>
                                    <p:cond delay="0"/>
                                  </p:stCondLst>
                                  <p:childTnLst>
                                    <p:animMotion origin="layout" path="M 0.3776 -0.11018 L -0.00065 -0.11018 " pathEditMode="relative" rAng="0" ptsTypes="AA">
                                      <p:cBhvr>
                                        <p:cTn id="9" dur="1000" fill="hold"/>
                                        <p:tgtEl>
                                          <p:spTgt spid="11"/>
                                        </p:tgtEl>
                                        <p:attrNameLst>
                                          <p:attrName>ppt_x</p:attrName>
                                          <p:attrName>ppt_y</p:attrName>
                                        </p:attrNameLst>
                                      </p:cBhvr>
                                      <p:rCtr x="-18919" y="0"/>
                                    </p:animMotion>
                                  </p:childTnLst>
                                </p:cTn>
                              </p:par>
                              <p:par>
                                <p:cTn id="10" presetID="42" presetClass="path" presetSubtype="0" decel="36000" fill="hold" grpId="2" nodeType="withEffect">
                                  <p:stCondLst>
                                    <p:cond delay="1150"/>
                                  </p:stCondLst>
                                  <p:childTnLst>
                                    <p:animMotion origin="layout" path="M 4.16667E-7 -2.59259E-6 L 4.16667E-7 -0.11018 " pathEditMode="relative" rAng="0" ptsTypes="AA">
                                      <p:cBhvr>
                                        <p:cTn id="11" dur="750" spd="-100000" fill="hold"/>
                                        <p:tgtEl>
                                          <p:spTgt spid="11"/>
                                        </p:tgtEl>
                                        <p:attrNameLst>
                                          <p:attrName>ppt_x</p:attrName>
                                          <p:attrName>ppt_y</p:attrName>
                                        </p:attrNameLst>
                                      </p:cBhvr>
                                      <p:rCtr x="0" y="-5509"/>
                                    </p:animMotion>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750"/>
                                        <p:tgtEl>
                                          <p:spTgt spid="10"/>
                                        </p:tgtEl>
                                      </p:cBhvr>
                                    </p:animEffect>
                                  </p:childTnLst>
                                </p:cTn>
                              </p:par>
                              <p:par>
                                <p:cTn id="15" presetID="42" presetClass="path" presetSubtype="0" decel="36000" fill="hold" grpId="1" nodeType="withEffect">
                                  <p:stCondLst>
                                    <p:cond delay="0"/>
                                  </p:stCondLst>
                                  <p:childTnLst>
                                    <p:animMotion origin="layout" path="M 0.37839 0.10787 L -0.00013 0.10787 " pathEditMode="relative" rAng="0" ptsTypes="AA">
                                      <p:cBhvr>
                                        <p:cTn id="16" dur="1000" fill="hold"/>
                                        <p:tgtEl>
                                          <p:spTgt spid="10"/>
                                        </p:tgtEl>
                                        <p:attrNameLst>
                                          <p:attrName>ppt_x</p:attrName>
                                          <p:attrName>ppt_y</p:attrName>
                                        </p:attrNameLst>
                                      </p:cBhvr>
                                      <p:rCtr x="-18932" y="0"/>
                                    </p:animMotion>
                                  </p:childTnLst>
                                </p:cTn>
                              </p:par>
                              <p:par>
                                <p:cTn id="17" presetID="42" presetClass="path" presetSubtype="0" decel="36000" fill="hold" grpId="2" nodeType="withEffect">
                                  <p:stCondLst>
                                    <p:cond delay="1150"/>
                                  </p:stCondLst>
                                  <p:childTnLst>
                                    <p:animMotion origin="layout" path="M 4.16667E-7 -2.22222E-6 L 4.16667E-7 0.10787 " pathEditMode="relative" rAng="0" ptsTypes="AA">
                                      <p:cBhvr>
                                        <p:cTn id="18" dur="750" spd="-100000" fill="hold"/>
                                        <p:tgtEl>
                                          <p:spTgt spid="10"/>
                                        </p:tgtEl>
                                        <p:attrNameLst>
                                          <p:attrName>ppt_x</p:attrName>
                                          <p:attrName>ppt_y</p:attrName>
                                        </p:attrNameLst>
                                      </p:cBhvr>
                                      <p:rCtr x="0" y="5394"/>
                                    </p:animMotion>
                                  </p:childTnLst>
                                </p:cTn>
                              </p:par>
                              <p:par>
                                <p:cTn id="19" presetID="10"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750"/>
                                        <p:tgtEl>
                                          <p:spTgt spid="2"/>
                                        </p:tgtEl>
                                      </p:cBhvr>
                                    </p:animEffect>
                                  </p:childTnLst>
                                </p:cTn>
                              </p:par>
                              <p:par>
                                <p:cTn id="22" presetID="42" presetClass="path" presetSubtype="0" decel="36000" fill="hold" grpId="1" nodeType="withEffect">
                                  <p:stCondLst>
                                    <p:cond delay="0"/>
                                  </p:stCondLst>
                                  <p:childTnLst>
                                    <p:animMotion origin="layout" path="M -0.37865 0.10787 L -0.00013 0.10787 " pathEditMode="relative" rAng="0" ptsTypes="AA">
                                      <p:cBhvr>
                                        <p:cTn id="23" dur="1000" fill="hold"/>
                                        <p:tgtEl>
                                          <p:spTgt spid="2"/>
                                        </p:tgtEl>
                                        <p:attrNameLst>
                                          <p:attrName>ppt_x</p:attrName>
                                          <p:attrName>ppt_y</p:attrName>
                                        </p:attrNameLst>
                                      </p:cBhvr>
                                      <p:rCtr x="18919" y="0"/>
                                    </p:animMotion>
                                  </p:childTnLst>
                                </p:cTn>
                              </p:par>
                              <p:par>
                                <p:cTn id="24" presetID="42" presetClass="path" presetSubtype="0" decel="36000" fill="hold" grpId="2" nodeType="withEffect">
                                  <p:stCondLst>
                                    <p:cond delay="1150"/>
                                  </p:stCondLst>
                                  <p:childTnLst>
                                    <p:animMotion origin="layout" path="M 4.16667E-7 -2.22222E-6 L 4.16667E-7 0.10787 " pathEditMode="relative" rAng="0" ptsTypes="AA">
                                      <p:cBhvr>
                                        <p:cTn id="25" dur="750" spd="-100000" fill="hold"/>
                                        <p:tgtEl>
                                          <p:spTgt spid="2"/>
                                        </p:tgtEl>
                                        <p:attrNameLst>
                                          <p:attrName>ppt_x</p:attrName>
                                          <p:attrName>ppt_y</p:attrName>
                                        </p:attrNameLst>
                                      </p:cBhvr>
                                      <p:rCtr x="0" y="5394"/>
                                    </p:animMotion>
                                  </p:childTnLst>
                                </p:cTn>
                              </p:par>
                              <p:par>
                                <p:cTn id="26" presetID="10"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750"/>
                                        <p:tgtEl>
                                          <p:spTgt spid="3"/>
                                        </p:tgtEl>
                                      </p:cBhvr>
                                    </p:animEffect>
                                  </p:childTnLst>
                                </p:cTn>
                              </p:par>
                              <p:par>
                                <p:cTn id="29" presetID="42" presetClass="path" presetSubtype="0" decel="36000" fill="hold" grpId="1" nodeType="withEffect">
                                  <p:stCondLst>
                                    <p:cond delay="0"/>
                                  </p:stCondLst>
                                  <p:childTnLst>
                                    <p:animMotion origin="layout" path="M -0.37773 -0.11018 L -0.00065 -0.11018 " pathEditMode="relative" rAng="0" ptsTypes="AA">
                                      <p:cBhvr>
                                        <p:cTn id="30" dur="1000" fill="hold"/>
                                        <p:tgtEl>
                                          <p:spTgt spid="3"/>
                                        </p:tgtEl>
                                        <p:attrNameLst>
                                          <p:attrName>ppt_x</p:attrName>
                                          <p:attrName>ppt_y</p:attrName>
                                        </p:attrNameLst>
                                      </p:cBhvr>
                                      <p:rCtr x="18854" y="0"/>
                                    </p:animMotion>
                                  </p:childTnLst>
                                </p:cTn>
                              </p:par>
                              <p:par>
                                <p:cTn id="31" presetID="42" presetClass="path" presetSubtype="0" decel="36000" fill="hold" grpId="2" nodeType="withEffect">
                                  <p:stCondLst>
                                    <p:cond delay="1150"/>
                                  </p:stCondLst>
                                  <p:childTnLst>
                                    <p:animMotion origin="layout" path="M 4.16667E-7 -2.59259E-6 L 4.16667E-7 -0.11018 " pathEditMode="relative" rAng="0" ptsTypes="AA">
                                      <p:cBhvr>
                                        <p:cTn id="32" dur="750" spd="-100000" fill="hold"/>
                                        <p:tgtEl>
                                          <p:spTgt spid="3"/>
                                        </p:tgtEl>
                                        <p:attrNameLst>
                                          <p:attrName>ppt_x</p:attrName>
                                          <p:attrName>ppt_y</p:attrName>
                                        </p:attrNameLst>
                                      </p:cBhvr>
                                      <p:rCtr x="0" y="-5509"/>
                                    </p:animMotion>
                                  </p:childTnLst>
                                </p:cTn>
                              </p:par>
                              <p:par>
                                <p:cTn id="33" presetID="53" presetClass="entr" presetSubtype="16" fill="hold" grpId="0" nodeType="withEffect">
                                  <p:stCondLst>
                                    <p:cond delay="1000"/>
                                  </p:stCondLst>
                                  <p:childTnLst>
                                    <p:set>
                                      <p:cBhvr>
                                        <p:cTn id="34" dur="1" fill="hold">
                                          <p:stCondLst>
                                            <p:cond delay="0"/>
                                          </p:stCondLst>
                                        </p:cTn>
                                        <p:tgtEl>
                                          <p:spTgt spid="22"/>
                                        </p:tgtEl>
                                        <p:attrNameLst>
                                          <p:attrName>style.visibility</p:attrName>
                                        </p:attrNameLst>
                                      </p:cBhvr>
                                      <p:to>
                                        <p:strVal val="visible"/>
                                      </p:to>
                                    </p:set>
                                    <p:anim calcmode="lin" valueType="num">
                                      <p:cBhvr>
                                        <p:cTn id="35" dur="750" fill="hold"/>
                                        <p:tgtEl>
                                          <p:spTgt spid="22"/>
                                        </p:tgtEl>
                                        <p:attrNameLst>
                                          <p:attrName>ppt_w</p:attrName>
                                        </p:attrNameLst>
                                      </p:cBhvr>
                                      <p:tavLst>
                                        <p:tav tm="0">
                                          <p:val>
                                            <p:fltVal val="0"/>
                                          </p:val>
                                        </p:tav>
                                        <p:tav tm="100000">
                                          <p:val>
                                            <p:strVal val="#ppt_w"/>
                                          </p:val>
                                        </p:tav>
                                      </p:tavLst>
                                    </p:anim>
                                    <p:anim calcmode="lin" valueType="num">
                                      <p:cBhvr>
                                        <p:cTn id="36" dur="750" fill="hold"/>
                                        <p:tgtEl>
                                          <p:spTgt spid="22"/>
                                        </p:tgtEl>
                                        <p:attrNameLst>
                                          <p:attrName>ppt_h</p:attrName>
                                        </p:attrNameLst>
                                      </p:cBhvr>
                                      <p:tavLst>
                                        <p:tav tm="0">
                                          <p:val>
                                            <p:fltVal val="0"/>
                                          </p:val>
                                        </p:tav>
                                        <p:tav tm="100000">
                                          <p:val>
                                            <p:strVal val="#ppt_h"/>
                                          </p:val>
                                        </p:tav>
                                      </p:tavLst>
                                    </p:anim>
                                    <p:animEffect transition="in" filter="fade">
                                      <p:cBhvr>
                                        <p:cTn id="37" dur="750"/>
                                        <p:tgtEl>
                                          <p:spTgt spid="22"/>
                                        </p:tgtEl>
                                      </p:cBhvr>
                                    </p:animEffect>
                                  </p:childTnLst>
                                </p:cTn>
                              </p:par>
                              <p:par>
                                <p:cTn id="38" presetID="53" presetClass="entr" presetSubtype="16" fill="hold" grpId="0" nodeType="withEffect">
                                  <p:stCondLst>
                                    <p:cond delay="1000"/>
                                  </p:stCondLst>
                                  <p:childTnLst>
                                    <p:set>
                                      <p:cBhvr>
                                        <p:cTn id="39" dur="1" fill="hold">
                                          <p:stCondLst>
                                            <p:cond delay="0"/>
                                          </p:stCondLst>
                                        </p:cTn>
                                        <p:tgtEl>
                                          <p:spTgt spid="23"/>
                                        </p:tgtEl>
                                        <p:attrNameLst>
                                          <p:attrName>style.visibility</p:attrName>
                                        </p:attrNameLst>
                                      </p:cBhvr>
                                      <p:to>
                                        <p:strVal val="visible"/>
                                      </p:to>
                                    </p:set>
                                    <p:anim calcmode="lin" valueType="num">
                                      <p:cBhvr>
                                        <p:cTn id="40" dur="750" fill="hold"/>
                                        <p:tgtEl>
                                          <p:spTgt spid="23"/>
                                        </p:tgtEl>
                                        <p:attrNameLst>
                                          <p:attrName>ppt_w</p:attrName>
                                        </p:attrNameLst>
                                      </p:cBhvr>
                                      <p:tavLst>
                                        <p:tav tm="0">
                                          <p:val>
                                            <p:fltVal val="0"/>
                                          </p:val>
                                        </p:tav>
                                        <p:tav tm="100000">
                                          <p:val>
                                            <p:strVal val="#ppt_w"/>
                                          </p:val>
                                        </p:tav>
                                      </p:tavLst>
                                    </p:anim>
                                    <p:anim calcmode="lin" valueType="num">
                                      <p:cBhvr>
                                        <p:cTn id="41" dur="750" fill="hold"/>
                                        <p:tgtEl>
                                          <p:spTgt spid="23"/>
                                        </p:tgtEl>
                                        <p:attrNameLst>
                                          <p:attrName>ppt_h</p:attrName>
                                        </p:attrNameLst>
                                      </p:cBhvr>
                                      <p:tavLst>
                                        <p:tav tm="0">
                                          <p:val>
                                            <p:fltVal val="0"/>
                                          </p:val>
                                        </p:tav>
                                        <p:tav tm="100000">
                                          <p:val>
                                            <p:strVal val="#ppt_h"/>
                                          </p:val>
                                        </p:tav>
                                      </p:tavLst>
                                    </p:anim>
                                    <p:animEffect transition="in" filter="fade">
                                      <p:cBhvr>
                                        <p:cTn id="42" dur="750"/>
                                        <p:tgtEl>
                                          <p:spTgt spid="23"/>
                                        </p:tgtEl>
                                      </p:cBhvr>
                                    </p:animEffect>
                                  </p:childTnLst>
                                </p:cTn>
                              </p:par>
                              <p:par>
                                <p:cTn id="43" presetID="10" presetClass="entr" presetSubtype="0" fill="hold" grpId="0" nodeType="withEffect">
                                  <p:stCondLst>
                                    <p:cond delay="1150"/>
                                  </p:stCondLst>
                                  <p:childTnLst>
                                    <p:set>
                                      <p:cBhvr>
                                        <p:cTn id="44" dur="1" fill="hold">
                                          <p:stCondLst>
                                            <p:cond delay="0"/>
                                          </p:stCondLst>
                                        </p:cTn>
                                        <p:tgtEl>
                                          <p:spTgt spid="52"/>
                                        </p:tgtEl>
                                        <p:attrNameLst>
                                          <p:attrName>style.visibility</p:attrName>
                                        </p:attrNameLst>
                                      </p:cBhvr>
                                      <p:to>
                                        <p:strVal val="visible"/>
                                      </p:to>
                                    </p:set>
                                    <p:animEffect transition="in" filter="fade">
                                      <p:cBhvr>
                                        <p:cTn id="45" dur="750"/>
                                        <p:tgtEl>
                                          <p:spTgt spid="52"/>
                                        </p:tgtEl>
                                      </p:cBhvr>
                                    </p:animEffect>
                                  </p:childTnLst>
                                </p:cTn>
                              </p:par>
                              <p:par>
                                <p:cTn id="46" presetID="42" presetClass="path" presetSubtype="0" decel="36000" fill="hold" grpId="2" nodeType="withEffect">
                                  <p:stCondLst>
                                    <p:cond delay="1150"/>
                                  </p:stCondLst>
                                  <p:childTnLst>
                                    <p:animMotion origin="layout" path="M 4.16667E-7 -2.22222E-6 L 4.16667E-7 0.10787 " pathEditMode="relative" rAng="0" ptsTypes="AA">
                                      <p:cBhvr>
                                        <p:cTn id="47" dur="750" spd="-100000" fill="hold"/>
                                        <p:tgtEl>
                                          <p:spTgt spid="52"/>
                                        </p:tgtEl>
                                        <p:attrNameLst>
                                          <p:attrName>ppt_x</p:attrName>
                                          <p:attrName>ppt_y</p:attrName>
                                        </p:attrNameLst>
                                      </p:cBhvr>
                                      <p:rCtr x="0" y="5394"/>
                                    </p:animMotion>
                                  </p:childTnLst>
                                </p:cTn>
                              </p:par>
                              <p:par>
                                <p:cTn id="48" presetID="10" presetClass="entr" presetSubtype="0" fill="hold" grpId="0" nodeType="withEffect">
                                  <p:stCondLst>
                                    <p:cond delay="115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750"/>
                                        <p:tgtEl>
                                          <p:spTgt spid="37"/>
                                        </p:tgtEl>
                                      </p:cBhvr>
                                    </p:animEffect>
                                  </p:childTnLst>
                                </p:cTn>
                              </p:par>
                              <p:par>
                                <p:cTn id="51" presetID="42" presetClass="path" presetSubtype="0" decel="36000" fill="hold" grpId="1" nodeType="withEffect">
                                  <p:stCondLst>
                                    <p:cond delay="1150"/>
                                  </p:stCondLst>
                                  <p:childTnLst>
                                    <p:animMotion origin="layout" path="M 4.16667E-7 -2.22222E-6 L 4.16667E-7 0.10787 " pathEditMode="relative" rAng="0" ptsTypes="AA">
                                      <p:cBhvr>
                                        <p:cTn id="52" dur="750" spd="-100000" fill="hold"/>
                                        <p:tgtEl>
                                          <p:spTgt spid="37"/>
                                        </p:tgtEl>
                                        <p:attrNameLst>
                                          <p:attrName>ppt_x</p:attrName>
                                          <p:attrName>ppt_y</p:attrName>
                                        </p:attrNameLst>
                                      </p:cBhvr>
                                      <p:rCtr x="0" y="5394"/>
                                    </p:animMotion>
                                  </p:childTnLst>
                                </p:cTn>
                              </p:par>
                              <p:par>
                                <p:cTn id="53" presetID="10" presetClass="entr" presetSubtype="0" fill="hold" grpId="0" nodeType="withEffect">
                                  <p:stCondLst>
                                    <p:cond delay="115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750"/>
                                        <p:tgtEl>
                                          <p:spTgt spid="55"/>
                                        </p:tgtEl>
                                      </p:cBhvr>
                                    </p:animEffect>
                                  </p:childTnLst>
                                </p:cTn>
                              </p:par>
                              <p:par>
                                <p:cTn id="56" presetID="42" presetClass="path" presetSubtype="0" decel="36000" fill="hold" grpId="1" nodeType="withEffect">
                                  <p:stCondLst>
                                    <p:cond delay="1150"/>
                                  </p:stCondLst>
                                  <p:childTnLst>
                                    <p:animMotion origin="layout" path="M 4.375E-6 4.81481E-6 L 4.375E-6 -0.10903 " pathEditMode="relative" rAng="0" ptsTypes="AA">
                                      <p:cBhvr>
                                        <p:cTn id="57" dur="750" spd="-100000" fill="hold"/>
                                        <p:tgtEl>
                                          <p:spTgt spid="55"/>
                                        </p:tgtEl>
                                        <p:attrNameLst>
                                          <p:attrName>ppt_x</p:attrName>
                                          <p:attrName>ppt_y</p:attrName>
                                        </p:attrNameLst>
                                      </p:cBhvr>
                                      <p:rCtr x="0" y="-5463"/>
                                    </p:animMotion>
                                  </p:childTnLst>
                                </p:cTn>
                              </p:par>
                              <p:par>
                                <p:cTn id="58" presetID="10" presetClass="entr" presetSubtype="0" fill="hold" grpId="0" nodeType="withEffect">
                                  <p:stCondLst>
                                    <p:cond delay="115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750"/>
                                        <p:tgtEl>
                                          <p:spTgt spid="49"/>
                                        </p:tgtEl>
                                      </p:cBhvr>
                                    </p:animEffect>
                                  </p:childTnLst>
                                </p:cTn>
                              </p:par>
                              <p:par>
                                <p:cTn id="61" presetID="42" presetClass="path" presetSubtype="0" decel="36000" fill="hold" grpId="1" nodeType="withEffect">
                                  <p:stCondLst>
                                    <p:cond delay="1150"/>
                                  </p:stCondLst>
                                  <p:childTnLst>
                                    <p:animMotion origin="layout" path="M 4.375E-6 4.81481E-6 L 4.375E-6 -0.10903 " pathEditMode="relative" rAng="0" ptsTypes="AA">
                                      <p:cBhvr>
                                        <p:cTn id="62" dur="750" spd="-100000" fill="hold"/>
                                        <p:tgtEl>
                                          <p:spTgt spid="49"/>
                                        </p:tgtEl>
                                        <p:attrNameLst>
                                          <p:attrName>ppt_x</p:attrName>
                                          <p:attrName>ppt_y</p:attrName>
                                        </p:attrNameLst>
                                      </p:cBhvr>
                                      <p:rCtr x="0" y="-5463"/>
                                    </p:animMotion>
                                  </p:childTnLst>
                                </p:cTn>
                              </p:par>
                              <p:par>
                                <p:cTn id="63" presetID="53" presetClass="entr" presetSubtype="16" fill="hold" grpId="0" nodeType="withEffect">
                                  <p:stCondLst>
                                    <p:cond delay="1500"/>
                                  </p:stCondLst>
                                  <p:childTnLst>
                                    <p:set>
                                      <p:cBhvr>
                                        <p:cTn id="64" dur="1" fill="hold">
                                          <p:stCondLst>
                                            <p:cond delay="0"/>
                                          </p:stCondLst>
                                        </p:cTn>
                                        <p:tgtEl>
                                          <p:spTgt spid="69"/>
                                        </p:tgtEl>
                                        <p:attrNameLst>
                                          <p:attrName>style.visibility</p:attrName>
                                        </p:attrNameLst>
                                      </p:cBhvr>
                                      <p:to>
                                        <p:strVal val="visible"/>
                                      </p:to>
                                    </p:set>
                                    <p:anim calcmode="lin" valueType="num">
                                      <p:cBhvr>
                                        <p:cTn id="65" dur="750" fill="hold"/>
                                        <p:tgtEl>
                                          <p:spTgt spid="69"/>
                                        </p:tgtEl>
                                        <p:attrNameLst>
                                          <p:attrName>ppt_w</p:attrName>
                                        </p:attrNameLst>
                                      </p:cBhvr>
                                      <p:tavLst>
                                        <p:tav tm="0">
                                          <p:val>
                                            <p:fltVal val="0"/>
                                          </p:val>
                                        </p:tav>
                                        <p:tav tm="100000">
                                          <p:val>
                                            <p:strVal val="#ppt_w"/>
                                          </p:val>
                                        </p:tav>
                                      </p:tavLst>
                                    </p:anim>
                                    <p:anim calcmode="lin" valueType="num">
                                      <p:cBhvr>
                                        <p:cTn id="66" dur="750" fill="hold"/>
                                        <p:tgtEl>
                                          <p:spTgt spid="69"/>
                                        </p:tgtEl>
                                        <p:attrNameLst>
                                          <p:attrName>ppt_h</p:attrName>
                                        </p:attrNameLst>
                                      </p:cBhvr>
                                      <p:tavLst>
                                        <p:tav tm="0">
                                          <p:val>
                                            <p:fltVal val="0"/>
                                          </p:val>
                                        </p:tav>
                                        <p:tav tm="100000">
                                          <p:val>
                                            <p:strVal val="#ppt_h"/>
                                          </p:val>
                                        </p:tav>
                                      </p:tavLst>
                                    </p:anim>
                                    <p:animEffect transition="in" filter="fade">
                                      <p:cBhvr>
                                        <p:cTn id="67" dur="750"/>
                                        <p:tgtEl>
                                          <p:spTgt spid="69"/>
                                        </p:tgtEl>
                                      </p:cBhvr>
                                    </p:animEffect>
                                  </p:childTnLst>
                                </p:cTn>
                              </p:par>
                              <p:par>
                                <p:cTn id="68" presetID="53" presetClass="entr" presetSubtype="16" fill="hold" grpId="0" nodeType="withEffect">
                                  <p:stCondLst>
                                    <p:cond delay="1500"/>
                                  </p:stCondLst>
                                  <p:childTnLst>
                                    <p:set>
                                      <p:cBhvr>
                                        <p:cTn id="69" dur="1" fill="hold">
                                          <p:stCondLst>
                                            <p:cond delay="0"/>
                                          </p:stCondLst>
                                        </p:cTn>
                                        <p:tgtEl>
                                          <p:spTgt spid="35"/>
                                        </p:tgtEl>
                                        <p:attrNameLst>
                                          <p:attrName>style.visibility</p:attrName>
                                        </p:attrNameLst>
                                      </p:cBhvr>
                                      <p:to>
                                        <p:strVal val="visible"/>
                                      </p:to>
                                    </p:set>
                                    <p:anim calcmode="lin" valueType="num">
                                      <p:cBhvr>
                                        <p:cTn id="70" dur="750" fill="hold"/>
                                        <p:tgtEl>
                                          <p:spTgt spid="35"/>
                                        </p:tgtEl>
                                        <p:attrNameLst>
                                          <p:attrName>ppt_w</p:attrName>
                                        </p:attrNameLst>
                                      </p:cBhvr>
                                      <p:tavLst>
                                        <p:tav tm="0">
                                          <p:val>
                                            <p:fltVal val="0"/>
                                          </p:val>
                                        </p:tav>
                                        <p:tav tm="100000">
                                          <p:val>
                                            <p:strVal val="#ppt_w"/>
                                          </p:val>
                                        </p:tav>
                                      </p:tavLst>
                                    </p:anim>
                                    <p:anim calcmode="lin" valueType="num">
                                      <p:cBhvr>
                                        <p:cTn id="71" dur="750" fill="hold"/>
                                        <p:tgtEl>
                                          <p:spTgt spid="35"/>
                                        </p:tgtEl>
                                        <p:attrNameLst>
                                          <p:attrName>ppt_h</p:attrName>
                                        </p:attrNameLst>
                                      </p:cBhvr>
                                      <p:tavLst>
                                        <p:tav tm="0">
                                          <p:val>
                                            <p:fltVal val="0"/>
                                          </p:val>
                                        </p:tav>
                                        <p:tav tm="100000">
                                          <p:val>
                                            <p:strVal val="#ppt_h"/>
                                          </p:val>
                                        </p:tav>
                                      </p:tavLst>
                                    </p:anim>
                                    <p:animEffect transition="in" filter="fade">
                                      <p:cBhvr>
                                        <p:cTn id="72" dur="750"/>
                                        <p:tgtEl>
                                          <p:spTgt spid="35"/>
                                        </p:tgtEl>
                                      </p:cBhvr>
                                    </p:animEffect>
                                  </p:childTnLst>
                                </p:cTn>
                              </p:par>
                              <p:par>
                                <p:cTn id="73" presetID="53" presetClass="entr" presetSubtype="16" fill="hold" grpId="0" nodeType="withEffect">
                                  <p:stCondLst>
                                    <p:cond delay="1500"/>
                                  </p:stCondLst>
                                  <p:childTnLst>
                                    <p:set>
                                      <p:cBhvr>
                                        <p:cTn id="74" dur="1" fill="hold">
                                          <p:stCondLst>
                                            <p:cond delay="0"/>
                                          </p:stCondLst>
                                        </p:cTn>
                                        <p:tgtEl>
                                          <p:spTgt spid="66"/>
                                        </p:tgtEl>
                                        <p:attrNameLst>
                                          <p:attrName>style.visibility</p:attrName>
                                        </p:attrNameLst>
                                      </p:cBhvr>
                                      <p:to>
                                        <p:strVal val="visible"/>
                                      </p:to>
                                    </p:set>
                                    <p:anim calcmode="lin" valueType="num">
                                      <p:cBhvr>
                                        <p:cTn id="75" dur="750" fill="hold"/>
                                        <p:tgtEl>
                                          <p:spTgt spid="66"/>
                                        </p:tgtEl>
                                        <p:attrNameLst>
                                          <p:attrName>ppt_w</p:attrName>
                                        </p:attrNameLst>
                                      </p:cBhvr>
                                      <p:tavLst>
                                        <p:tav tm="0">
                                          <p:val>
                                            <p:fltVal val="0"/>
                                          </p:val>
                                        </p:tav>
                                        <p:tav tm="100000">
                                          <p:val>
                                            <p:strVal val="#ppt_w"/>
                                          </p:val>
                                        </p:tav>
                                      </p:tavLst>
                                    </p:anim>
                                    <p:anim calcmode="lin" valueType="num">
                                      <p:cBhvr>
                                        <p:cTn id="76" dur="750" fill="hold"/>
                                        <p:tgtEl>
                                          <p:spTgt spid="66"/>
                                        </p:tgtEl>
                                        <p:attrNameLst>
                                          <p:attrName>ppt_h</p:attrName>
                                        </p:attrNameLst>
                                      </p:cBhvr>
                                      <p:tavLst>
                                        <p:tav tm="0">
                                          <p:val>
                                            <p:fltVal val="0"/>
                                          </p:val>
                                        </p:tav>
                                        <p:tav tm="100000">
                                          <p:val>
                                            <p:strVal val="#ppt_h"/>
                                          </p:val>
                                        </p:tav>
                                      </p:tavLst>
                                    </p:anim>
                                    <p:animEffect transition="in" filter="fade">
                                      <p:cBhvr>
                                        <p:cTn id="77" dur="750"/>
                                        <p:tgtEl>
                                          <p:spTgt spid="66"/>
                                        </p:tgtEl>
                                      </p:cBhvr>
                                    </p:animEffect>
                                  </p:childTnLst>
                                </p:cTn>
                              </p:par>
                              <p:par>
                                <p:cTn id="78" presetID="53" presetClass="entr" presetSubtype="16" fill="hold" grpId="0" nodeType="withEffect">
                                  <p:stCondLst>
                                    <p:cond delay="1500"/>
                                  </p:stCondLst>
                                  <p:childTnLst>
                                    <p:set>
                                      <p:cBhvr>
                                        <p:cTn id="79" dur="1" fill="hold">
                                          <p:stCondLst>
                                            <p:cond delay="0"/>
                                          </p:stCondLst>
                                        </p:cTn>
                                        <p:tgtEl>
                                          <p:spTgt spid="63"/>
                                        </p:tgtEl>
                                        <p:attrNameLst>
                                          <p:attrName>style.visibility</p:attrName>
                                        </p:attrNameLst>
                                      </p:cBhvr>
                                      <p:to>
                                        <p:strVal val="visible"/>
                                      </p:to>
                                    </p:set>
                                    <p:anim calcmode="lin" valueType="num">
                                      <p:cBhvr>
                                        <p:cTn id="80" dur="750" fill="hold"/>
                                        <p:tgtEl>
                                          <p:spTgt spid="63"/>
                                        </p:tgtEl>
                                        <p:attrNameLst>
                                          <p:attrName>ppt_w</p:attrName>
                                        </p:attrNameLst>
                                      </p:cBhvr>
                                      <p:tavLst>
                                        <p:tav tm="0">
                                          <p:val>
                                            <p:fltVal val="0"/>
                                          </p:val>
                                        </p:tav>
                                        <p:tav tm="100000">
                                          <p:val>
                                            <p:strVal val="#ppt_w"/>
                                          </p:val>
                                        </p:tav>
                                      </p:tavLst>
                                    </p:anim>
                                    <p:anim calcmode="lin" valueType="num">
                                      <p:cBhvr>
                                        <p:cTn id="81" dur="750" fill="hold"/>
                                        <p:tgtEl>
                                          <p:spTgt spid="63"/>
                                        </p:tgtEl>
                                        <p:attrNameLst>
                                          <p:attrName>ppt_h</p:attrName>
                                        </p:attrNameLst>
                                      </p:cBhvr>
                                      <p:tavLst>
                                        <p:tav tm="0">
                                          <p:val>
                                            <p:fltVal val="0"/>
                                          </p:val>
                                        </p:tav>
                                        <p:tav tm="100000">
                                          <p:val>
                                            <p:strVal val="#ppt_h"/>
                                          </p:val>
                                        </p:tav>
                                      </p:tavLst>
                                    </p:anim>
                                    <p:animEffect transition="in" filter="fade">
                                      <p:cBhvr>
                                        <p:cTn id="82" dur="750"/>
                                        <p:tgtEl>
                                          <p:spTgt spid="63"/>
                                        </p:tgtEl>
                                      </p:cBhvr>
                                    </p:animEffect>
                                  </p:childTnLst>
                                </p:cTn>
                              </p:par>
                              <p:par>
                                <p:cTn id="83" presetID="10" presetClass="entr" presetSubtype="0" fill="hold" grpId="0" nodeType="withEffect">
                                  <p:stCondLst>
                                    <p:cond delay="200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750"/>
                                        <p:tgtEl>
                                          <p:spTgt spid="54"/>
                                        </p:tgtEl>
                                      </p:cBhvr>
                                    </p:animEffect>
                                  </p:childTnLst>
                                </p:cTn>
                              </p:par>
                              <p:par>
                                <p:cTn id="86" presetID="10" presetClass="entr" presetSubtype="0" fill="hold" grpId="0" nodeType="withEffect">
                                  <p:stCondLst>
                                    <p:cond delay="200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750"/>
                                        <p:tgtEl>
                                          <p:spTgt spid="41"/>
                                        </p:tgtEl>
                                      </p:cBhvr>
                                    </p:animEffect>
                                  </p:childTnLst>
                                </p:cTn>
                              </p:par>
                              <p:par>
                                <p:cTn id="89" presetID="10" presetClass="entr" presetSubtype="0" fill="hold" grpId="0" nodeType="withEffect">
                                  <p:stCondLst>
                                    <p:cond delay="200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750"/>
                                        <p:tgtEl>
                                          <p:spTgt spid="51"/>
                                        </p:tgtEl>
                                      </p:cBhvr>
                                    </p:animEffect>
                                  </p:childTnLst>
                                </p:cTn>
                              </p:par>
                              <p:par>
                                <p:cTn id="92" presetID="10" presetClass="entr" presetSubtype="0" fill="hold" grpId="0" nodeType="withEffect">
                                  <p:stCondLst>
                                    <p:cond delay="2000"/>
                                  </p:stCondLst>
                                  <p:childTnLst>
                                    <p:set>
                                      <p:cBhvr>
                                        <p:cTn id="93" dur="1" fill="hold">
                                          <p:stCondLst>
                                            <p:cond delay="0"/>
                                          </p:stCondLst>
                                        </p:cTn>
                                        <p:tgtEl>
                                          <p:spTgt spid="57"/>
                                        </p:tgtEl>
                                        <p:attrNameLst>
                                          <p:attrName>style.visibility</p:attrName>
                                        </p:attrNameLst>
                                      </p:cBhvr>
                                      <p:to>
                                        <p:strVal val="visible"/>
                                      </p:to>
                                    </p:set>
                                    <p:animEffect transition="in" filter="fade">
                                      <p:cBhvr>
                                        <p:cTn id="94" dur="7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 grpId="0" bldLvl="0" animBg="1"/>
      <p:bldP spid="2" grpId="1" bldLvl="0" animBg="1"/>
      <p:bldP spid="2" grpId="2" bldLvl="0" animBg="1"/>
      <p:bldP spid="3" grpId="0" bldLvl="0" animBg="1"/>
      <p:bldP spid="3" grpId="1" bldLvl="0" animBg="1"/>
      <p:bldP spid="3" grpId="2" bldLvl="0" animBg="1"/>
      <p:bldP spid="10" grpId="0" bldLvl="0" animBg="1"/>
      <p:bldP spid="10" grpId="1" bldLvl="0" animBg="1"/>
      <p:bldP spid="10" grpId="2" bldLvl="0" animBg="1"/>
      <p:bldP spid="11" grpId="0" bldLvl="0" animBg="1"/>
      <p:bldP spid="11" grpId="1" bldLvl="0" animBg="1"/>
      <p:bldP spid="11" grpId="2" bldLvl="0" animBg="1"/>
      <p:bldP spid="22" grpId="0"/>
      <p:bldP spid="37" grpId="0" bldLvl="0" animBg="1"/>
      <p:bldP spid="37" grpId="1" bldLvl="0" animBg="1"/>
      <p:bldP spid="35" grpId="0" bldLvl="0" animBg="1"/>
      <p:bldP spid="41" grpId="0"/>
      <p:bldP spid="49" grpId="0" bldLvl="0" animBg="1"/>
      <p:bldP spid="49" grpId="1" bldLvl="0" animBg="1"/>
      <p:bldP spid="51" grpId="0"/>
      <p:bldP spid="52" grpId="0" bldLvl="0" animBg="1"/>
      <p:bldP spid="52" grpId="2" bldLvl="0" animBg="1"/>
      <p:bldP spid="54" grpId="0"/>
      <p:bldP spid="55" grpId="0" bldLvl="0" animBg="1"/>
      <p:bldP spid="55" grpId="1" bldLvl="0" animBg="1"/>
      <p:bldP spid="57" grpId="0"/>
      <p:bldP spid="63" grpId="0" bldLvl="0" animBg="1"/>
      <p:bldP spid="66" grpId="0" bldLvl="0" animBg="1"/>
      <p:bldP spid="69"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4"/>
          <p:cNvSpPr/>
          <p:nvPr/>
        </p:nvSpPr>
        <p:spPr>
          <a:xfrm>
            <a:off x="695325" y="705530"/>
            <a:ext cx="2551292" cy="2484890"/>
          </a:xfrm>
          <a:custGeom>
            <a:avLst/>
            <a:gdLst>
              <a:gd name="connsiteX0" fmla="*/ 0 w 10833004"/>
              <a:gd name="connsiteY0" fmla="*/ 0 h 2484890"/>
              <a:gd name="connsiteX1" fmla="*/ 10833004 w 10833004"/>
              <a:gd name="connsiteY1" fmla="*/ 0 h 2484890"/>
              <a:gd name="connsiteX2" fmla="*/ 10833004 w 10833004"/>
              <a:gd name="connsiteY2" fmla="*/ 2484890 h 2484890"/>
              <a:gd name="connsiteX3" fmla="*/ 0 w 10833004"/>
              <a:gd name="connsiteY3" fmla="*/ 2484890 h 2484890"/>
            </a:gdLst>
            <a:ahLst/>
            <a:cxnLst>
              <a:cxn ang="0">
                <a:pos x="connsiteX0" y="connsiteY0"/>
              </a:cxn>
              <a:cxn ang="0">
                <a:pos x="connsiteX1" y="connsiteY1"/>
              </a:cxn>
              <a:cxn ang="0">
                <a:pos x="connsiteX2" y="connsiteY2"/>
              </a:cxn>
              <a:cxn ang="0">
                <a:pos x="connsiteX3" y="connsiteY3"/>
              </a:cxn>
            </a:cxnLst>
            <a:rect l="l" t="t" r="r" b="b"/>
            <a:pathLst>
              <a:path w="10833004" h="2484890">
                <a:moveTo>
                  <a:pt x="0" y="0"/>
                </a:moveTo>
                <a:lnTo>
                  <a:pt x="10833004" y="0"/>
                </a:lnTo>
                <a:lnTo>
                  <a:pt x="10833004" y="2484890"/>
                </a:lnTo>
                <a:lnTo>
                  <a:pt x="0" y="2484890"/>
                </a:lnTo>
                <a:close/>
              </a:path>
            </a:pathLst>
          </a:cu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 name="图片 52"/>
          <p:cNvPicPr>
            <a:picLocks noChangeAspect="1"/>
          </p:cNvPicPr>
          <p:nvPr/>
        </p:nvPicPr>
        <p:blipFill>
          <a:blip r:embed="rId1" cstate="screen"/>
          <a:srcRect/>
          <a:stretch>
            <a:fillRect/>
          </a:stretch>
        </p:blipFill>
        <p:spPr>
          <a:xfrm>
            <a:off x="748955" y="3693263"/>
            <a:ext cx="10725747" cy="2460287"/>
          </a:xfrm>
          <a:custGeom>
            <a:avLst/>
            <a:gdLst>
              <a:gd name="connsiteX0" fmla="*/ 0 w 10725747"/>
              <a:gd name="connsiteY0" fmla="*/ 0 h 2460287"/>
              <a:gd name="connsiteX1" fmla="*/ 10725747 w 10725747"/>
              <a:gd name="connsiteY1" fmla="*/ 0 h 2460287"/>
              <a:gd name="connsiteX2" fmla="*/ 10725747 w 10725747"/>
              <a:gd name="connsiteY2" fmla="*/ 2460287 h 2460287"/>
              <a:gd name="connsiteX3" fmla="*/ 0 w 10725747"/>
              <a:gd name="connsiteY3" fmla="*/ 2460287 h 2460287"/>
            </a:gdLst>
            <a:ahLst/>
            <a:cxnLst>
              <a:cxn ang="0">
                <a:pos x="connsiteX0" y="connsiteY0"/>
              </a:cxn>
              <a:cxn ang="0">
                <a:pos x="connsiteX1" y="connsiteY1"/>
              </a:cxn>
              <a:cxn ang="0">
                <a:pos x="connsiteX2" y="connsiteY2"/>
              </a:cxn>
              <a:cxn ang="0">
                <a:pos x="connsiteX3" y="connsiteY3"/>
              </a:cxn>
            </a:cxnLst>
            <a:rect l="l" t="t" r="r" b="b"/>
            <a:pathLst>
              <a:path w="10725747" h="2460287">
                <a:moveTo>
                  <a:pt x="0" y="0"/>
                </a:moveTo>
                <a:lnTo>
                  <a:pt x="10725747" y="0"/>
                </a:lnTo>
                <a:lnTo>
                  <a:pt x="10725747" y="2460287"/>
                </a:lnTo>
                <a:lnTo>
                  <a:pt x="0" y="2460287"/>
                </a:lnTo>
                <a:close/>
              </a:path>
            </a:pathLst>
          </a:custGeom>
          <a:solidFill>
            <a:schemeClr val="bg1"/>
          </a:solidFill>
          <a:ln w="50800">
            <a:solidFill>
              <a:schemeClr val="bg1"/>
            </a:solidFill>
            <a:miter lim="800000"/>
            <a:headEnd/>
            <a:tailEnd/>
          </a:ln>
          <a:effectLst>
            <a:outerShdw blurRad="596900" dist="342900" dir="2700000" algn="tl" rotWithShape="0">
              <a:schemeClr val="tx1">
                <a:lumMod val="75000"/>
                <a:lumOff val="25000"/>
                <a:alpha val="11000"/>
              </a:schemeClr>
            </a:outerShdw>
          </a:effectLst>
        </p:spPr>
      </p:pic>
      <p:sp>
        <p:nvSpPr>
          <p:cNvPr id="50" name="矩形 49"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1495674" y="1053649"/>
            <a:ext cx="950595" cy="450850"/>
          </a:xfrm>
          <a:prstGeom prst="rect">
            <a:avLst/>
          </a:prstGeom>
        </p:spPr>
        <p:txBody>
          <a:bodyPr wrap="none">
            <a:spAutoFit/>
          </a:bodyPr>
          <a:lstStyle/>
          <a:p>
            <a:pPr algn="ctr">
              <a:lnSpc>
                <a:spcPct val="130000"/>
              </a:lnSpc>
            </a:pPr>
            <a:r>
              <a:rPr lang="en-US" altLang="zh-CN" dirty="0">
                <a:gradFill flip="none" rotWithShape="1">
                  <a:gsLst>
                    <a:gs pos="51000">
                      <a:schemeClr val="accent1"/>
                    </a:gs>
                    <a:gs pos="100000">
                      <a:schemeClr val="accent1">
                        <a:lumMod val="60000"/>
                        <a:lumOff val="40000"/>
                      </a:schemeClr>
                    </a:gs>
                  </a:gsLst>
                  <a:lin ang="0" scaled="1"/>
                  <a:tileRect/>
                </a:gradFill>
                <a:latin typeface="+mj-lt"/>
              </a:rPr>
              <a:t>Source</a:t>
            </a:r>
            <a:endParaRPr lang="en-US" altLang="zh-CN" dirty="0">
              <a:gradFill flip="none" rotWithShape="1">
                <a:gsLst>
                  <a:gs pos="51000">
                    <a:schemeClr val="accent1"/>
                  </a:gs>
                  <a:gs pos="100000">
                    <a:schemeClr val="accent1">
                      <a:lumMod val="60000"/>
                      <a:lumOff val="40000"/>
                    </a:schemeClr>
                  </a:gs>
                </a:gsLst>
                <a:lin ang="0" scaled="1"/>
                <a:tileRect/>
              </a:gradFill>
              <a:latin typeface="+mj-lt"/>
            </a:endParaRPr>
          </a:p>
        </p:txBody>
      </p:sp>
      <p:sp>
        <p:nvSpPr>
          <p:cNvPr id="51" name="矩形 50"/>
          <p:cNvSpPr/>
          <p:nvPr/>
        </p:nvSpPr>
        <p:spPr>
          <a:xfrm>
            <a:off x="866096" y="1976198"/>
            <a:ext cx="2209750" cy="810260"/>
          </a:xfrm>
          <a:prstGeom prst="rect">
            <a:avLst/>
          </a:prstGeom>
        </p:spPr>
        <p:txBody>
          <a:bodyPr wrap="square">
            <a:spAutoFit/>
          </a:bodyPr>
          <a:lstStyle/>
          <a:p>
            <a:pPr algn="ctr">
              <a:lnSpc>
                <a:spcPct val="130000"/>
              </a:lnSpc>
            </a:pPr>
            <a:r>
              <a:rPr lang="en-US" altLang="zh-CN" sz="1200" dirty="0">
                <a:solidFill>
                  <a:schemeClr val="tx1">
                    <a:lumMod val="50000"/>
                    <a:lumOff val="50000"/>
                  </a:schemeClr>
                </a:solidFill>
              </a:rPr>
              <a:t>IBM Telco Customer Churn Dataset from Kaggle</a:t>
            </a:r>
            <a:endParaRPr lang="en-US" altLang="zh-CN" sz="1200" dirty="0">
              <a:solidFill>
                <a:schemeClr val="tx1">
                  <a:lumMod val="50000"/>
                  <a:lumOff val="50000"/>
                </a:schemeClr>
              </a:solidFill>
            </a:endParaRPr>
          </a:p>
          <a:p>
            <a:pPr algn="ctr">
              <a:lnSpc>
                <a:spcPct val="130000"/>
              </a:lnSpc>
            </a:pPr>
            <a:endParaRPr lang="en-US" altLang="zh-CN" sz="1200" dirty="0">
              <a:solidFill>
                <a:schemeClr val="tx1">
                  <a:lumMod val="50000"/>
                  <a:lumOff val="50000"/>
                </a:schemeClr>
              </a:solidFill>
            </a:endParaRPr>
          </a:p>
        </p:txBody>
      </p:sp>
      <p:sp>
        <p:nvSpPr>
          <p:cNvPr id="54" name="矩形 53"/>
          <p:cNvSpPr/>
          <p:nvPr/>
        </p:nvSpPr>
        <p:spPr>
          <a:xfrm>
            <a:off x="695325" y="4807436"/>
            <a:ext cx="4577442" cy="2011045"/>
          </a:xfrm>
          <a:prstGeom prst="rect">
            <a:avLst/>
          </a:prstGeom>
          <a:gradFill flip="none" rotWithShape="1">
            <a:gsLst>
              <a:gs pos="0">
                <a:schemeClr val="bg1">
                  <a:alpha val="9000"/>
                </a:schemeClr>
              </a:gs>
              <a:gs pos="100000">
                <a:schemeClr val="bg1"/>
              </a:gs>
            </a:gsLst>
            <a:lin ang="10800000" scaled="1"/>
            <a:tileRect/>
          </a:gradFill>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Dataset </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Overview</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sp>
        <p:nvSpPr>
          <p:cNvPr id="21" name="矩形 20"/>
          <p:cNvSpPr/>
          <p:nvPr/>
        </p:nvSpPr>
        <p:spPr>
          <a:xfrm>
            <a:off x="3446141" y="705530"/>
            <a:ext cx="2551295" cy="2484890"/>
          </a:xfrm>
          <a:prstGeom prst="rect">
            <a:avLst/>
          </a:prstGeom>
          <a:blipFill>
            <a:blip r:embed="rId2"/>
            <a:tile tx="0" ty="0" sx="100000" sy="100000" flip="none" algn="tl"/>
          </a:blipFill>
          <a:ln w="50800">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4047100" y="1053649"/>
            <a:ext cx="1106805" cy="450850"/>
          </a:xfrm>
          <a:prstGeom prst="rect">
            <a:avLst/>
          </a:prstGeom>
        </p:spPr>
        <p:txBody>
          <a:bodyPr wrap="none">
            <a:spAutoFit/>
          </a:bodyPr>
          <a:lstStyle/>
          <a:p>
            <a:pPr algn="ctr">
              <a:lnSpc>
                <a:spcPct val="130000"/>
              </a:lnSpc>
            </a:pPr>
            <a:r>
              <a:rPr lang="en-US" altLang="zh-CN" dirty="0">
                <a:solidFill>
                  <a:schemeClr val="accent2"/>
                </a:solidFill>
                <a:latin typeface="+mj-lt"/>
              </a:rPr>
              <a:t>Samples</a:t>
            </a:r>
            <a:endParaRPr lang="en-US" altLang="zh-CN" dirty="0">
              <a:solidFill>
                <a:schemeClr val="accent2"/>
              </a:solidFill>
              <a:latin typeface="+mj-lt"/>
            </a:endParaRPr>
          </a:p>
        </p:txBody>
      </p:sp>
      <p:sp>
        <p:nvSpPr>
          <p:cNvPr id="45" name="矩形 44"/>
          <p:cNvSpPr/>
          <p:nvPr/>
        </p:nvSpPr>
        <p:spPr>
          <a:xfrm>
            <a:off x="3616913" y="2000963"/>
            <a:ext cx="2209750" cy="810260"/>
          </a:xfrm>
          <a:prstGeom prst="rect">
            <a:avLst/>
          </a:prstGeom>
        </p:spPr>
        <p:txBody>
          <a:bodyPr wrap="square">
            <a:spAutoFit/>
          </a:bodyPr>
          <a:lstStyle/>
          <a:p>
            <a:pPr algn="ctr">
              <a:lnSpc>
                <a:spcPct val="130000"/>
              </a:lnSpc>
            </a:pPr>
            <a:r>
              <a:rPr lang="en-US" altLang="zh-CN" sz="1200" dirty="0">
                <a:solidFill>
                  <a:schemeClr val="bg1">
                    <a:alpha val="67000"/>
                  </a:schemeClr>
                </a:solidFill>
              </a:rPr>
              <a:t>7043 raw samples, 7032 after cleaning</a:t>
            </a:r>
            <a:endParaRPr lang="en-US" altLang="zh-CN" sz="1200" dirty="0">
              <a:solidFill>
                <a:schemeClr val="bg1">
                  <a:alpha val="67000"/>
                </a:schemeClr>
              </a:solidFill>
            </a:endParaRPr>
          </a:p>
          <a:p>
            <a:pPr algn="ctr">
              <a:lnSpc>
                <a:spcPct val="130000"/>
              </a:lnSpc>
            </a:pPr>
            <a:endParaRPr lang="en-US" altLang="zh-CN" sz="1200" dirty="0">
              <a:solidFill>
                <a:schemeClr val="bg1">
                  <a:alpha val="67000"/>
                </a:schemeClr>
              </a:solidFill>
            </a:endParaRPr>
          </a:p>
        </p:txBody>
      </p:sp>
      <p:sp>
        <p:nvSpPr>
          <p:cNvPr id="28" name="任意多边形 27"/>
          <p:cNvSpPr/>
          <p:nvPr/>
        </p:nvSpPr>
        <p:spPr>
          <a:xfrm>
            <a:off x="6196960" y="705530"/>
            <a:ext cx="2551292" cy="2484890"/>
          </a:xfrm>
          <a:custGeom>
            <a:avLst/>
            <a:gdLst>
              <a:gd name="connsiteX0" fmla="*/ 0 w 10833004"/>
              <a:gd name="connsiteY0" fmla="*/ 0 h 2484890"/>
              <a:gd name="connsiteX1" fmla="*/ 10833004 w 10833004"/>
              <a:gd name="connsiteY1" fmla="*/ 0 h 2484890"/>
              <a:gd name="connsiteX2" fmla="*/ 10833004 w 10833004"/>
              <a:gd name="connsiteY2" fmla="*/ 2484890 h 2484890"/>
              <a:gd name="connsiteX3" fmla="*/ 0 w 10833004"/>
              <a:gd name="connsiteY3" fmla="*/ 2484890 h 2484890"/>
            </a:gdLst>
            <a:ahLst/>
            <a:cxnLst>
              <a:cxn ang="0">
                <a:pos x="connsiteX0" y="connsiteY0"/>
              </a:cxn>
              <a:cxn ang="0">
                <a:pos x="connsiteX1" y="connsiteY1"/>
              </a:cxn>
              <a:cxn ang="0">
                <a:pos x="connsiteX2" y="connsiteY2"/>
              </a:cxn>
              <a:cxn ang="0">
                <a:pos x="connsiteX3" y="connsiteY3"/>
              </a:cxn>
            </a:cxnLst>
            <a:rect l="l" t="t" r="r" b="b"/>
            <a:pathLst>
              <a:path w="10833004" h="2484890">
                <a:moveTo>
                  <a:pt x="0" y="0"/>
                </a:moveTo>
                <a:lnTo>
                  <a:pt x="10833004" y="0"/>
                </a:lnTo>
                <a:lnTo>
                  <a:pt x="10833004" y="2484890"/>
                </a:lnTo>
                <a:lnTo>
                  <a:pt x="0" y="2484890"/>
                </a:lnTo>
                <a:close/>
              </a:path>
            </a:pathLst>
          </a:cu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6911901" y="1053649"/>
            <a:ext cx="1121410" cy="810260"/>
          </a:xfrm>
          <a:prstGeom prst="rect">
            <a:avLst/>
          </a:prstGeom>
        </p:spPr>
        <p:txBody>
          <a:bodyPr wrap="none">
            <a:spAutoFit/>
          </a:bodyPr>
          <a:lstStyle/>
          <a:p>
            <a:pPr algn="ctr">
              <a:lnSpc>
                <a:spcPct val="130000"/>
              </a:lnSpc>
            </a:pPr>
            <a:r>
              <a:rPr lang="en-US" altLang="zh-CN" dirty="0">
                <a:gradFill flip="none" rotWithShape="1">
                  <a:gsLst>
                    <a:gs pos="51000">
                      <a:schemeClr val="accent1"/>
                    </a:gs>
                    <a:gs pos="100000">
                      <a:schemeClr val="accent1">
                        <a:lumMod val="60000"/>
                        <a:lumOff val="40000"/>
                      </a:schemeClr>
                    </a:gs>
                  </a:gsLst>
                  <a:lin ang="0" scaled="1"/>
                  <a:tileRect/>
                </a:gradFill>
                <a:latin typeface="+mj-lt"/>
              </a:rPr>
              <a:t>Features</a:t>
            </a:r>
            <a:endParaRPr lang="en-US" altLang="zh-CN" dirty="0">
              <a:gradFill flip="none" rotWithShape="1">
                <a:gsLst>
                  <a:gs pos="51000">
                    <a:schemeClr val="accent1"/>
                  </a:gs>
                  <a:gs pos="100000">
                    <a:schemeClr val="accent1">
                      <a:lumMod val="60000"/>
                      <a:lumOff val="40000"/>
                    </a:schemeClr>
                  </a:gs>
                </a:gsLst>
                <a:lin ang="0" scaled="1"/>
                <a:tileRect/>
              </a:gradFill>
              <a:latin typeface="+mj-lt"/>
            </a:endParaRPr>
          </a:p>
          <a:p>
            <a:pPr algn="ctr">
              <a:lnSpc>
                <a:spcPct val="130000"/>
              </a:lnSpc>
            </a:pPr>
            <a:endParaRPr lang="en-US" altLang="zh-CN" dirty="0">
              <a:gradFill flip="none" rotWithShape="1">
                <a:gsLst>
                  <a:gs pos="51000">
                    <a:schemeClr val="accent1"/>
                  </a:gs>
                  <a:gs pos="100000">
                    <a:schemeClr val="accent1">
                      <a:lumMod val="60000"/>
                      <a:lumOff val="40000"/>
                    </a:schemeClr>
                  </a:gs>
                </a:gsLst>
                <a:lin ang="0" scaled="1"/>
                <a:tileRect/>
              </a:gradFill>
              <a:latin typeface="+mj-lt"/>
            </a:endParaRPr>
          </a:p>
        </p:txBody>
      </p:sp>
      <p:sp>
        <p:nvSpPr>
          <p:cNvPr id="47" name="矩形 46"/>
          <p:cNvSpPr/>
          <p:nvPr/>
        </p:nvSpPr>
        <p:spPr>
          <a:xfrm>
            <a:off x="6367731" y="2000963"/>
            <a:ext cx="2209750" cy="810260"/>
          </a:xfrm>
          <a:prstGeom prst="rect">
            <a:avLst/>
          </a:prstGeom>
        </p:spPr>
        <p:txBody>
          <a:bodyPr wrap="square">
            <a:spAutoFit/>
          </a:bodyPr>
          <a:lstStyle/>
          <a:p>
            <a:pPr algn="ctr">
              <a:lnSpc>
                <a:spcPct val="130000"/>
              </a:lnSpc>
            </a:pPr>
            <a:r>
              <a:rPr lang="en-US" altLang="zh-CN" sz="1200" dirty="0">
                <a:solidFill>
                  <a:schemeClr val="tx1">
                    <a:lumMod val="50000"/>
                    <a:lumOff val="50000"/>
                  </a:schemeClr>
                </a:solidFill>
              </a:rPr>
              <a:t>21 original features, 46 encoded features</a:t>
            </a:r>
            <a:endParaRPr lang="en-US" altLang="zh-CN" sz="1200" dirty="0">
              <a:solidFill>
                <a:schemeClr val="tx1">
                  <a:lumMod val="50000"/>
                  <a:lumOff val="50000"/>
                </a:schemeClr>
              </a:solidFill>
            </a:endParaRPr>
          </a:p>
          <a:p>
            <a:pPr algn="ctr">
              <a:lnSpc>
                <a:spcPct val="130000"/>
              </a:lnSpc>
            </a:pPr>
            <a:endParaRPr lang="en-US" altLang="zh-CN" sz="1200" dirty="0">
              <a:solidFill>
                <a:schemeClr val="tx1">
                  <a:lumMod val="50000"/>
                  <a:lumOff val="50000"/>
                </a:schemeClr>
              </a:solidFill>
            </a:endParaRPr>
          </a:p>
        </p:txBody>
      </p:sp>
      <p:sp>
        <p:nvSpPr>
          <p:cNvPr id="24" name="矩形 23"/>
          <p:cNvSpPr/>
          <p:nvPr/>
        </p:nvSpPr>
        <p:spPr>
          <a:xfrm>
            <a:off x="8947776" y="705530"/>
            <a:ext cx="2551295" cy="2484890"/>
          </a:xfrm>
          <a:prstGeom prst="rect">
            <a:avLst/>
          </a:prstGeom>
          <a:blipFill>
            <a:blip r:embed="rId2"/>
            <a:tile tx="0" ty="0" sx="100000" sy="100000" flip="none" algn="tl"/>
          </a:blipFill>
          <a:ln w="50800">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9675101" y="1053649"/>
            <a:ext cx="884555" cy="450850"/>
          </a:xfrm>
          <a:prstGeom prst="rect">
            <a:avLst/>
          </a:prstGeom>
        </p:spPr>
        <p:txBody>
          <a:bodyPr wrap="none">
            <a:spAutoFit/>
          </a:bodyPr>
          <a:lstStyle/>
          <a:p>
            <a:pPr algn="ctr">
              <a:lnSpc>
                <a:spcPct val="130000"/>
              </a:lnSpc>
            </a:pPr>
            <a:r>
              <a:rPr lang="en-US" altLang="zh-CN" dirty="0">
                <a:solidFill>
                  <a:schemeClr val="accent2"/>
                </a:solidFill>
                <a:latin typeface="+mj-lt"/>
              </a:rPr>
              <a:t>Target</a:t>
            </a:r>
            <a:endParaRPr lang="en-US" altLang="zh-CN" dirty="0">
              <a:solidFill>
                <a:schemeClr val="accent2"/>
              </a:solidFill>
              <a:latin typeface="+mj-lt"/>
            </a:endParaRPr>
          </a:p>
        </p:txBody>
      </p:sp>
      <p:sp>
        <p:nvSpPr>
          <p:cNvPr id="49" name="矩形 48"/>
          <p:cNvSpPr/>
          <p:nvPr/>
        </p:nvSpPr>
        <p:spPr>
          <a:xfrm>
            <a:off x="8947733" y="2000963"/>
            <a:ext cx="2209750" cy="570865"/>
          </a:xfrm>
          <a:prstGeom prst="rect">
            <a:avLst/>
          </a:prstGeom>
        </p:spPr>
        <p:txBody>
          <a:bodyPr wrap="square">
            <a:spAutoFit/>
          </a:bodyPr>
          <a:lstStyle/>
          <a:p>
            <a:pPr algn="ctr">
              <a:lnSpc>
                <a:spcPct val="130000"/>
              </a:lnSpc>
            </a:pPr>
            <a:r>
              <a:rPr lang="en-US" altLang="zh-CN" sz="1200" dirty="0">
                <a:solidFill>
                  <a:schemeClr val="bg1">
                    <a:alpha val="67000"/>
                  </a:schemeClr>
                </a:solidFill>
              </a:rPr>
              <a:t>Churn (Yes / No)</a:t>
            </a:r>
            <a:endParaRPr lang="en-US" altLang="zh-CN" sz="1200" dirty="0">
              <a:solidFill>
                <a:schemeClr val="bg1">
                  <a:alpha val="67000"/>
                </a:schemeClr>
              </a:solidFill>
            </a:endParaRPr>
          </a:p>
          <a:p>
            <a:pPr algn="ctr">
              <a:lnSpc>
                <a:spcPct val="130000"/>
              </a:lnSpc>
            </a:pPr>
            <a:endParaRPr lang="en-US" altLang="zh-CN" sz="1200" dirty="0">
              <a:solidFill>
                <a:schemeClr val="bg1">
                  <a:alpha val="67000"/>
                </a:schemeClr>
              </a:solidFill>
            </a:endParaRPr>
          </a:p>
        </p:txBody>
      </p:sp>
      <p:sp>
        <p:nvSpPr>
          <p:cNvPr id="2" name="文本框 1"/>
          <p:cNvSpPr txBox="1"/>
          <p:nvPr userDrawn="1"/>
        </p:nvSpPr>
        <p:spPr>
          <a:xfrm>
            <a:off x="10314940" y="6385560"/>
            <a:ext cx="2366645" cy="368300"/>
          </a:xfrm>
          <a:prstGeom prst="rect">
            <a:avLst/>
          </a:prstGeom>
        </p:spPr>
        <p:txBody>
          <a:bodyPr wrap="square" rtlCol="0">
            <a:spAutoFit/>
          </a:bodyPr>
          <a:p>
            <a:r>
              <a:rPr lang="en-US" altLang="zh-CN"/>
              <a:t>Gao Ruiyang</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750"/>
                                        <p:tgtEl>
                                          <p:spTgt spid="54"/>
                                        </p:tgtEl>
                                      </p:cBhvr>
                                    </p:animEffect>
                                  </p:childTnLst>
                                </p:cTn>
                              </p:par>
                              <p:par>
                                <p:cTn id="8" presetID="63" presetClass="path" presetSubtype="0" decel="50000" fill="hold" grpId="1" nodeType="withEffect">
                                  <p:stCondLst>
                                    <p:cond delay="0"/>
                                  </p:stCondLst>
                                  <p:childTnLst>
                                    <p:animMotion origin="layout" path="M -0.01563 -3.7037E-6 L 0.1108 -3.7037E-6 " pathEditMode="relative" rAng="0" ptsTypes="AA">
                                      <p:cBhvr>
                                        <p:cTn id="9" dur="750" spd="-100000" fill="hold"/>
                                        <p:tgtEl>
                                          <p:spTgt spid="54"/>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3 -3.7037E-6 L 3.33333E-6 -3.7037E-6 " pathEditMode="relative" rAng="0" ptsTypes="AA">
                                      <p:cBhvr>
                                        <p:cTn id="11" dur="750" fill="hold"/>
                                        <p:tgtEl>
                                          <p:spTgt spid="54"/>
                                        </p:tgtEl>
                                        <p:attrNameLst>
                                          <p:attrName>ppt_x</p:attrName>
                                          <p:attrName>ppt_y</p:attrName>
                                        </p:attrNameLst>
                                      </p:cBhvr>
                                      <p:rCtr x="781" y="0"/>
                                    </p:animMotion>
                                  </p:childTnLst>
                                </p:cTn>
                              </p:par>
                              <p:par>
                                <p:cTn id="12" presetID="10" presetClass="entr" presetSubtype="0" fill="hold" nodeType="with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fade">
                                      <p:cBhvr>
                                        <p:cTn id="14" dur="1000"/>
                                        <p:tgtEl>
                                          <p:spTgt spid="53"/>
                                        </p:tgtEl>
                                      </p:cBhvr>
                                    </p:animEffect>
                                  </p:childTnLst>
                                </p:cTn>
                              </p:par>
                              <p:par>
                                <p:cTn id="15" presetID="63" presetClass="path" presetSubtype="0" decel="50000" fill="hold" nodeType="withEffect">
                                  <p:stCondLst>
                                    <p:cond delay="0"/>
                                  </p:stCondLst>
                                  <p:childTnLst>
                                    <p:animMotion origin="layout" path="M -0.294988 -0.120293 L 0 0 E" pathEditMode="relative" ptsTypes="">
                                      <p:cBhvr>
                                        <p:cTn id="16" dur="1000" fill="hold"/>
                                        <p:tgtEl>
                                          <p:spTgt spid="53"/>
                                        </p:tgtEl>
                                        <p:attrNameLst>
                                          <p:attrName>ppt_x</p:attrName>
                                          <p:attrName>ppt_y</p:attrName>
                                        </p:attrNameLst>
                                      </p:cBhvr>
                                    </p:animMotion>
                                  </p:childTnLst>
                                </p:cTn>
                              </p:par>
                              <p:par>
                                <p:cTn id="17" presetID="6" presetClass="emph" presetSubtype="0" decel="50000" fill="hold" nodeType="withEffect">
                                  <p:stCondLst>
                                    <p:cond delay="0"/>
                                  </p:stCondLst>
                                  <p:childTnLst>
                                    <p:animScale>
                                      <p:cBhvr>
                                        <p:cTn id="18" dur="1000" fill="hold"/>
                                        <p:tgtEl>
                                          <p:spTgt spid="53"/>
                                        </p:tgtEl>
                                      </p:cBhvr>
                                      <p:by x="150000" y="150000"/>
                                      <p:from x="32937" y="32937"/>
                                      <p:to x="100000" y="100000"/>
                                    </p:animScale>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750"/>
                                        <p:tgtEl>
                                          <p:spTgt spid="5"/>
                                        </p:tgtEl>
                                      </p:cBhvr>
                                    </p:animEffect>
                                  </p:childTnLst>
                                </p:cTn>
                              </p:par>
                              <p:par>
                                <p:cTn id="22" presetID="63" presetClass="path" presetSubtype="0" decel="50000" fill="hold" grpId="1" nodeType="withEffect">
                                  <p:stCondLst>
                                    <p:cond delay="0"/>
                                  </p:stCondLst>
                                  <p:childTnLst>
                                    <p:animMotion origin="layout" path="M 0.01523 3.7037E-7 L -0.10885 3.7037E-7 " pathEditMode="relative" rAng="0" ptsTypes="AA">
                                      <p:cBhvr>
                                        <p:cTn id="23" dur="750" spd="-100000" fill="hold"/>
                                        <p:tgtEl>
                                          <p:spTgt spid="5"/>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7 L 8.33333E-7 3.7037E-7 " pathEditMode="relative" rAng="0" ptsTypes="AA">
                                      <p:cBhvr>
                                        <p:cTn id="25" dur="750" fill="hold"/>
                                        <p:tgtEl>
                                          <p:spTgt spid="5"/>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750"/>
                                        <p:tgtEl>
                                          <p:spTgt spid="21"/>
                                        </p:tgtEl>
                                      </p:cBhvr>
                                    </p:animEffect>
                                  </p:childTnLst>
                                </p:cTn>
                              </p:par>
                              <p:par>
                                <p:cTn id="29" presetID="42" presetClass="path" presetSubtype="0" decel="30000" fill="hold" grpId="1" nodeType="withEffect">
                                  <p:stCondLst>
                                    <p:cond delay="0"/>
                                  </p:stCondLst>
                                  <p:childTnLst>
                                    <p:animMotion origin="layout" path="M 3.125E-6 -0.03982 L 3.125E-6 0.14815 " pathEditMode="relative" rAng="0" ptsTypes="AA">
                                      <p:cBhvr>
                                        <p:cTn id="30" dur="750" spd="-100000" fill="hold"/>
                                        <p:tgtEl>
                                          <p:spTgt spid="21"/>
                                        </p:tgtEl>
                                        <p:attrNameLst>
                                          <p:attrName>ppt_x</p:attrName>
                                          <p:attrName>ppt_y</p:attrName>
                                        </p:attrNameLst>
                                      </p:cBhvr>
                                      <p:rCtr x="0" y="9398"/>
                                    </p:animMotion>
                                  </p:childTnLst>
                                </p:cTn>
                              </p:par>
                              <p:par>
                                <p:cTn id="31" presetID="42" presetClass="path" presetSubtype="0" accel="30000" decel="30000" fill="hold" grpId="2" nodeType="withEffect">
                                  <p:stCondLst>
                                    <p:cond delay="750"/>
                                  </p:stCondLst>
                                  <p:childTnLst>
                                    <p:animMotion origin="layout" path="M 3.125E-6 -0.03982 L 3.125E-6 3.7037E-7 " pathEditMode="relative" rAng="0" ptsTypes="AA">
                                      <p:cBhvr>
                                        <p:cTn id="32" dur="750" fill="hold"/>
                                        <p:tgtEl>
                                          <p:spTgt spid="21"/>
                                        </p:tgtEl>
                                        <p:attrNameLst>
                                          <p:attrName>ppt_x</p:attrName>
                                          <p:attrName>ppt_y</p:attrName>
                                        </p:attrNameLst>
                                      </p:cBhvr>
                                      <p:rCtr x="0" y="1991"/>
                                    </p:animMotion>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750"/>
                                        <p:tgtEl>
                                          <p:spTgt spid="28"/>
                                        </p:tgtEl>
                                      </p:cBhvr>
                                    </p:animEffect>
                                  </p:childTnLst>
                                </p:cTn>
                              </p:par>
                              <p:par>
                                <p:cTn id="36" presetID="64" presetClass="path" presetSubtype="0" decel="30000" fill="hold" grpId="1" nodeType="withEffect">
                                  <p:stCondLst>
                                    <p:cond delay="0"/>
                                  </p:stCondLst>
                                  <p:childTnLst>
                                    <p:animMotion origin="layout" path="M -4.58333E-6 0.03889 L -4.58333E-6 -0.14815 " pathEditMode="relative" rAng="0" ptsTypes="AA">
                                      <p:cBhvr>
                                        <p:cTn id="37" dur="750" spd="-100000" fill="hold"/>
                                        <p:tgtEl>
                                          <p:spTgt spid="28"/>
                                        </p:tgtEl>
                                        <p:attrNameLst>
                                          <p:attrName>ppt_x</p:attrName>
                                          <p:attrName>ppt_y</p:attrName>
                                        </p:attrNameLst>
                                      </p:cBhvr>
                                      <p:rCtr x="0" y="-9352"/>
                                    </p:animMotion>
                                  </p:childTnLst>
                                </p:cTn>
                              </p:par>
                              <p:par>
                                <p:cTn id="38" presetID="64" presetClass="path" presetSubtype="0" accel="30000" decel="30000" fill="hold" grpId="2" nodeType="withEffect">
                                  <p:stCondLst>
                                    <p:cond delay="750"/>
                                  </p:stCondLst>
                                  <p:childTnLst>
                                    <p:animMotion origin="layout" path="M -4.58333E-6 0.03843 L -4.58333E-6 3.7037E-7 " pathEditMode="relative" rAng="0" ptsTypes="AA">
                                      <p:cBhvr>
                                        <p:cTn id="39" dur="750" fill="hold"/>
                                        <p:tgtEl>
                                          <p:spTgt spid="28"/>
                                        </p:tgtEl>
                                        <p:attrNameLst>
                                          <p:attrName>ppt_x</p:attrName>
                                          <p:attrName>ppt_y</p:attrName>
                                        </p:attrNameLst>
                                      </p:cBhvr>
                                      <p:rCtr x="0" y="-1921"/>
                                    </p:animMotion>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750"/>
                                        <p:tgtEl>
                                          <p:spTgt spid="24"/>
                                        </p:tgtEl>
                                      </p:cBhvr>
                                    </p:animEffect>
                                  </p:childTnLst>
                                </p:cTn>
                              </p:par>
                              <p:par>
                                <p:cTn id="43" presetID="63" presetClass="path" presetSubtype="0" decel="50000" fill="hold" grpId="1" nodeType="withEffect">
                                  <p:stCondLst>
                                    <p:cond delay="0"/>
                                  </p:stCondLst>
                                  <p:childTnLst>
                                    <p:animMotion origin="layout" path="M -0.01562 3.7037E-7 L 0.11081 3.7037E-7 " pathEditMode="relative" rAng="0" ptsTypes="AA">
                                      <p:cBhvr>
                                        <p:cTn id="44" dur="750" spd="-100000" fill="hold"/>
                                        <p:tgtEl>
                                          <p:spTgt spid="24"/>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7 L -2.29167E-6 3.7037E-7 " pathEditMode="relative" rAng="0" ptsTypes="AA">
                                      <p:cBhvr>
                                        <p:cTn id="46" dur="750" fill="hold"/>
                                        <p:tgtEl>
                                          <p:spTgt spid="24"/>
                                        </p:tgtEl>
                                        <p:attrNameLst>
                                          <p:attrName>ppt_x</p:attrName>
                                          <p:attrName>ppt_y</p:attrName>
                                        </p:attrNameLst>
                                      </p:cBhvr>
                                      <p:rCtr x="781" y="0"/>
                                    </p:animMotion>
                                  </p:childTnLst>
                                </p:cTn>
                              </p:par>
                              <p:par>
                                <p:cTn id="47" presetID="10" presetClass="entr" presetSubtype="0" fill="hold" grpId="0" nodeType="withEffect">
                                  <p:stCondLst>
                                    <p:cond delay="125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750"/>
                                        <p:tgtEl>
                                          <p:spTgt spid="50"/>
                                        </p:tgtEl>
                                      </p:cBhvr>
                                    </p:animEffect>
                                  </p:childTnLst>
                                </p:cTn>
                              </p:par>
                              <p:par>
                                <p:cTn id="50" presetID="10" presetClass="entr" presetSubtype="0" fill="hold" grpId="0" nodeType="withEffect">
                                  <p:stCondLst>
                                    <p:cond delay="125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750"/>
                                        <p:tgtEl>
                                          <p:spTgt spid="51"/>
                                        </p:tgtEl>
                                      </p:cBhvr>
                                    </p:animEffect>
                                  </p:childTnLst>
                                </p:cTn>
                              </p:par>
                              <p:par>
                                <p:cTn id="53" presetID="10" presetClass="entr" presetSubtype="0" fill="hold" grpId="0" nodeType="withEffect">
                                  <p:stCondLst>
                                    <p:cond delay="125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750"/>
                                        <p:tgtEl>
                                          <p:spTgt spid="44"/>
                                        </p:tgtEl>
                                      </p:cBhvr>
                                    </p:animEffect>
                                  </p:childTnLst>
                                </p:cTn>
                              </p:par>
                              <p:par>
                                <p:cTn id="56" presetID="10" presetClass="entr" presetSubtype="0" fill="hold" grpId="0" nodeType="withEffect">
                                  <p:stCondLst>
                                    <p:cond delay="125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750"/>
                                        <p:tgtEl>
                                          <p:spTgt spid="45"/>
                                        </p:tgtEl>
                                      </p:cBhvr>
                                    </p:animEffect>
                                  </p:childTnLst>
                                </p:cTn>
                              </p:par>
                              <p:par>
                                <p:cTn id="59" presetID="10" presetClass="entr" presetSubtype="0" fill="hold" grpId="0" nodeType="withEffect">
                                  <p:stCondLst>
                                    <p:cond delay="125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750"/>
                                        <p:tgtEl>
                                          <p:spTgt spid="46"/>
                                        </p:tgtEl>
                                      </p:cBhvr>
                                    </p:animEffect>
                                  </p:childTnLst>
                                </p:cTn>
                              </p:par>
                              <p:par>
                                <p:cTn id="62" presetID="10" presetClass="entr" presetSubtype="0" fill="hold" grpId="0" nodeType="withEffect">
                                  <p:stCondLst>
                                    <p:cond delay="1250"/>
                                  </p:stCondLst>
                                  <p:childTnLst>
                                    <p:set>
                                      <p:cBhvr>
                                        <p:cTn id="63" dur="1" fill="hold">
                                          <p:stCondLst>
                                            <p:cond delay="0"/>
                                          </p:stCondLst>
                                        </p:cTn>
                                        <p:tgtEl>
                                          <p:spTgt spid="47"/>
                                        </p:tgtEl>
                                        <p:attrNameLst>
                                          <p:attrName>style.visibility</p:attrName>
                                        </p:attrNameLst>
                                      </p:cBhvr>
                                      <p:to>
                                        <p:strVal val="visible"/>
                                      </p:to>
                                    </p:set>
                                    <p:animEffect transition="in" filter="fade">
                                      <p:cBhvr>
                                        <p:cTn id="64" dur="750"/>
                                        <p:tgtEl>
                                          <p:spTgt spid="47"/>
                                        </p:tgtEl>
                                      </p:cBhvr>
                                    </p:animEffect>
                                  </p:childTnLst>
                                </p:cTn>
                              </p:par>
                              <p:par>
                                <p:cTn id="65" presetID="10" presetClass="entr" presetSubtype="0" fill="hold" grpId="0" nodeType="withEffect">
                                  <p:stCondLst>
                                    <p:cond delay="125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750"/>
                                        <p:tgtEl>
                                          <p:spTgt spid="48"/>
                                        </p:tgtEl>
                                      </p:cBhvr>
                                    </p:animEffect>
                                  </p:childTnLst>
                                </p:cTn>
                              </p:par>
                              <p:par>
                                <p:cTn id="68" presetID="10" presetClass="entr" presetSubtype="0" fill="hold" grpId="0" nodeType="withEffect">
                                  <p:stCondLst>
                                    <p:cond delay="1250"/>
                                  </p:stCondLst>
                                  <p:childTnLst>
                                    <p:set>
                                      <p:cBhvr>
                                        <p:cTn id="69" dur="1" fill="hold">
                                          <p:stCondLst>
                                            <p:cond delay="0"/>
                                          </p:stCondLst>
                                        </p:cTn>
                                        <p:tgtEl>
                                          <p:spTgt spid="49"/>
                                        </p:tgtEl>
                                        <p:attrNameLst>
                                          <p:attrName>style.visibility</p:attrName>
                                        </p:attrNameLst>
                                      </p:cBhvr>
                                      <p:to>
                                        <p:strVal val="visible"/>
                                      </p:to>
                                    </p:set>
                                    <p:animEffect transition="in" filter="fade">
                                      <p:cBhvr>
                                        <p:cTn id="70" dur="7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bldLvl="0" animBg="1"/>
      <p:bldP spid="5" grpId="2" bldLvl="0" animBg="1"/>
      <p:bldP spid="50" grpId="0"/>
      <p:bldP spid="51" grpId="0"/>
      <p:bldP spid="54" grpId="0" bldLvl="0" animBg="1"/>
      <p:bldP spid="54" grpId="1" bldLvl="0" animBg="1"/>
      <p:bldP spid="54" grpId="2" bldLvl="0" animBg="1"/>
      <p:bldP spid="21" grpId="0" bldLvl="0" animBg="1"/>
      <p:bldP spid="21" grpId="1" bldLvl="0" animBg="1"/>
      <p:bldP spid="21" grpId="2" bldLvl="0" animBg="1"/>
      <p:bldP spid="44" grpId="0"/>
      <p:bldP spid="45" grpId="0"/>
      <p:bldP spid="28" grpId="0" bldLvl="0" animBg="1"/>
      <p:bldP spid="28" grpId="1" bldLvl="0" animBg="1"/>
      <p:bldP spid="28" grpId="2" bldLvl="0" animBg="1"/>
      <p:bldP spid="46" grpId="0"/>
      <p:bldP spid="47" grpId="0"/>
      <p:bldP spid="24" grpId="0" bldLvl="0" animBg="1"/>
      <p:bldP spid="24" grpId="1" bldLvl="0" animBg="1"/>
      <p:bldP spid="24" grpId="2" bldLvl="0" animBg="1"/>
      <p:bldP spid="48" grpId="0"/>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3868" y="711200"/>
            <a:ext cx="2844800" cy="54483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3" name="AutoShape 3"/>
          <p:cNvSpPr/>
          <p:nvPr/>
        </p:nvSpPr>
        <p:spPr>
          <a:xfrm>
            <a:off x="-2133600" y="7112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4" name="AutoShape 4"/>
          <p:cNvSpPr/>
          <p:nvPr/>
        </p:nvSpPr>
        <p:spPr>
          <a:xfrm>
            <a:off x="7112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5" name="AutoShape 5"/>
          <p:cNvSpPr/>
          <p:nvPr/>
        </p:nvSpPr>
        <p:spPr>
          <a:xfrm>
            <a:off x="-21336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cxnSp>
        <p:nvCxnSpPr>
          <p:cNvPr id="6" name="Connector 6"/>
          <p:cNvCxnSpPr/>
          <p:nvPr/>
        </p:nvCxnSpPr>
        <p:spPr>
          <a:xfrm>
            <a:off x="876300" y="1574800"/>
            <a:ext cx="2514632" cy="12700"/>
          </a:xfrm>
          <a:prstGeom prst="line">
            <a:avLst/>
          </a:prstGeom>
          <a:solidFill>
            <a:srgbClr val="DEE0E3">
              <a:alpha val="100000"/>
            </a:srgbClr>
          </a:solidFill>
          <a:ln w="12700" cap="rnd" cmpd="sng">
            <a:gradFill rotWithShape="1">
              <a:gsLst>
                <a:gs pos="0">
                  <a:srgbClr val="D7DCE7">
                    <a:alpha val="53000"/>
                  </a:srgbClr>
                </a:gs>
                <a:gs pos="50000">
                  <a:srgbClr val="D7DCE7">
                    <a:alpha val="100000"/>
                  </a:srgbClr>
                </a:gs>
                <a:gs pos="100000">
                  <a:srgbClr val="D7DCE7">
                    <a:alpha val="53000"/>
                  </a:srgbClr>
                </a:gs>
              </a:gsLst>
              <a:lin ang="0"/>
            </a:gradFill>
            <a:prstDash val="solid"/>
            <a:miter lim="10000000"/>
            <a:headEnd type="none" w="med" len="med"/>
            <a:tailEnd type="none" w="med" len="med"/>
          </a:ln>
        </p:spPr>
      </p:cxnSp>
      <p:sp>
        <p:nvSpPr>
          <p:cNvPr id="7" name="AutoShape 7"/>
          <p:cNvSpPr/>
          <p:nvPr/>
        </p:nvSpPr>
        <p:spPr>
          <a:xfrm>
            <a:off x="1181100" y="2095500"/>
            <a:ext cx="1905000" cy="26797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200" cap="none" spc="0" normalizeH="0" baseline="0" noProof="0" dirty="0">
                <a:ln>
                  <a:noFill/>
                </a:ln>
                <a:solidFill>
                  <a:srgbClr val="485575"/>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0</a:t>
            </a:r>
            <a:r>
              <a:rPr lang="en-US" sz="9600" b="1"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2</a:t>
            </a: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8" name="AutoShape 8"/>
          <p:cNvSpPr/>
          <p:nvPr/>
        </p:nvSpPr>
        <p:spPr>
          <a:xfrm>
            <a:off x="18288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9" name="AutoShape 9"/>
          <p:cNvSpPr/>
          <p:nvPr/>
        </p:nvSpPr>
        <p:spPr>
          <a:xfrm>
            <a:off x="2082800" y="5232400"/>
            <a:ext cx="101600" cy="101600"/>
          </a:xfrm>
          <a:prstGeom prst="ellipse">
            <a:avLst/>
          </a:prstGeom>
          <a:solidFill>
            <a:srgbClr val="8895B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0" name="AutoShape 10"/>
          <p:cNvSpPr/>
          <p:nvPr/>
        </p:nvSpPr>
        <p:spPr>
          <a:xfrm>
            <a:off x="23241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1" name="AutoShape 11"/>
          <p:cNvSpPr/>
          <p:nvPr/>
        </p:nvSpPr>
        <p:spPr>
          <a:xfrm>
            <a:off x="3797300" y="1219200"/>
            <a:ext cx="7696200" cy="49276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2" name="AutoShape 12"/>
          <p:cNvSpPr/>
          <p:nvPr/>
        </p:nvSpPr>
        <p:spPr>
          <a:xfrm>
            <a:off x="11493500" y="7112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3" name="AutoShape 13"/>
          <p:cNvSpPr/>
          <p:nvPr/>
        </p:nvSpPr>
        <p:spPr>
          <a:xfrm>
            <a:off x="37973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4" name="AutoShape 14"/>
          <p:cNvSpPr/>
          <p:nvPr/>
        </p:nvSpPr>
        <p:spPr>
          <a:xfrm>
            <a:off x="114935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7" name="AutoShape 17"/>
          <p:cNvSpPr/>
          <p:nvPr/>
        </p:nvSpPr>
        <p:spPr>
          <a:xfrm>
            <a:off x="4152900" y="3155950"/>
            <a:ext cx="6413500" cy="1689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8" name="AutoShape 18"/>
          <p:cNvSpPr/>
          <p:nvPr/>
        </p:nvSpPr>
        <p:spPr>
          <a:xfrm>
            <a:off x="4241800" y="4178300"/>
            <a:ext cx="57023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33000"/>
              </a:lnSpc>
              <a:spcBef>
                <a:spcPts val="0"/>
              </a:spcBef>
              <a:spcAft>
                <a:spcPts val="0"/>
              </a:spcAft>
              <a:buClrTx/>
              <a:buSzTx/>
              <a:buFontTx/>
              <a:buNone/>
              <a:defRPr/>
            </a:pPr>
            <a:r>
              <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rPr>
              <a:t>Wang Runa</a:t>
            </a:r>
            <a:endPar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endParaRPr>
          </a:p>
        </p:txBody>
      </p:sp>
      <p:sp>
        <p:nvSpPr>
          <p:cNvPr id="19" name="AutoShape 19"/>
          <p:cNvSpPr/>
          <p:nvPr/>
        </p:nvSpPr>
        <p:spPr>
          <a:xfrm>
            <a:off x="4419632" y="673100"/>
            <a:ext cx="5511800" cy="838200"/>
          </a:xfrm>
          <a:prstGeom prst="roundRect">
            <a:avLst>
              <a:gd name="adj" fmla="val 0"/>
            </a:avLst>
          </a:prstGeom>
          <a:blipFill rotWithShape="1">
            <a:blip r:embed="rId1"/>
            <a:tile tx="0" ty="0" sx="100000" sy="100000" flip="none" algn="tl"/>
          </a:blip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0" name="AutoShape 20"/>
          <p:cNvSpPr/>
          <p:nvPr/>
        </p:nvSpPr>
        <p:spPr>
          <a:xfrm>
            <a:off x="4419632" y="1511300"/>
            <a:ext cx="5511800" cy="101600"/>
          </a:xfrm>
          <a:prstGeom prst="roundRect">
            <a:avLst>
              <a:gd name="adj" fmla="val 0"/>
            </a:avLst>
          </a:prstGeom>
          <a:solidFill>
            <a:srgbClr val="F2D4AA">
              <a:alpha val="100000"/>
            </a:srgbClr>
          </a:solid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1" name="AutoShape 21"/>
          <p:cNvSpPr/>
          <p:nvPr/>
        </p:nvSpPr>
        <p:spPr>
          <a:xfrm>
            <a:off x="4508532" y="698500"/>
            <a:ext cx="5537200" cy="7112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w="12700">
                  <a:solidFill>
                    <a:srgbClr val="FFFFFF">
                      <a:alpha val="100000"/>
                    </a:srgbClr>
                  </a:solidFill>
                </a:ln>
                <a:solidFill>
                  <a:srgbClr val="FFFFFF"/>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AI3013 Machine Learning Course Project</a:t>
            </a:r>
            <a:endParaRPr kumimoji="0" lang="en-US" sz="11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5" name="文本框 14"/>
          <p:cNvSpPr txBox="1"/>
          <p:nvPr/>
        </p:nvSpPr>
        <p:spPr>
          <a:xfrm>
            <a:off x="4241800" y="3257550"/>
            <a:ext cx="5946987"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rPr>
              <a:t>EDA and PREPROCESSING</a:t>
            </a:r>
            <a:endParaRPr kumimoji="0" lang="zh-CN" altLang="en-US" sz="36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17963" y="565149"/>
            <a:ext cx="3236487" cy="137096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Key EDA Findings</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9" name="直接连接符 8"/>
          <p:cNvCxnSpPr/>
          <p:nvPr/>
        </p:nvCxnSpPr>
        <p:spPr>
          <a:xfrm>
            <a:off x="744311" y="1937832"/>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7867015" y="774700"/>
            <a:ext cx="3588385" cy="5748655"/>
            <a:chOff x="7975600" y="774699"/>
            <a:chExt cx="3479800" cy="3914776"/>
          </a:xfrm>
        </p:grpSpPr>
        <p:sp>
          <p:nvSpPr>
            <p:cNvPr id="5" name="矩形 4"/>
            <p:cNvSpPr/>
            <p:nvPr/>
          </p:nvSpPr>
          <p:spPr>
            <a:xfrm>
              <a:off x="7975600" y="774699"/>
              <a:ext cx="3479800" cy="3914776"/>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0590440" y="774699"/>
              <a:ext cx="864960" cy="469901"/>
              <a:chOff x="10590440" y="774699"/>
              <a:chExt cx="864960" cy="469901"/>
            </a:xfrm>
          </p:grpSpPr>
          <p:sp>
            <p:nvSpPr>
              <p:cNvPr id="16" name="任意多边形 15"/>
              <p:cNvSpPr/>
              <p:nvPr/>
            </p:nvSpPr>
            <p:spPr>
              <a:xfrm flipV="1">
                <a:off x="10590440" y="774699"/>
                <a:ext cx="396875" cy="469901"/>
              </a:xfrm>
              <a:custGeom>
                <a:avLst/>
                <a:gdLst>
                  <a:gd name="connsiteX0" fmla="*/ 0 w 396875"/>
                  <a:gd name="connsiteY0" fmla="*/ 469901 h 469901"/>
                  <a:gd name="connsiteX1" fmla="*/ 396875 w 396875"/>
                  <a:gd name="connsiteY1" fmla="*/ 469901 h 469901"/>
                  <a:gd name="connsiteX2" fmla="*/ 396875 w 396875"/>
                  <a:gd name="connsiteY2" fmla="*/ 0 h 469901"/>
                  <a:gd name="connsiteX3" fmla="*/ 81758 w 396875"/>
                  <a:gd name="connsiteY3" fmla="*/ 0 h 469901"/>
                </a:gdLst>
                <a:ahLst/>
                <a:cxnLst>
                  <a:cxn ang="0">
                    <a:pos x="connsiteX0" y="connsiteY0"/>
                  </a:cxn>
                  <a:cxn ang="0">
                    <a:pos x="connsiteX1" y="connsiteY1"/>
                  </a:cxn>
                  <a:cxn ang="0">
                    <a:pos x="connsiteX2" y="connsiteY2"/>
                  </a:cxn>
                  <a:cxn ang="0">
                    <a:pos x="connsiteX3" y="connsiteY3"/>
                  </a:cxn>
                </a:cxnLst>
                <a:rect l="l" t="t" r="r" b="b"/>
                <a:pathLst>
                  <a:path w="396875" h="469901">
                    <a:moveTo>
                      <a:pt x="0" y="469901"/>
                    </a:moveTo>
                    <a:lnTo>
                      <a:pt x="396875" y="469901"/>
                    </a:lnTo>
                    <a:lnTo>
                      <a:pt x="396875" y="0"/>
                    </a:lnTo>
                    <a:lnTo>
                      <a:pt x="81758" y="0"/>
                    </a:lnTo>
                    <a:close/>
                  </a:path>
                </a:pathLst>
              </a:custGeom>
              <a:blipFill dpi="0" rotWithShape="1">
                <a:blip r:embed="rId1"/>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flipH="1">
                <a:off x="10820400" y="774699"/>
                <a:ext cx="635000" cy="469901"/>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5" name="矩形 14"/>
          <p:cNvSpPr/>
          <p:nvPr/>
        </p:nvSpPr>
        <p:spPr>
          <a:xfrm>
            <a:off x="7955915" y="1260475"/>
            <a:ext cx="3410585" cy="5130165"/>
          </a:xfrm>
          <a:prstGeom prst="rect">
            <a:avLst/>
          </a:prstGeom>
        </p:spPr>
        <p:txBody>
          <a:bodyPr wrap="square">
            <a:noAutofit/>
          </a:bodyPr>
          <a:lstStyle/>
          <a:p>
            <a:pPr>
              <a:lnSpc>
                <a:spcPct val="130000"/>
              </a:lnSpc>
            </a:pPr>
            <a:r>
              <a:rPr lang="en-US" altLang="zh-CN" sz="1600" dirty="0">
                <a:solidFill>
                  <a:schemeClr val="tx1">
                    <a:lumMod val="50000"/>
                    <a:lumOff val="50000"/>
                  </a:schemeClr>
                </a:solidFill>
              </a:rPr>
              <a:t>• Churn is moderately imbalanced</a:t>
            </a:r>
            <a:r>
              <a:rPr lang="zh-CN" altLang="en-US" sz="1600" dirty="0">
                <a:solidFill>
                  <a:schemeClr val="tx1">
                    <a:lumMod val="50000"/>
                    <a:lumOff val="50000"/>
                  </a:schemeClr>
                </a:solidFill>
              </a:rPr>
              <a:t>：</a:t>
            </a:r>
            <a:r>
              <a:rPr lang="en-US" altLang="zh-CN" sz="1600" dirty="0">
                <a:solidFill>
                  <a:schemeClr val="tx1">
                    <a:lumMod val="50000"/>
                    <a:lumOff val="50000"/>
                  </a:schemeClr>
                </a:solidFill>
              </a:rPr>
              <a:t>Yes = 26.5%, No = 73.5%</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rPr>
              <a:t>• Month-to-month contracts have the highest churn rate of 42.7%, compared with One year = 11.3%, Two year = 2.8%.</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rPr>
              <a:t>• Fiber optic users show higher churn risk:41.9%, compared with DSL = 19.0%, No internet = 7.4%.</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rPr>
              <a:t>• Electronic check users churn more frequently.</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sym typeface="+mn-ea"/>
              </a:rPr>
              <a:t>•</a:t>
            </a:r>
            <a:r>
              <a:rPr lang="en-US" altLang="zh-CN" sz="1600" dirty="0">
                <a:solidFill>
                  <a:schemeClr val="tx1">
                    <a:lumMod val="50000"/>
                    <a:lumOff val="50000"/>
                  </a:schemeClr>
                </a:solidFill>
              </a:rPr>
              <a:t>short-tenure customers are more likely to churn. 0–12 months = 47.4%, while 49–72 months = 9.5%</a:t>
            </a:r>
            <a:endParaRPr lang="en-US" altLang="zh-CN" sz="1600" dirty="0">
              <a:solidFill>
                <a:schemeClr val="tx1">
                  <a:lumMod val="50000"/>
                  <a:lumOff val="50000"/>
                </a:schemeClr>
              </a:solidFill>
            </a:endParaRPr>
          </a:p>
        </p:txBody>
      </p:sp>
      <p:pic>
        <p:nvPicPr>
          <p:cNvPr id="3" name="图片 2" descr="eda_overview"/>
          <p:cNvPicPr>
            <a:picLocks noChangeAspect="1"/>
          </p:cNvPicPr>
          <p:nvPr/>
        </p:nvPicPr>
        <p:blipFill>
          <a:blip r:embed="rId3"/>
          <a:stretch>
            <a:fillRect/>
          </a:stretch>
        </p:blipFill>
        <p:spPr>
          <a:xfrm>
            <a:off x="467995" y="1997075"/>
            <a:ext cx="7102475" cy="47059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500"/>
                                        <p:tgtEl>
                                          <p:spTgt spid="9"/>
                                        </p:tgtEl>
                                      </p:cBhvr>
                                    </p:animEffect>
                                  </p:childTnLst>
                                </p:cTn>
                              </p:par>
                              <p:par>
                                <p:cTn id="8" presetID="63" presetClass="path" presetSubtype="0" decel="50000" fill="hold" nodeType="withEffect">
                                  <p:stCondLst>
                                    <p:cond delay="0"/>
                                  </p:stCondLst>
                                  <p:childTnLst>
                                    <p:animMotion origin="layout" path="M -0.01562 3.7037E-7 L 0.11081 3.7037E-7 " pathEditMode="relative" rAng="0" ptsTypes="AA">
                                      <p:cBhvr>
                                        <p:cTn id="9" dur="750" spd="-100000" fill="hold"/>
                                        <p:tgtEl>
                                          <p:spTgt spid="9"/>
                                        </p:tgtEl>
                                        <p:attrNameLst>
                                          <p:attrName>ppt_x</p:attrName>
                                          <p:attrName>ppt_y</p:attrName>
                                        </p:attrNameLst>
                                      </p:cBhvr>
                                      <p:rCtr x="6315" y="0"/>
                                    </p:animMotion>
                                  </p:childTnLst>
                                </p:cTn>
                              </p:par>
                              <p:par>
                                <p:cTn id="10" presetID="35" presetClass="path" presetSubtype="0" accel="50000" decel="50000" fill="hold" nodeType="withEffect">
                                  <p:stCondLst>
                                    <p:cond delay="750"/>
                                  </p:stCondLst>
                                  <p:childTnLst>
                                    <p:animMotion origin="layout" path="M -0.01562 3.7037E-7 L -2.29167E-6 3.7037E-7 " pathEditMode="relative" rAng="0" ptsTypes="AA">
                                      <p:cBhvr>
                                        <p:cTn id="11" dur="750" fill="hold"/>
                                        <p:tgtEl>
                                          <p:spTgt spid="9"/>
                                        </p:tgtEl>
                                        <p:attrNameLst>
                                          <p:attrName>ppt_x</p:attrName>
                                          <p:attrName>ppt_y</p:attrName>
                                        </p:attrNameLst>
                                      </p:cBhvr>
                                      <p:rCtr x="781" y="0"/>
                                    </p:animMotion>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750"/>
                                        <p:tgtEl>
                                          <p:spTgt spid="8"/>
                                        </p:tgtEl>
                                      </p:cBhvr>
                                    </p:animEffect>
                                  </p:childTnLst>
                                </p:cTn>
                              </p:par>
                              <p:par>
                                <p:cTn id="15" presetID="63" presetClass="path" presetSubtype="0" decel="50000" fill="hold" grpId="1" nodeType="withEffect">
                                  <p:stCondLst>
                                    <p:cond delay="0"/>
                                  </p:stCondLst>
                                  <p:childTnLst>
                                    <p:animMotion origin="layout" path="M -0.01562 3.7037E-7 L 0.11081 3.7037E-7 " pathEditMode="relative" rAng="0" ptsTypes="AA">
                                      <p:cBhvr>
                                        <p:cTn id="16" dur="750" spd="-100000" fill="hold"/>
                                        <p:tgtEl>
                                          <p:spTgt spid="8"/>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7 L -2.29167E-6 3.7037E-7 " pathEditMode="relative" rAng="0" ptsTypes="AA">
                                      <p:cBhvr>
                                        <p:cTn id="18" dur="750" fill="hold"/>
                                        <p:tgtEl>
                                          <p:spTgt spid="8"/>
                                        </p:tgtEl>
                                        <p:attrNameLst>
                                          <p:attrName>ppt_x</p:attrName>
                                          <p:attrName>ppt_y</p:attrName>
                                        </p:attrNameLst>
                                      </p:cBhvr>
                                      <p:rCtr x="781" y="0"/>
                                    </p:animMotion>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childTnLst>
                                </p:cTn>
                              </p:par>
                              <p:par>
                                <p:cTn id="22" presetID="63" presetClass="path" presetSubtype="0" decel="30000" fill="hold" nodeType="withEffect">
                                  <p:stCondLst>
                                    <p:cond delay="0"/>
                                  </p:stCondLst>
                                  <p:childTnLst>
                                    <p:animMotion origin="layout" path="M -0.21042 -0.24653 L 5E-6 3.7037E-7 " pathEditMode="relative" rAng="0" ptsTypes="AA">
                                      <p:cBhvr>
                                        <p:cTn id="23" dur="1000" fill="hold"/>
                                        <p:tgtEl>
                                          <p:spTgt spid="4"/>
                                        </p:tgtEl>
                                        <p:attrNameLst>
                                          <p:attrName>ppt_x</p:attrName>
                                          <p:attrName>ppt_y</p:attrName>
                                        </p:attrNameLst>
                                      </p:cBhvr>
                                      <p:rCtr x="10521" y="12315"/>
                                    </p:animMotion>
                                  </p:childTnLst>
                                </p:cTn>
                              </p:par>
                              <p:par>
                                <p:cTn id="24" presetID="6" presetClass="emph" presetSubtype="0" decel="30000" fill="hold" nodeType="withEffect">
                                  <p:stCondLst>
                                    <p:cond delay="0"/>
                                  </p:stCondLst>
                                  <p:childTnLst>
                                    <p:animScale>
                                      <p:cBhvr>
                                        <p:cTn id="25" dur="1000" fill="hold"/>
                                        <p:tgtEl>
                                          <p:spTgt spid="4"/>
                                        </p:tgtEl>
                                      </p:cBhvr>
                                      <p:by x="150000" y="150000"/>
                                      <p:from x="288177" y="69330"/>
                                      <p:to x="100000" y="100000"/>
                                    </p:animScale>
                                  </p:childTnLst>
                                </p:cTn>
                              </p:par>
                              <p:par>
                                <p:cTn id="26" presetID="10" presetClass="entr" presetSubtype="0" fill="hold" grpId="0" nodeType="withEffect">
                                  <p:stCondLst>
                                    <p:cond delay="175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8" grpId="2"/>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3429000"/>
            <a:ext cx="1472914" cy="0"/>
          </a:xfrm>
          <a:prstGeom prst="line">
            <a:avLst/>
          </a:prstGeom>
          <a:ln w="25400">
            <a:gradFill flip="none" rotWithShape="1">
              <a:gsLst>
                <a:gs pos="0">
                  <a:schemeClr val="accent1">
                    <a:lumMod val="20000"/>
                    <a:lumOff val="80000"/>
                    <a:alpha val="0"/>
                  </a:schemeClr>
                </a:gs>
                <a:gs pos="51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
            </p:custDataLst>
          </p:nvPr>
        </p:nvCxnSpPr>
        <p:spPr>
          <a:xfrm>
            <a:off x="2961975"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0752730" y="3429000"/>
            <a:ext cx="1439270" cy="0"/>
          </a:xfrm>
          <a:prstGeom prst="line">
            <a:avLst/>
          </a:prstGeom>
          <a:ln w="25400">
            <a:gradFill flip="none" rotWithShape="1">
              <a:gsLst>
                <a:gs pos="0">
                  <a:schemeClr val="accent1">
                    <a:lumMod val="20000"/>
                    <a:lumOff val="80000"/>
                    <a:alpha val="0"/>
                  </a:schemeClr>
                </a:gs>
                <a:gs pos="51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2"/>
            </p:custDataLst>
          </p:nvPr>
        </p:nvSpPr>
        <p:spPr>
          <a:xfrm>
            <a:off x="3320415" y="1356995"/>
            <a:ext cx="3134360" cy="1329690"/>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custDataLst>
              <p:tags r:id="rId3"/>
            </p:custDataLst>
          </p:nvPr>
        </p:nvGrpSpPr>
        <p:grpSpPr>
          <a:xfrm>
            <a:off x="4128126" y="2750820"/>
            <a:ext cx="1314178" cy="1314176"/>
            <a:chOff x="4128126" y="2750820"/>
            <a:chExt cx="1314178" cy="1314176"/>
          </a:xfrm>
        </p:grpSpPr>
        <p:sp>
          <p:nvSpPr>
            <p:cNvPr id="32" name="椭圆 31"/>
            <p:cNvSpPr/>
            <p:nvPr>
              <p:custDataLst>
                <p:tags r:id="rId4"/>
              </p:custDataLst>
            </p:nvPr>
          </p:nvSpPr>
          <p:spPr>
            <a:xfrm>
              <a:off x="4128126"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custDataLst>
                <p:tags r:id="rId5"/>
              </p:custDataLst>
            </p:nvPr>
          </p:nvSpPr>
          <p:spPr>
            <a:xfrm>
              <a:off x="4516474"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custDataLst>
              <p:tags r:id="rId7"/>
            </p:custDataLst>
          </p:nvPr>
        </p:nvSpPr>
        <p:spPr>
          <a:xfrm>
            <a:off x="4331051"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2</a:t>
            </a:r>
            <a:endParaRPr lang="zh-CN" altLang="en-US" sz="2400" dirty="0">
              <a:solidFill>
                <a:schemeClr val="accent2"/>
              </a:solidFill>
            </a:endParaRPr>
          </a:p>
        </p:txBody>
      </p:sp>
      <p:sp>
        <p:nvSpPr>
          <p:cNvPr id="44" name="矩形 43"/>
          <p:cNvSpPr/>
          <p:nvPr>
            <p:custDataLst>
              <p:tags r:id="rId8"/>
            </p:custDataLst>
          </p:nvPr>
        </p:nvSpPr>
        <p:spPr>
          <a:xfrm>
            <a:off x="3528900" y="1590027"/>
            <a:ext cx="2738156" cy="1170305"/>
          </a:xfrm>
          <a:prstGeom prst="rect">
            <a:avLst/>
          </a:prstGeom>
        </p:spPr>
        <p:txBody>
          <a:bodyPr wrap="square">
            <a:spAutoFit/>
          </a:bodyPr>
          <a:lstStyle/>
          <a:p>
            <a:pPr>
              <a:lnSpc>
                <a:spcPct val="130000"/>
              </a:lnSpc>
            </a:pPr>
            <a:r>
              <a:rPr lang="en-US" altLang="zh-CN" dirty="0">
                <a:solidFill>
                  <a:schemeClr val="tx1">
                    <a:lumMod val="50000"/>
                    <a:lumOff val="50000"/>
                  </a:schemeClr>
                </a:solidFill>
              </a:rPr>
              <a:t>Convert TotalCharges to numeric </a:t>
            </a:r>
            <a:endParaRPr lang="en-US" altLang="zh-CN" dirty="0">
              <a:solidFill>
                <a:schemeClr val="tx1">
                  <a:lumMod val="50000"/>
                  <a:lumOff val="50000"/>
                </a:schemeClr>
              </a:solidFill>
            </a:endParaRPr>
          </a:p>
          <a:p>
            <a:pPr>
              <a:lnSpc>
                <a:spcPct val="130000"/>
              </a:lnSpc>
            </a:pPr>
            <a:endParaRPr lang="en-US" altLang="zh-CN" dirty="0">
              <a:solidFill>
                <a:schemeClr val="tx1">
                  <a:lumMod val="50000"/>
                  <a:lumOff val="50000"/>
                </a:schemeClr>
              </a:solidFill>
            </a:endParaRPr>
          </a:p>
        </p:txBody>
      </p:sp>
      <p:sp>
        <p:nvSpPr>
          <p:cNvPr id="12" name="矩形 11"/>
          <p:cNvSpPr/>
          <p:nvPr>
            <p:custDataLst>
              <p:tags r:id="rId9"/>
            </p:custDataLst>
          </p:nvPr>
        </p:nvSpPr>
        <p:spPr>
          <a:xfrm>
            <a:off x="8451850" y="1120775"/>
            <a:ext cx="2899410" cy="1418590"/>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custDataLst>
              <p:tags r:id="rId10"/>
            </p:custDataLst>
          </p:nvPr>
        </p:nvGrpSpPr>
        <p:grpSpPr>
          <a:xfrm>
            <a:off x="9438552" y="2750820"/>
            <a:ext cx="1314178" cy="1314176"/>
            <a:chOff x="9438552" y="2750820"/>
            <a:chExt cx="1314178" cy="1314176"/>
          </a:xfrm>
        </p:grpSpPr>
        <p:sp>
          <p:nvSpPr>
            <p:cNvPr id="34" name="椭圆 33"/>
            <p:cNvSpPr/>
            <p:nvPr>
              <p:custDataLst>
                <p:tags r:id="rId11"/>
              </p:custDataLst>
            </p:nvPr>
          </p:nvSpPr>
          <p:spPr>
            <a:xfrm>
              <a:off x="9438552"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2"/>
              </p:custDataLst>
            </p:nvPr>
          </p:nvSpPr>
          <p:spPr>
            <a:xfrm>
              <a:off x="9826897"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文本框 40"/>
          <p:cNvSpPr txBox="1"/>
          <p:nvPr>
            <p:custDataLst>
              <p:tags r:id="rId13"/>
            </p:custDataLst>
          </p:nvPr>
        </p:nvSpPr>
        <p:spPr>
          <a:xfrm>
            <a:off x="9641474"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4</a:t>
            </a:r>
            <a:endParaRPr lang="zh-CN" altLang="en-US" sz="2400" dirty="0">
              <a:solidFill>
                <a:schemeClr val="accent2"/>
              </a:solidFill>
            </a:endParaRPr>
          </a:p>
        </p:txBody>
      </p:sp>
      <p:sp>
        <p:nvSpPr>
          <p:cNvPr id="45" name="矩形 44"/>
          <p:cNvSpPr/>
          <p:nvPr>
            <p:custDataLst>
              <p:tags r:id="rId14"/>
            </p:custDataLst>
          </p:nvPr>
        </p:nvSpPr>
        <p:spPr>
          <a:xfrm>
            <a:off x="8613538" y="1282687"/>
            <a:ext cx="2738156" cy="1170305"/>
          </a:xfrm>
          <a:prstGeom prst="rect">
            <a:avLst/>
          </a:prstGeom>
        </p:spPr>
        <p:txBody>
          <a:bodyPr wrap="square">
            <a:spAutoFit/>
          </a:bodyPr>
          <a:lstStyle/>
          <a:p>
            <a:pPr>
              <a:lnSpc>
                <a:spcPct val="130000"/>
              </a:lnSpc>
            </a:pPr>
            <a:r>
              <a:rPr lang="en-US" altLang="zh-CN" dirty="0">
                <a:solidFill>
                  <a:schemeClr val="tx1">
                    <a:lumMod val="50000"/>
                    <a:lumOff val="50000"/>
                  </a:schemeClr>
                </a:solidFill>
              </a:rPr>
              <a:t>Drop customerID, because it is only an identifier</a:t>
            </a:r>
            <a:endParaRPr lang="en-US" altLang="zh-CN" dirty="0">
              <a:solidFill>
                <a:schemeClr val="tx1">
                  <a:lumMod val="50000"/>
                  <a:lumOff val="50000"/>
                </a:schemeClr>
              </a:solidFill>
            </a:endParaRPr>
          </a:p>
        </p:txBody>
      </p:sp>
      <p:sp>
        <p:nvSpPr>
          <p:cNvPr id="6" name="矩形 5"/>
          <p:cNvSpPr/>
          <p:nvPr>
            <p:custDataLst>
              <p:tags r:id="rId15"/>
            </p:custDataLst>
          </p:nvPr>
        </p:nvSpPr>
        <p:spPr>
          <a:xfrm>
            <a:off x="939800" y="4307205"/>
            <a:ext cx="2476500" cy="1091565"/>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custDataLst>
              <p:tags r:id="rId16"/>
            </p:custDataLst>
          </p:nvPr>
        </p:nvGrpSpPr>
        <p:grpSpPr>
          <a:xfrm>
            <a:off x="1472914" y="2750820"/>
            <a:ext cx="1314178" cy="1314176"/>
            <a:chOff x="1472914" y="2750820"/>
            <a:chExt cx="1314178" cy="1314176"/>
          </a:xfrm>
        </p:grpSpPr>
        <p:sp>
          <p:nvSpPr>
            <p:cNvPr id="4" name="椭圆 3"/>
            <p:cNvSpPr/>
            <p:nvPr>
              <p:custDataLst>
                <p:tags r:id="rId17"/>
              </p:custDataLst>
            </p:nvPr>
          </p:nvSpPr>
          <p:spPr>
            <a:xfrm>
              <a:off x="1472914"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8"/>
              </p:custDataLst>
            </p:nvPr>
          </p:nvSpPr>
          <p:spPr>
            <a:xfrm>
              <a:off x="1861262"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p:cNvSpPr txBox="1"/>
          <p:nvPr>
            <p:custDataLst>
              <p:tags r:id="rId19"/>
            </p:custDataLst>
          </p:nvPr>
        </p:nvSpPr>
        <p:spPr>
          <a:xfrm>
            <a:off x="1713748" y="3208519"/>
            <a:ext cx="832508" cy="398780"/>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000" dirty="0">
                <a:solidFill>
                  <a:schemeClr val="accent2"/>
                </a:solidFill>
              </a:rPr>
              <a:t>1</a:t>
            </a:r>
            <a:endParaRPr lang="en-US" altLang="zh-CN" sz="2000" dirty="0">
              <a:solidFill>
                <a:schemeClr val="accent2"/>
              </a:solidFill>
            </a:endParaRPr>
          </a:p>
        </p:txBody>
      </p:sp>
      <p:sp>
        <p:nvSpPr>
          <p:cNvPr id="46" name="矩形 45"/>
          <p:cNvSpPr/>
          <p:nvPr>
            <p:custDataLst>
              <p:tags r:id="rId20"/>
            </p:custDataLst>
          </p:nvPr>
        </p:nvSpPr>
        <p:spPr>
          <a:xfrm>
            <a:off x="968707" y="4241809"/>
            <a:ext cx="2738156" cy="1170305"/>
          </a:xfrm>
          <a:prstGeom prst="rect">
            <a:avLst/>
          </a:prstGeom>
        </p:spPr>
        <p:txBody>
          <a:bodyPr wrap="square">
            <a:spAutoFit/>
          </a:bodyPr>
          <a:lstStyle/>
          <a:p>
            <a:pPr>
              <a:lnSpc>
                <a:spcPct val="130000"/>
              </a:lnSpc>
            </a:pPr>
            <a:r>
              <a:rPr lang="en-US" altLang="zh-CN" dirty="0">
                <a:solidFill>
                  <a:schemeClr val="tx1">
                    <a:lumMod val="50000"/>
                    <a:lumOff val="50000"/>
                  </a:schemeClr>
                </a:solidFill>
              </a:rPr>
              <a:t>Load raw telecom churn data 7043 samples</a:t>
            </a:r>
            <a:endParaRPr lang="en-US" altLang="zh-CN" dirty="0">
              <a:solidFill>
                <a:schemeClr val="tx1">
                  <a:lumMod val="50000"/>
                  <a:lumOff val="50000"/>
                </a:schemeClr>
              </a:solidFill>
            </a:endParaRPr>
          </a:p>
        </p:txBody>
      </p:sp>
      <p:sp>
        <p:nvSpPr>
          <p:cNvPr id="11" name="矩形 10"/>
          <p:cNvSpPr/>
          <p:nvPr>
            <p:custDataLst>
              <p:tags r:id="rId21"/>
            </p:custDataLst>
          </p:nvPr>
        </p:nvSpPr>
        <p:spPr>
          <a:xfrm>
            <a:off x="5789930" y="4491355"/>
            <a:ext cx="2936240" cy="1091565"/>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2"/>
            </p:custDataLst>
          </p:nvPr>
        </p:nvGrpSpPr>
        <p:grpSpPr>
          <a:xfrm>
            <a:off x="6783338" y="2750820"/>
            <a:ext cx="1314178" cy="1314176"/>
            <a:chOff x="6783338" y="2750820"/>
            <a:chExt cx="1314178" cy="1314176"/>
          </a:xfrm>
        </p:grpSpPr>
        <p:sp>
          <p:nvSpPr>
            <p:cNvPr id="33" name="椭圆 32"/>
            <p:cNvSpPr/>
            <p:nvPr>
              <p:custDataLst>
                <p:tags r:id="rId23"/>
              </p:custDataLst>
            </p:nvPr>
          </p:nvSpPr>
          <p:spPr>
            <a:xfrm>
              <a:off x="6783338"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24"/>
              </p:custDataLst>
            </p:nvPr>
          </p:nvSpPr>
          <p:spPr>
            <a:xfrm>
              <a:off x="7171688"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p:cNvSpPr txBox="1"/>
          <p:nvPr>
            <p:custDataLst>
              <p:tags r:id="rId25"/>
            </p:custDataLst>
          </p:nvPr>
        </p:nvSpPr>
        <p:spPr>
          <a:xfrm>
            <a:off x="6986264"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3</a:t>
            </a:r>
            <a:endParaRPr lang="zh-CN" altLang="en-US" sz="2400" dirty="0">
              <a:solidFill>
                <a:schemeClr val="accent2"/>
              </a:solidFill>
            </a:endParaRPr>
          </a:p>
        </p:txBody>
      </p:sp>
      <p:sp>
        <p:nvSpPr>
          <p:cNvPr id="47" name="矩形 46"/>
          <p:cNvSpPr/>
          <p:nvPr>
            <p:custDataLst>
              <p:tags r:id="rId26"/>
            </p:custDataLst>
          </p:nvPr>
        </p:nvSpPr>
        <p:spPr>
          <a:xfrm>
            <a:off x="6026785" y="4403090"/>
            <a:ext cx="2828290" cy="1356360"/>
          </a:xfrm>
          <a:prstGeom prst="rect">
            <a:avLst/>
          </a:prstGeom>
        </p:spPr>
        <p:txBody>
          <a:bodyPr wrap="square">
            <a:noAutofit/>
          </a:bodyPr>
          <a:lstStyle/>
          <a:p>
            <a:pPr>
              <a:lnSpc>
                <a:spcPct val="130000"/>
              </a:lnSpc>
            </a:pPr>
            <a:r>
              <a:rPr lang="en-US" altLang="zh-CN" dirty="0">
                <a:solidFill>
                  <a:schemeClr val="tx1">
                    <a:lumMod val="50000"/>
                    <a:lumOff val="50000"/>
                  </a:schemeClr>
                </a:solidFill>
              </a:rPr>
              <a:t>Remove 11 rows with missing TotalCharges, leaving 7032 samples</a:t>
            </a:r>
            <a:endParaRPr lang="en-US" altLang="zh-CN" dirty="0">
              <a:solidFill>
                <a:schemeClr val="tx1">
                  <a:lumMod val="50000"/>
                  <a:lumOff val="50000"/>
                </a:schemeClr>
              </a:solidFill>
            </a:endParaRPr>
          </a:p>
        </p:txBody>
      </p:sp>
      <p:sp>
        <p:nvSpPr>
          <p:cNvPr id="2" name="等腰三角形 1"/>
          <p:cNvSpPr/>
          <p:nvPr>
            <p:custDataLst>
              <p:tags r:id="rId27"/>
            </p:custDataLst>
          </p:nvPr>
        </p:nvSpPr>
        <p:spPr>
          <a:xfrm flipV="1">
            <a:off x="2069254" y="3871990"/>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custDataLst>
              <p:tags r:id="rId28"/>
            </p:custDataLst>
          </p:nvPr>
        </p:nvSpPr>
        <p:spPr>
          <a:xfrm flipV="1">
            <a:off x="7379680" y="3871990"/>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custDataLst>
              <p:tags r:id="rId29"/>
            </p:custDataLst>
          </p:nvPr>
        </p:nvSpPr>
        <p:spPr>
          <a:xfrm>
            <a:off x="4724467" y="2879499"/>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custDataLst>
              <p:tags r:id="rId30"/>
            </p:custDataLst>
          </p:nvPr>
        </p:nvSpPr>
        <p:spPr>
          <a:xfrm>
            <a:off x="10034890" y="2879499"/>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p:nvPr>
            <p:custDataLst>
              <p:tags r:id="rId31"/>
            </p:custDataLst>
          </p:nvPr>
        </p:nvCxnSpPr>
        <p:spPr>
          <a:xfrm>
            <a:off x="5617187"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32"/>
            </p:custDataLst>
          </p:nvPr>
        </p:nvCxnSpPr>
        <p:spPr>
          <a:xfrm>
            <a:off x="8272399"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320040" y="650240"/>
            <a:ext cx="3096895" cy="137096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Preprocessing Pipeline</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53" name="直接连接符 52"/>
          <p:cNvCxnSpPr/>
          <p:nvPr/>
        </p:nvCxnSpPr>
        <p:spPr>
          <a:xfrm>
            <a:off x="446517" y="2255830"/>
            <a:ext cx="522514" cy="0"/>
          </a:xfrm>
          <a:prstGeom prst="line">
            <a:avLst/>
          </a:prstGeom>
          <a:ln w="2540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778635" y="5963285"/>
            <a:ext cx="8771255" cy="521970"/>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2125980" y="6097270"/>
            <a:ext cx="8107045" cy="368300"/>
          </a:xfrm>
          <a:prstGeom prst="rect">
            <a:avLst/>
          </a:prstGeom>
          <a:noFill/>
        </p:spPr>
        <p:txBody>
          <a:bodyPr wrap="square" rtlCol="0">
            <a:spAutoFit/>
          </a:bodyPr>
          <a:p>
            <a:r>
              <a:rPr lang="en-US" altLang="zh-CN" b="1">
                <a:solidFill>
                  <a:schemeClr val="accent1"/>
                </a:solidFill>
                <a:uFillTx/>
              </a:rPr>
              <a:t>No data leakage</a:t>
            </a:r>
            <a:r>
              <a:rPr lang="en-US" altLang="zh-CN">
                <a:solidFill>
                  <a:schemeClr val="accent1"/>
                </a:solidFill>
                <a:uFillTx/>
              </a:rPr>
              <a:t>: </a:t>
            </a:r>
            <a:r>
              <a:rPr lang="en-US" altLang="zh-CN" i="1">
                <a:solidFill>
                  <a:schemeClr val="accent1"/>
                </a:solidFill>
                <a:uFillTx/>
              </a:rPr>
              <a:t>scaling is performed using training folds only.</a:t>
            </a:r>
            <a:endParaRPr lang="en-US" altLang="zh-CN" i="1">
              <a:solidFill>
                <a:schemeClr val="accent1"/>
              </a:solidFill>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750"/>
                                        <p:tgtEl>
                                          <p:spTgt spid="52"/>
                                        </p:tgtEl>
                                      </p:cBhvr>
                                    </p:animEffect>
                                  </p:childTnLst>
                                </p:cTn>
                              </p:par>
                              <p:par>
                                <p:cTn id="8" presetID="63" presetClass="path" presetSubtype="0" decel="50000" fill="hold" grpId="1" nodeType="withEffect">
                                  <p:stCondLst>
                                    <p:cond delay="0"/>
                                  </p:stCondLst>
                                  <p:childTnLst>
                                    <p:animMotion origin="layout" path="M -0.01562 3.7037E-7 L 0.11081 3.7037E-7 " pathEditMode="relative" rAng="0" ptsTypes="AA">
                                      <p:cBhvr>
                                        <p:cTn id="9" dur="750" spd="-100000" fill="hold"/>
                                        <p:tgtEl>
                                          <p:spTgt spid="52"/>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2 3.7037E-7 L -2.29167E-6 3.7037E-7 " pathEditMode="relative" rAng="0" ptsTypes="AA">
                                      <p:cBhvr>
                                        <p:cTn id="11" dur="750" fill="hold"/>
                                        <p:tgtEl>
                                          <p:spTgt spid="52"/>
                                        </p:tgtEl>
                                        <p:attrNameLst>
                                          <p:attrName>ppt_x</p:attrName>
                                          <p:attrName>ppt_y</p:attrName>
                                        </p:attrNameLst>
                                      </p:cBhvr>
                                      <p:rCtr x="781" y="0"/>
                                    </p:animMotion>
                                  </p:childTnLst>
                                </p:cTn>
                              </p:par>
                              <p:par>
                                <p:cTn id="12" presetID="22" presetClass="entr" presetSubtype="8" fill="hold" nodeType="with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wipe(left)">
                                      <p:cBhvr>
                                        <p:cTn id="14" dur="1500"/>
                                        <p:tgtEl>
                                          <p:spTgt spid="53"/>
                                        </p:tgtEl>
                                      </p:cBhvr>
                                    </p:animEffect>
                                  </p:childTnLst>
                                </p:cTn>
                              </p:par>
                              <p:par>
                                <p:cTn id="15" presetID="63" presetClass="path" presetSubtype="0" decel="50000" fill="hold" nodeType="withEffect">
                                  <p:stCondLst>
                                    <p:cond delay="0"/>
                                  </p:stCondLst>
                                  <p:childTnLst>
                                    <p:animMotion origin="layout" path="M -0.01562 3.7037E-7 L 0.11081 3.7037E-7 " pathEditMode="relative" rAng="0" ptsTypes="AA">
                                      <p:cBhvr>
                                        <p:cTn id="16" dur="750" spd="-100000" fill="hold"/>
                                        <p:tgtEl>
                                          <p:spTgt spid="53"/>
                                        </p:tgtEl>
                                        <p:attrNameLst>
                                          <p:attrName>ppt_x</p:attrName>
                                          <p:attrName>ppt_y</p:attrName>
                                        </p:attrNameLst>
                                      </p:cBhvr>
                                      <p:rCtr x="6315" y="0"/>
                                    </p:animMotion>
                                  </p:childTnLst>
                                </p:cTn>
                              </p:par>
                              <p:par>
                                <p:cTn id="17" presetID="35" presetClass="path" presetSubtype="0" accel="50000" decel="50000" fill="hold" nodeType="withEffect">
                                  <p:stCondLst>
                                    <p:cond delay="750"/>
                                  </p:stCondLst>
                                  <p:childTnLst>
                                    <p:animMotion origin="layout" path="M -0.01562 3.7037E-7 L -2.29167E-6 3.7037E-7 " pathEditMode="relative" rAng="0" ptsTypes="AA">
                                      <p:cBhvr>
                                        <p:cTn id="18" dur="750" fill="hold"/>
                                        <p:tgtEl>
                                          <p:spTgt spid="53"/>
                                        </p:tgtEl>
                                        <p:attrNameLst>
                                          <p:attrName>ppt_x</p:attrName>
                                          <p:attrName>ppt_y</p:attrName>
                                        </p:attrNameLst>
                                      </p:cBhvr>
                                      <p:rCtr x="781" y="0"/>
                                    </p:animMotion>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750"/>
                                        <p:tgtEl>
                                          <p:spTgt spid="5"/>
                                        </p:tgtEl>
                                      </p:cBhvr>
                                    </p:animEffect>
                                  </p:childTnLst>
                                </p:cTn>
                              </p:par>
                              <p:par>
                                <p:cTn id="22" presetID="63" presetClass="path" presetSubtype="0" decel="50000" fill="hold" nodeType="withEffect">
                                  <p:stCondLst>
                                    <p:cond delay="0"/>
                                  </p:stCondLst>
                                  <p:childTnLst>
                                    <p:animMotion origin="layout" path="M 0.01523 3.7037E-7 L -0.10885 3.7037E-7 " pathEditMode="relative" rAng="0" ptsTypes="AA">
                                      <p:cBhvr>
                                        <p:cTn id="23" dur="750" spd="-100000" fill="hold"/>
                                        <p:tgtEl>
                                          <p:spTgt spid="5"/>
                                        </p:tgtEl>
                                        <p:attrNameLst>
                                          <p:attrName>ppt_x</p:attrName>
                                          <p:attrName>ppt_y</p:attrName>
                                        </p:attrNameLst>
                                      </p:cBhvr>
                                      <p:rCtr x="-6211" y="0"/>
                                    </p:animMotion>
                                  </p:childTnLst>
                                </p:cTn>
                              </p:par>
                              <p:par>
                                <p:cTn id="24" presetID="35" presetClass="path" presetSubtype="0" accel="50000" decel="50000" fill="hold" nodeType="withEffect">
                                  <p:stCondLst>
                                    <p:cond delay="750"/>
                                  </p:stCondLst>
                                  <p:childTnLst>
                                    <p:animMotion origin="layout" path="M 0.01601 3.7037E-7 L 8.33333E-7 3.7037E-7 " pathEditMode="relative" rAng="0" ptsTypes="AA">
                                      <p:cBhvr>
                                        <p:cTn id="25" dur="750" fill="hold"/>
                                        <p:tgtEl>
                                          <p:spTgt spid="5"/>
                                        </p:tgtEl>
                                        <p:attrNameLst>
                                          <p:attrName>ppt_x</p:attrName>
                                          <p:attrName>ppt_y</p:attrName>
                                        </p:attrNameLst>
                                      </p:cBhvr>
                                      <p:rCtr x="-807" y="0"/>
                                    </p:animMotion>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750"/>
                                        <p:tgtEl>
                                          <p:spTgt spid="8"/>
                                        </p:tgtEl>
                                      </p:cBhvr>
                                    </p:animEffect>
                                  </p:childTnLst>
                                </p:cTn>
                              </p:par>
                              <p:par>
                                <p:cTn id="29" presetID="42" presetClass="path" presetSubtype="0" decel="30000" fill="hold" nodeType="withEffect">
                                  <p:stCondLst>
                                    <p:cond delay="0"/>
                                  </p:stCondLst>
                                  <p:childTnLst>
                                    <p:animMotion origin="layout" path="M 3.125E-6 -0.03982 L 3.125E-6 0.14815 " pathEditMode="relative" rAng="0" ptsTypes="AA">
                                      <p:cBhvr>
                                        <p:cTn id="30" dur="750" spd="-100000" fill="hold"/>
                                        <p:tgtEl>
                                          <p:spTgt spid="8"/>
                                        </p:tgtEl>
                                        <p:attrNameLst>
                                          <p:attrName>ppt_x</p:attrName>
                                          <p:attrName>ppt_y</p:attrName>
                                        </p:attrNameLst>
                                      </p:cBhvr>
                                      <p:rCtr x="0" y="9398"/>
                                    </p:animMotion>
                                  </p:childTnLst>
                                </p:cTn>
                              </p:par>
                              <p:par>
                                <p:cTn id="31" presetID="42" presetClass="path" presetSubtype="0" accel="30000" decel="30000" fill="hold" nodeType="withEffect">
                                  <p:stCondLst>
                                    <p:cond delay="750"/>
                                  </p:stCondLst>
                                  <p:childTnLst>
                                    <p:animMotion origin="layout" path="M 3.125E-6 -0.03982 L 3.125E-6 3.7037E-7 " pathEditMode="relative" rAng="0" ptsTypes="AA">
                                      <p:cBhvr>
                                        <p:cTn id="32" dur="750" fill="hold"/>
                                        <p:tgtEl>
                                          <p:spTgt spid="8"/>
                                        </p:tgtEl>
                                        <p:attrNameLst>
                                          <p:attrName>ppt_x</p:attrName>
                                          <p:attrName>ppt_y</p:attrName>
                                        </p:attrNameLst>
                                      </p:cBhvr>
                                      <p:rCtr x="0" y="1991"/>
                                    </p:animMotion>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750"/>
                                        <p:tgtEl>
                                          <p:spTgt spid="9"/>
                                        </p:tgtEl>
                                      </p:cBhvr>
                                    </p:animEffect>
                                  </p:childTnLst>
                                </p:cTn>
                              </p:par>
                              <p:par>
                                <p:cTn id="36" presetID="64" presetClass="path" presetSubtype="0" decel="30000" fill="hold" nodeType="withEffect">
                                  <p:stCondLst>
                                    <p:cond delay="0"/>
                                  </p:stCondLst>
                                  <p:childTnLst>
                                    <p:animMotion origin="layout" path="M -4.58333E-6 0.03889 L -4.58333E-6 -0.14815 " pathEditMode="relative" rAng="0" ptsTypes="AA">
                                      <p:cBhvr>
                                        <p:cTn id="37" dur="750" spd="-100000" fill="hold"/>
                                        <p:tgtEl>
                                          <p:spTgt spid="9"/>
                                        </p:tgtEl>
                                        <p:attrNameLst>
                                          <p:attrName>ppt_x</p:attrName>
                                          <p:attrName>ppt_y</p:attrName>
                                        </p:attrNameLst>
                                      </p:cBhvr>
                                      <p:rCtr x="0" y="-9352"/>
                                    </p:animMotion>
                                  </p:childTnLst>
                                </p:cTn>
                              </p:par>
                              <p:par>
                                <p:cTn id="38" presetID="64" presetClass="path" presetSubtype="0" accel="30000" decel="30000" fill="hold" nodeType="withEffect">
                                  <p:stCondLst>
                                    <p:cond delay="750"/>
                                  </p:stCondLst>
                                  <p:childTnLst>
                                    <p:animMotion origin="layout" path="M -4.58333E-6 0.03843 L -4.58333E-6 3.7037E-7 " pathEditMode="relative" rAng="0" ptsTypes="AA">
                                      <p:cBhvr>
                                        <p:cTn id="39" dur="750" fill="hold"/>
                                        <p:tgtEl>
                                          <p:spTgt spid="9"/>
                                        </p:tgtEl>
                                        <p:attrNameLst>
                                          <p:attrName>ppt_x</p:attrName>
                                          <p:attrName>ppt_y</p:attrName>
                                        </p:attrNameLst>
                                      </p:cBhvr>
                                      <p:rCtr x="0" y="-1921"/>
                                    </p:animMotion>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750"/>
                                        <p:tgtEl>
                                          <p:spTgt spid="10"/>
                                        </p:tgtEl>
                                      </p:cBhvr>
                                    </p:animEffect>
                                  </p:childTnLst>
                                </p:cTn>
                              </p:par>
                              <p:par>
                                <p:cTn id="43" presetID="63" presetClass="path" presetSubtype="0" decel="50000" fill="hold" nodeType="withEffect">
                                  <p:stCondLst>
                                    <p:cond delay="0"/>
                                  </p:stCondLst>
                                  <p:childTnLst>
                                    <p:animMotion origin="layout" path="M -0.01562 3.7037E-7 L 0.11081 3.7037E-7 " pathEditMode="relative" rAng="0" ptsTypes="AA">
                                      <p:cBhvr>
                                        <p:cTn id="44" dur="750" spd="-100000" fill="hold"/>
                                        <p:tgtEl>
                                          <p:spTgt spid="10"/>
                                        </p:tgtEl>
                                        <p:attrNameLst>
                                          <p:attrName>ppt_x</p:attrName>
                                          <p:attrName>ppt_y</p:attrName>
                                        </p:attrNameLst>
                                      </p:cBhvr>
                                      <p:rCtr x="6315" y="0"/>
                                    </p:animMotion>
                                  </p:childTnLst>
                                </p:cTn>
                              </p:par>
                              <p:par>
                                <p:cTn id="45" presetID="35" presetClass="path" presetSubtype="0" accel="50000" decel="50000" fill="hold" nodeType="withEffect">
                                  <p:stCondLst>
                                    <p:cond delay="750"/>
                                  </p:stCondLst>
                                  <p:childTnLst>
                                    <p:animMotion origin="layout" path="M -0.01562 3.7037E-7 L -2.29167E-6 3.7037E-7 " pathEditMode="relative" rAng="0" ptsTypes="AA">
                                      <p:cBhvr>
                                        <p:cTn id="46" dur="750" fill="hold"/>
                                        <p:tgtEl>
                                          <p:spTgt spid="10"/>
                                        </p:tgtEl>
                                        <p:attrNameLst>
                                          <p:attrName>ppt_x</p:attrName>
                                          <p:attrName>ppt_y</p:attrName>
                                        </p:attrNameLst>
                                      </p:cBhvr>
                                      <p:rCtr x="781" y="0"/>
                                    </p:animMotion>
                                  </p:childTnLst>
                                </p:cTn>
                              </p:par>
                              <p:par>
                                <p:cTn id="47" presetID="53" presetClass="entr" presetSubtype="16" fill="hold" grpId="0" nodeType="withEffect">
                                  <p:stCondLst>
                                    <p:cond delay="750"/>
                                  </p:stCondLst>
                                  <p:childTnLst>
                                    <p:set>
                                      <p:cBhvr>
                                        <p:cTn id="48" dur="1" fill="hold">
                                          <p:stCondLst>
                                            <p:cond delay="0"/>
                                          </p:stCondLst>
                                        </p:cTn>
                                        <p:tgtEl>
                                          <p:spTgt spid="38"/>
                                        </p:tgtEl>
                                        <p:attrNameLst>
                                          <p:attrName>style.visibility</p:attrName>
                                        </p:attrNameLst>
                                      </p:cBhvr>
                                      <p:to>
                                        <p:strVal val="visible"/>
                                      </p:to>
                                    </p:set>
                                    <p:anim calcmode="lin" valueType="num">
                                      <p:cBhvr>
                                        <p:cTn id="49" dur="750" fill="hold"/>
                                        <p:tgtEl>
                                          <p:spTgt spid="38"/>
                                        </p:tgtEl>
                                        <p:attrNameLst>
                                          <p:attrName>ppt_w</p:attrName>
                                        </p:attrNameLst>
                                      </p:cBhvr>
                                      <p:tavLst>
                                        <p:tav tm="0">
                                          <p:val>
                                            <p:fltVal val="0"/>
                                          </p:val>
                                        </p:tav>
                                        <p:tav tm="100000">
                                          <p:val>
                                            <p:strVal val="#ppt_w"/>
                                          </p:val>
                                        </p:tav>
                                      </p:tavLst>
                                    </p:anim>
                                    <p:anim calcmode="lin" valueType="num">
                                      <p:cBhvr>
                                        <p:cTn id="50" dur="750" fill="hold"/>
                                        <p:tgtEl>
                                          <p:spTgt spid="38"/>
                                        </p:tgtEl>
                                        <p:attrNameLst>
                                          <p:attrName>ppt_h</p:attrName>
                                        </p:attrNameLst>
                                      </p:cBhvr>
                                      <p:tavLst>
                                        <p:tav tm="0">
                                          <p:val>
                                            <p:fltVal val="0"/>
                                          </p:val>
                                        </p:tav>
                                        <p:tav tm="100000">
                                          <p:val>
                                            <p:strVal val="#ppt_h"/>
                                          </p:val>
                                        </p:tav>
                                      </p:tavLst>
                                    </p:anim>
                                    <p:animEffect transition="in" filter="fade">
                                      <p:cBhvr>
                                        <p:cTn id="51" dur="750"/>
                                        <p:tgtEl>
                                          <p:spTgt spid="38"/>
                                        </p:tgtEl>
                                      </p:cBhvr>
                                    </p:animEffect>
                                  </p:childTnLst>
                                </p:cTn>
                              </p:par>
                              <p:par>
                                <p:cTn id="52" presetID="53" presetClass="entr" presetSubtype="16" fill="hold" grpId="0" nodeType="withEffect">
                                  <p:stCondLst>
                                    <p:cond delay="750"/>
                                  </p:stCondLst>
                                  <p:childTnLst>
                                    <p:set>
                                      <p:cBhvr>
                                        <p:cTn id="53" dur="1" fill="hold">
                                          <p:stCondLst>
                                            <p:cond delay="0"/>
                                          </p:stCondLst>
                                        </p:cTn>
                                        <p:tgtEl>
                                          <p:spTgt spid="39"/>
                                        </p:tgtEl>
                                        <p:attrNameLst>
                                          <p:attrName>style.visibility</p:attrName>
                                        </p:attrNameLst>
                                      </p:cBhvr>
                                      <p:to>
                                        <p:strVal val="visible"/>
                                      </p:to>
                                    </p:set>
                                    <p:anim calcmode="lin" valueType="num">
                                      <p:cBhvr>
                                        <p:cTn id="54" dur="750" fill="hold"/>
                                        <p:tgtEl>
                                          <p:spTgt spid="39"/>
                                        </p:tgtEl>
                                        <p:attrNameLst>
                                          <p:attrName>ppt_w</p:attrName>
                                        </p:attrNameLst>
                                      </p:cBhvr>
                                      <p:tavLst>
                                        <p:tav tm="0">
                                          <p:val>
                                            <p:fltVal val="0"/>
                                          </p:val>
                                        </p:tav>
                                        <p:tav tm="100000">
                                          <p:val>
                                            <p:strVal val="#ppt_w"/>
                                          </p:val>
                                        </p:tav>
                                      </p:tavLst>
                                    </p:anim>
                                    <p:anim calcmode="lin" valueType="num">
                                      <p:cBhvr>
                                        <p:cTn id="55" dur="750" fill="hold"/>
                                        <p:tgtEl>
                                          <p:spTgt spid="39"/>
                                        </p:tgtEl>
                                        <p:attrNameLst>
                                          <p:attrName>ppt_h</p:attrName>
                                        </p:attrNameLst>
                                      </p:cBhvr>
                                      <p:tavLst>
                                        <p:tav tm="0">
                                          <p:val>
                                            <p:fltVal val="0"/>
                                          </p:val>
                                        </p:tav>
                                        <p:tav tm="100000">
                                          <p:val>
                                            <p:strVal val="#ppt_h"/>
                                          </p:val>
                                        </p:tav>
                                      </p:tavLst>
                                    </p:anim>
                                    <p:animEffect transition="in" filter="fade">
                                      <p:cBhvr>
                                        <p:cTn id="56" dur="750"/>
                                        <p:tgtEl>
                                          <p:spTgt spid="39"/>
                                        </p:tgtEl>
                                      </p:cBhvr>
                                    </p:animEffect>
                                  </p:childTnLst>
                                </p:cTn>
                              </p:par>
                              <p:par>
                                <p:cTn id="57" presetID="53" presetClass="entr" presetSubtype="16" fill="hold" grpId="0" nodeType="withEffect">
                                  <p:stCondLst>
                                    <p:cond delay="750"/>
                                  </p:stCondLst>
                                  <p:childTnLst>
                                    <p:set>
                                      <p:cBhvr>
                                        <p:cTn id="58" dur="1" fill="hold">
                                          <p:stCondLst>
                                            <p:cond delay="0"/>
                                          </p:stCondLst>
                                        </p:cTn>
                                        <p:tgtEl>
                                          <p:spTgt spid="40"/>
                                        </p:tgtEl>
                                        <p:attrNameLst>
                                          <p:attrName>style.visibility</p:attrName>
                                        </p:attrNameLst>
                                      </p:cBhvr>
                                      <p:to>
                                        <p:strVal val="visible"/>
                                      </p:to>
                                    </p:set>
                                    <p:anim calcmode="lin" valueType="num">
                                      <p:cBhvr>
                                        <p:cTn id="59" dur="750" fill="hold"/>
                                        <p:tgtEl>
                                          <p:spTgt spid="40"/>
                                        </p:tgtEl>
                                        <p:attrNameLst>
                                          <p:attrName>ppt_w</p:attrName>
                                        </p:attrNameLst>
                                      </p:cBhvr>
                                      <p:tavLst>
                                        <p:tav tm="0">
                                          <p:val>
                                            <p:fltVal val="0"/>
                                          </p:val>
                                        </p:tav>
                                        <p:tav tm="100000">
                                          <p:val>
                                            <p:strVal val="#ppt_w"/>
                                          </p:val>
                                        </p:tav>
                                      </p:tavLst>
                                    </p:anim>
                                    <p:anim calcmode="lin" valueType="num">
                                      <p:cBhvr>
                                        <p:cTn id="60" dur="750" fill="hold"/>
                                        <p:tgtEl>
                                          <p:spTgt spid="40"/>
                                        </p:tgtEl>
                                        <p:attrNameLst>
                                          <p:attrName>ppt_h</p:attrName>
                                        </p:attrNameLst>
                                      </p:cBhvr>
                                      <p:tavLst>
                                        <p:tav tm="0">
                                          <p:val>
                                            <p:fltVal val="0"/>
                                          </p:val>
                                        </p:tav>
                                        <p:tav tm="100000">
                                          <p:val>
                                            <p:strVal val="#ppt_h"/>
                                          </p:val>
                                        </p:tav>
                                      </p:tavLst>
                                    </p:anim>
                                    <p:animEffect transition="in" filter="fade">
                                      <p:cBhvr>
                                        <p:cTn id="61" dur="750"/>
                                        <p:tgtEl>
                                          <p:spTgt spid="40"/>
                                        </p:tgtEl>
                                      </p:cBhvr>
                                    </p:animEffect>
                                  </p:childTnLst>
                                </p:cTn>
                              </p:par>
                              <p:par>
                                <p:cTn id="62" presetID="53" presetClass="entr" presetSubtype="16" fill="hold" grpId="0" nodeType="withEffect">
                                  <p:stCondLst>
                                    <p:cond delay="750"/>
                                  </p:stCondLst>
                                  <p:childTnLst>
                                    <p:set>
                                      <p:cBhvr>
                                        <p:cTn id="63" dur="1" fill="hold">
                                          <p:stCondLst>
                                            <p:cond delay="0"/>
                                          </p:stCondLst>
                                        </p:cTn>
                                        <p:tgtEl>
                                          <p:spTgt spid="41"/>
                                        </p:tgtEl>
                                        <p:attrNameLst>
                                          <p:attrName>style.visibility</p:attrName>
                                        </p:attrNameLst>
                                      </p:cBhvr>
                                      <p:to>
                                        <p:strVal val="visible"/>
                                      </p:to>
                                    </p:set>
                                    <p:anim calcmode="lin" valueType="num">
                                      <p:cBhvr>
                                        <p:cTn id="64" dur="750" fill="hold"/>
                                        <p:tgtEl>
                                          <p:spTgt spid="41"/>
                                        </p:tgtEl>
                                        <p:attrNameLst>
                                          <p:attrName>ppt_w</p:attrName>
                                        </p:attrNameLst>
                                      </p:cBhvr>
                                      <p:tavLst>
                                        <p:tav tm="0">
                                          <p:val>
                                            <p:fltVal val="0"/>
                                          </p:val>
                                        </p:tav>
                                        <p:tav tm="100000">
                                          <p:val>
                                            <p:strVal val="#ppt_w"/>
                                          </p:val>
                                        </p:tav>
                                      </p:tavLst>
                                    </p:anim>
                                    <p:anim calcmode="lin" valueType="num">
                                      <p:cBhvr>
                                        <p:cTn id="65" dur="750" fill="hold"/>
                                        <p:tgtEl>
                                          <p:spTgt spid="41"/>
                                        </p:tgtEl>
                                        <p:attrNameLst>
                                          <p:attrName>ppt_h</p:attrName>
                                        </p:attrNameLst>
                                      </p:cBhvr>
                                      <p:tavLst>
                                        <p:tav tm="0">
                                          <p:val>
                                            <p:fltVal val="0"/>
                                          </p:val>
                                        </p:tav>
                                        <p:tav tm="100000">
                                          <p:val>
                                            <p:strVal val="#ppt_h"/>
                                          </p:val>
                                        </p:tav>
                                      </p:tavLst>
                                    </p:anim>
                                    <p:animEffect transition="in" filter="fade">
                                      <p:cBhvr>
                                        <p:cTn id="66" dur="750"/>
                                        <p:tgtEl>
                                          <p:spTgt spid="41"/>
                                        </p:tgtEl>
                                      </p:cBhvr>
                                    </p:animEffect>
                                  </p:childTnLst>
                                </p:cTn>
                              </p:par>
                              <p:par>
                                <p:cTn id="67" presetID="22" presetClass="entr" presetSubtype="2" fill="hold" nodeType="withEffect">
                                  <p:stCondLst>
                                    <p:cond delay="750"/>
                                  </p:stCondLst>
                                  <p:childTnLst>
                                    <p:set>
                                      <p:cBhvr>
                                        <p:cTn id="68" dur="1" fill="hold">
                                          <p:stCondLst>
                                            <p:cond delay="0"/>
                                          </p:stCondLst>
                                        </p:cTn>
                                        <p:tgtEl>
                                          <p:spTgt spid="27"/>
                                        </p:tgtEl>
                                        <p:attrNameLst>
                                          <p:attrName>style.visibility</p:attrName>
                                        </p:attrNameLst>
                                      </p:cBhvr>
                                      <p:to>
                                        <p:strVal val="visible"/>
                                      </p:to>
                                    </p:set>
                                    <p:animEffect transition="in" filter="wipe(right)">
                                      <p:cBhvr>
                                        <p:cTn id="69" dur="750"/>
                                        <p:tgtEl>
                                          <p:spTgt spid="27"/>
                                        </p:tgtEl>
                                      </p:cBhvr>
                                    </p:animEffect>
                                  </p:childTnLst>
                                </p:cTn>
                              </p:par>
                              <p:par>
                                <p:cTn id="70" presetID="22" presetClass="entr" presetSubtype="8" fill="hold" nodeType="withEffect">
                                  <p:stCondLst>
                                    <p:cond delay="75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750"/>
                                        <p:tgtEl>
                                          <p:spTgt spid="3"/>
                                        </p:tgtEl>
                                      </p:cBhvr>
                                    </p:animEffect>
                                  </p:childTnLst>
                                </p:cTn>
                              </p:par>
                              <p:par>
                                <p:cTn id="73" presetID="16" presetClass="entr" presetSubtype="37" fill="hold" nodeType="withEffect">
                                  <p:stCondLst>
                                    <p:cond delay="750"/>
                                  </p:stCondLst>
                                  <p:childTnLst>
                                    <p:set>
                                      <p:cBhvr>
                                        <p:cTn id="74" dur="1" fill="hold">
                                          <p:stCondLst>
                                            <p:cond delay="0"/>
                                          </p:stCondLst>
                                        </p:cTn>
                                        <p:tgtEl>
                                          <p:spTgt spid="20"/>
                                        </p:tgtEl>
                                        <p:attrNameLst>
                                          <p:attrName>style.visibility</p:attrName>
                                        </p:attrNameLst>
                                      </p:cBhvr>
                                      <p:to>
                                        <p:strVal val="visible"/>
                                      </p:to>
                                    </p:set>
                                    <p:animEffect transition="in" filter="barn(outVertical)">
                                      <p:cBhvr>
                                        <p:cTn id="75" dur="750"/>
                                        <p:tgtEl>
                                          <p:spTgt spid="20"/>
                                        </p:tgtEl>
                                      </p:cBhvr>
                                    </p:animEffect>
                                  </p:childTnLst>
                                </p:cTn>
                              </p:par>
                              <p:par>
                                <p:cTn id="76" presetID="16" presetClass="entr" presetSubtype="37" fill="hold" nodeType="withEffect">
                                  <p:stCondLst>
                                    <p:cond delay="750"/>
                                  </p:stCondLst>
                                  <p:childTnLst>
                                    <p:set>
                                      <p:cBhvr>
                                        <p:cTn id="77" dur="1" fill="hold">
                                          <p:stCondLst>
                                            <p:cond delay="0"/>
                                          </p:stCondLst>
                                        </p:cTn>
                                        <p:tgtEl>
                                          <p:spTgt spid="37"/>
                                        </p:tgtEl>
                                        <p:attrNameLst>
                                          <p:attrName>style.visibility</p:attrName>
                                        </p:attrNameLst>
                                      </p:cBhvr>
                                      <p:to>
                                        <p:strVal val="visible"/>
                                      </p:to>
                                    </p:set>
                                    <p:animEffect transition="in" filter="barn(outVertical)">
                                      <p:cBhvr>
                                        <p:cTn id="78" dur="750"/>
                                        <p:tgtEl>
                                          <p:spTgt spid="37"/>
                                        </p:tgtEl>
                                      </p:cBhvr>
                                    </p:animEffect>
                                  </p:childTnLst>
                                </p:cTn>
                              </p:par>
                              <p:par>
                                <p:cTn id="79" presetID="16" presetClass="entr" presetSubtype="37" fill="hold" nodeType="withEffect">
                                  <p:stCondLst>
                                    <p:cond delay="750"/>
                                  </p:stCondLst>
                                  <p:childTnLst>
                                    <p:set>
                                      <p:cBhvr>
                                        <p:cTn id="80" dur="1" fill="hold">
                                          <p:stCondLst>
                                            <p:cond delay="0"/>
                                          </p:stCondLst>
                                        </p:cTn>
                                        <p:tgtEl>
                                          <p:spTgt spid="42"/>
                                        </p:tgtEl>
                                        <p:attrNameLst>
                                          <p:attrName>style.visibility</p:attrName>
                                        </p:attrNameLst>
                                      </p:cBhvr>
                                      <p:to>
                                        <p:strVal val="visible"/>
                                      </p:to>
                                    </p:set>
                                    <p:animEffect transition="in" filter="barn(outVertical)">
                                      <p:cBhvr>
                                        <p:cTn id="81" dur="750"/>
                                        <p:tgtEl>
                                          <p:spTgt spid="42"/>
                                        </p:tgtEl>
                                      </p:cBhvr>
                                    </p:animEffect>
                                  </p:childTnLst>
                                </p:cTn>
                              </p:par>
                              <p:par>
                                <p:cTn id="82" presetID="12" presetClass="entr" presetSubtype="1" fill="hold" grpId="0" nodeType="withEffect">
                                  <p:stCondLst>
                                    <p:cond delay="1000"/>
                                  </p:stCondLst>
                                  <p:childTnLst>
                                    <p:set>
                                      <p:cBhvr>
                                        <p:cTn id="83" dur="1" fill="hold">
                                          <p:stCondLst>
                                            <p:cond delay="0"/>
                                          </p:stCondLst>
                                        </p:cTn>
                                        <p:tgtEl>
                                          <p:spTgt spid="2"/>
                                        </p:tgtEl>
                                        <p:attrNameLst>
                                          <p:attrName>style.visibility</p:attrName>
                                        </p:attrNameLst>
                                      </p:cBhvr>
                                      <p:to>
                                        <p:strVal val="visible"/>
                                      </p:to>
                                    </p:set>
                                    <p:anim calcmode="lin" valueType="num">
                                      <p:cBhvr additive="base">
                                        <p:cTn id="84" dur="500"/>
                                        <p:tgtEl>
                                          <p:spTgt spid="2"/>
                                        </p:tgtEl>
                                        <p:attrNameLst>
                                          <p:attrName>ppt_y</p:attrName>
                                        </p:attrNameLst>
                                      </p:cBhvr>
                                      <p:tavLst>
                                        <p:tav tm="0">
                                          <p:val>
                                            <p:strVal val="#ppt_y-#ppt_h*1.125000"/>
                                          </p:val>
                                        </p:tav>
                                        <p:tav tm="100000">
                                          <p:val>
                                            <p:strVal val="#ppt_y"/>
                                          </p:val>
                                        </p:tav>
                                      </p:tavLst>
                                    </p:anim>
                                    <p:animEffect transition="in" filter="wipe(down)">
                                      <p:cBhvr>
                                        <p:cTn id="85" dur="500"/>
                                        <p:tgtEl>
                                          <p:spTgt spid="2"/>
                                        </p:tgtEl>
                                      </p:cBhvr>
                                    </p:animEffect>
                                  </p:childTnLst>
                                </p:cTn>
                              </p:par>
                              <p:par>
                                <p:cTn id="86" presetID="12" presetClass="entr" presetSubtype="4" fill="hold" grpId="0" nodeType="withEffect">
                                  <p:stCondLst>
                                    <p:cond delay="100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p:tgtEl>
                                          <p:spTgt spid="29"/>
                                        </p:tgtEl>
                                        <p:attrNameLst>
                                          <p:attrName>ppt_y</p:attrName>
                                        </p:attrNameLst>
                                      </p:cBhvr>
                                      <p:tavLst>
                                        <p:tav tm="0">
                                          <p:val>
                                            <p:strVal val="#ppt_y+#ppt_h*1.125000"/>
                                          </p:val>
                                        </p:tav>
                                        <p:tav tm="100000">
                                          <p:val>
                                            <p:strVal val="#ppt_y"/>
                                          </p:val>
                                        </p:tav>
                                      </p:tavLst>
                                    </p:anim>
                                    <p:animEffect transition="in" filter="wipe(up)">
                                      <p:cBhvr>
                                        <p:cTn id="89" dur="500"/>
                                        <p:tgtEl>
                                          <p:spTgt spid="29"/>
                                        </p:tgtEl>
                                      </p:cBhvr>
                                    </p:animEffect>
                                  </p:childTnLst>
                                </p:cTn>
                              </p:par>
                              <p:par>
                                <p:cTn id="90" presetID="12" presetClass="entr" presetSubtype="1" fill="hold" grpId="0" nodeType="withEffect">
                                  <p:stCondLst>
                                    <p:cond delay="1000"/>
                                  </p:stCondLst>
                                  <p:childTnLst>
                                    <p:set>
                                      <p:cBhvr>
                                        <p:cTn id="91" dur="1" fill="hold">
                                          <p:stCondLst>
                                            <p:cond delay="0"/>
                                          </p:stCondLst>
                                        </p:cTn>
                                        <p:tgtEl>
                                          <p:spTgt spid="28"/>
                                        </p:tgtEl>
                                        <p:attrNameLst>
                                          <p:attrName>style.visibility</p:attrName>
                                        </p:attrNameLst>
                                      </p:cBhvr>
                                      <p:to>
                                        <p:strVal val="visible"/>
                                      </p:to>
                                    </p:set>
                                    <p:anim calcmode="lin" valueType="num">
                                      <p:cBhvr additive="base">
                                        <p:cTn id="92" dur="500"/>
                                        <p:tgtEl>
                                          <p:spTgt spid="28"/>
                                        </p:tgtEl>
                                        <p:attrNameLst>
                                          <p:attrName>ppt_y</p:attrName>
                                        </p:attrNameLst>
                                      </p:cBhvr>
                                      <p:tavLst>
                                        <p:tav tm="0">
                                          <p:val>
                                            <p:strVal val="#ppt_y-#ppt_h*1.125000"/>
                                          </p:val>
                                        </p:tav>
                                        <p:tav tm="100000">
                                          <p:val>
                                            <p:strVal val="#ppt_y"/>
                                          </p:val>
                                        </p:tav>
                                      </p:tavLst>
                                    </p:anim>
                                    <p:animEffect transition="in" filter="wipe(down)">
                                      <p:cBhvr>
                                        <p:cTn id="93" dur="500"/>
                                        <p:tgtEl>
                                          <p:spTgt spid="28"/>
                                        </p:tgtEl>
                                      </p:cBhvr>
                                    </p:animEffect>
                                  </p:childTnLst>
                                </p:cTn>
                              </p:par>
                              <p:par>
                                <p:cTn id="94" presetID="12" presetClass="entr" presetSubtype="4" fill="hold" grpId="0" nodeType="withEffect">
                                  <p:stCondLst>
                                    <p:cond delay="1000"/>
                                  </p:stCondLst>
                                  <p:childTnLst>
                                    <p:set>
                                      <p:cBhvr>
                                        <p:cTn id="95" dur="1" fill="hold">
                                          <p:stCondLst>
                                            <p:cond delay="0"/>
                                          </p:stCondLst>
                                        </p:cTn>
                                        <p:tgtEl>
                                          <p:spTgt spid="30"/>
                                        </p:tgtEl>
                                        <p:attrNameLst>
                                          <p:attrName>style.visibility</p:attrName>
                                        </p:attrNameLst>
                                      </p:cBhvr>
                                      <p:to>
                                        <p:strVal val="visible"/>
                                      </p:to>
                                    </p:set>
                                    <p:anim calcmode="lin" valueType="num">
                                      <p:cBhvr additive="base">
                                        <p:cTn id="96" dur="500"/>
                                        <p:tgtEl>
                                          <p:spTgt spid="30"/>
                                        </p:tgtEl>
                                        <p:attrNameLst>
                                          <p:attrName>ppt_y</p:attrName>
                                        </p:attrNameLst>
                                      </p:cBhvr>
                                      <p:tavLst>
                                        <p:tav tm="0">
                                          <p:val>
                                            <p:strVal val="#ppt_y+#ppt_h*1.125000"/>
                                          </p:val>
                                        </p:tav>
                                        <p:tav tm="100000">
                                          <p:val>
                                            <p:strVal val="#ppt_y"/>
                                          </p:val>
                                        </p:tav>
                                      </p:tavLst>
                                    </p:anim>
                                    <p:animEffect transition="in" filter="wipe(up)">
                                      <p:cBhvr>
                                        <p:cTn id="97" dur="500"/>
                                        <p:tgtEl>
                                          <p:spTgt spid="30"/>
                                        </p:tgtEl>
                                      </p:cBhvr>
                                    </p:animEffect>
                                  </p:childTnLst>
                                </p:cTn>
                              </p:par>
                              <p:par>
                                <p:cTn id="98" presetID="10" presetClass="entr" presetSubtype="0" fill="hold" grpId="0" nodeType="withEffect">
                                  <p:stCondLst>
                                    <p:cond delay="1150"/>
                                  </p:stCondLst>
                                  <p:childTnLst>
                                    <p:set>
                                      <p:cBhvr>
                                        <p:cTn id="99" dur="1" fill="hold">
                                          <p:stCondLst>
                                            <p:cond delay="0"/>
                                          </p:stCondLst>
                                        </p:cTn>
                                        <p:tgtEl>
                                          <p:spTgt spid="12"/>
                                        </p:tgtEl>
                                        <p:attrNameLst>
                                          <p:attrName>style.visibility</p:attrName>
                                        </p:attrNameLst>
                                      </p:cBhvr>
                                      <p:to>
                                        <p:strVal val="visible"/>
                                      </p:to>
                                    </p:set>
                                    <p:animEffect transition="in" filter="fade">
                                      <p:cBhvr>
                                        <p:cTn id="100" dur="750"/>
                                        <p:tgtEl>
                                          <p:spTgt spid="12"/>
                                        </p:tgtEl>
                                      </p:cBhvr>
                                    </p:animEffect>
                                  </p:childTnLst>
                                </p:cTn>
                              </p:par>
                              <p:par>
                                <p:cTn id="101" presetID="42" presetClass="path" presetSubtype="0" decel="36000" fill="hold" grpId="1" nodeType="withEffect">
                                  <p:stCondLst>
                                    <p:cond delay="1150"/>
                                  </p:stCondLst>
                                  <p:childTnLst>
                                    <p:animMotion origin="layout" path="M 8.33333E-7 3.33333E-6 L 0.06315 -0.10324 " pathEditMode="relative" rAng="0" ptsTypes="AA">
                                      <p:cBhvr>
                                        <p:cTn id="102" dur="750" spd="-100000" fill="hold"/>
                                        <p:tgtEl>
                                          <p:spTgt spid="12"/>
                                        </p:tgtEl>
                                        <p:attrNameLst>
                                          <p:attrName>ppt_x</p:attrName>
                                          <p:attrName>ppt_y</p:attrName>
                                        </p:attrNameLst>
                                      </p:cBhvr>
                                      <p:rCtr x="3151" y="-5162"/>
                                    </p:animMotion>
                                  </p:childTnLst>
                                </p:cTn>
                              </p:par>
                              <p:par>
                                <p:cTn id="103" presetID="10" presetClass="entr" presetSubtype="0" fill="hold" grpId="0" nodeType="withEffect">
                                  <p:stCondLst>
                                    <p:cond delay="1150"/>
                                  </p:stCondLst>
                                  <p:childTnLst>
                                    <p:set>
                                      <p:cBhvr>
                                        <p:cTn id="104" dur="1" fill="hold">
                                          <p:stCondLst>
                                            <p:cond delay="0"/>
                                          </p:stCondLst>
                                        </p:cTn>
                                        <p:tgtEl>
                                          <p:spTgt spid="7"/>
                                        </p:tgtEl>
                                        <p:attrNameLst>
                                          <p:attrName>style.visibility</p:attrName>
                                        </p:attrNameLst>
                                      </p:cBhvr>
                                      <p:to>
                                        <p:strVal val="visible"/>
                                      </p:to>
                                    </p:set>
                                    <p:animEffect transition="in" filter="fade">
                                      <p:cBhvr>
                                        <p:cTn id="105" dur="750"/>
                                        <p:tgtEl>
                                          <p:spTgt spid="7"/>
                                        </p:tgtEl>
                                      </p:cBhvr>
                                    </p:animEffect>
                                  </p:childTnLst>
                                </p:cTn>
                              </p:par>
                              <p:par>
                                <p:cTn id="106" presetID="42" presetClass="path" presetSubtype="0" decel="36000" fill="hold" grpId="1" nodeType="withEffect">
                                  <p:stCondLst>
                                    <p:cond delay="1150"/>
                                  </p:stCondLst>
                                  <p:childTnLst>
                                    <p:animMotion origin="layout" path="M 8.33333E-7 3.33333E-6 L 0.06315 -0.10324 " pathEditMode="relative" rAng="0" ptsTypes="AA">
                                      <p:cBhvr>
                                        <p:cTn id="107" dur="750" spd="-100000" fill="hold"/>
                                        <p:tgtEl>
                                          <p:spTgt spid="7"/>
                                        </p:tgtEl>
                                        <p:attrNameLst>
                                          <p:attrName>ppt_x</p:attrName>
                                          <p:attrName>ppt_y</p:attrName>
                                        </p:attrNameLst>
                                      </p:cBhvr>
                                      <p:rCtr x="3151" y="-5162"/>
                                    </p:animMotion>
                                  </p:childTnLst>
                                </p:cTn>
                              </p:par>
                              <p:par>
                                <p:cTn id="108" presetID="10" presetClass="entr" presetSubtype="0" fill="hold" grpId="0" nodeType="withEffect">
                                  <p:stCondLst>
                                    <p:cond delay="1150"/>
                                  </p:stCondLst>
                                  <p:childTnLst>
                                    <p:set>
                                      <p:cBhvr>
                                        <p:cTn id="109" dur="1" fill="hold">
                                          <p:stCondLst>
                                            <p:cond delay="0"/>
                                          </p:stCondLst>
                                        </p:cTn>
                                        <p:tgtEl>
                                          <p:spTgt spid="11"/>
                                        </p:tgtEl>
                                        <p:attrNameLst>
                                          <p:attrName>style.visibility</p:attrName>
                                        </p:attrNameLst>
                                      </p:cBhvr>
                                      <p:to>
                                        <p:strVal val="visible"/>
                                      </p:to>
                                    </p:set>
                                    <p:animEffect transition="in" filter="fade">
                                      <p:cBhvr>
                                        <p:cTn id="110" dur="750"/>
                                        <p:tgtEl>
                                          <p:spTgt spid="11"/>
                                        </p:tgtEl>
                                      </p:cBhvr>
                                    </p:animEffect>
                                  </p:childTnLst>
                                </p:cTn>
                              </p:par>
                              <p:par>
                                <p:cTn id="111" presetID="42" presetClass="path" presetSubtype="0" decel="36000" fill="hold" grpId="1" nodeType="withEffect">
                                  <p:stCondLst>
                                    <p:cond delay="1150"/>
                                  </p:stCondLst>
                                  <p:childTnLst>
                                    <p:animMotion origin="layout" path="M 4.375E-6 -3.33333E-6 L -0.06771 0.09375 " pathEditMode="relative" rAng="0" ptsTypes="AA">
                                      <p:cBhvr>
                                        <p:cTn id="112" dur="750" spd="-100000" fill="hold"/>
                                        <p:tgtEl>
                                          <p:spTgt spid="11"/>
                                        </p:tgtEl>
                                        <p:attrNameLst>
                                          <p:attrName>ppt_x</p:attrName>
                                          <p:attrName>ppt_y</p:attrName>
                                        </p:attrNameLst>
                                      </p:cBhvr>
                                      <p:rCtr x="-3385" y="4676"/>
                                    </p:animMotion>
                                  </p:childTnLst>
                                </p:cTn>
                              </p:par>
                              <p:par>
                                <p:cTn id="113" presetID="10" presetClass="entr" presetSubtype="0" fill="hold" grpId="0" nodeType="withEffect">
                                  <p:stCondLst>
                                    <p:cond delay="1150"/>
                                  </p:stCondLst>
                                  <p:childTnLst>
                                    <p:set>
                                      <p:cBhvr>
                                        <p:cTn id="114" dur="1" fill="hold">
                                          <p:stCondLst>
                                            <p:cond delay="0"/>
                                          </p:stCondLst>
                                        </p:cTn>
                                        <p:tgtEl>
                                          <p:spTgt spid="6"/>
                                        </p:tgtEl>
                                        <p:attrNameLst>
                                          <p:attrName>style.visibility</p:attrName>
                                        </p:attrNameLst>
                                      </p:cBhvr>
                                      <p:to>
                                        <p:strVal val="visible"/>
                                      </p:to>
                                    </p:set>
                                    <p:animEffect transition="in" filter="fade">
                                      <p:cBhvr>
                                        <p:cTn id="115" dur="750"/>
                                        <p:tgtEl>
                                          <p:spTgt spid="6"/>
                                        </p:tgtEl>
                                      </p:cBhvr>
                                    </p:animEffect>
                                  </p:childTnLst>
                                </p:cTn>
                              </p:par>
                              <p:par>
                                <p:cTn id="116" presetID="42" presetClass="path" presetSubtype="0" decel="36000" fill="hold" grpId="1" nodeType="withEffect">
                                  <p:stCondLst>
                                    <p:cond delay="1150"/>
                                  </p:stCondLst>
                                  <p:childTnLst>
                                    <p:animMotion origin="layout" path="M 4.375E-6 -3.33333E-6 L -0.06771 0.09375 " pathEditMode="relative" rAng="0" ptsTypes="AA">
                                      <p:cBhvr>
                                        <p:cTn id="117" dur="750" spd="-100000" fill="hold"/>
                                        <p:tgtEl>
                                          <p:spTgt spid="6"/>
                                        </p:tgtEl>
                                        <p:attrNameLst>
                                          <p:attrName>ppt_x</p:attrName>
                                          <p:attrName>ppt_y</p:attrName>
                                        </p:attrNameLst>
                                      </p:cBhvr>
                                      <p:rCtr x="-3385" y="4676"/>
                                    </p:animMotion>
                                  </p:childTnLst>
                                </p:cTn>
                              </p:par>
                              <p:par>
                                <p:cTn id="118" presetID="10" presetClass="entr" presetSubtype="0" fill="hold" grpId="0" nodeType="withEffect">
                                  <p:stCondLst>
                                    <p:cond delay="1500"/>
                                  </p:stCondLst>
                                  <p:childTnLst>
                                    <p:set>
                                      <p:cBhvr>
                                        <p:cTn id="119" dur="1" fill="hold">
                                          <p:stCondLst>
                                            <p:cond delay="0"/>
                                          </p:stCondLst>
                                        </p:cTn>
                                        <p:tgtEl>
                                          <p:spTgt spid="46"/>
                                        </p:tgtEl>
                                        <p:attrNameLst>
                                          <p:attrName>style.visibility</p:attrName>
                                        </p:attrNameLst>
                                      </p:cBhvr>
                                      <p:to>
                                        <p:strVal val="visible"/>
                                      </p:to>
                                    </p:set>
                                    <p:animEffect transition="in" filter="fade">
                                      <p:cBhvr>
                                        <p:cTn id="120" dur="500"/>
                                        <p:tgtEl>
                                          <p:spTgt spid="46"/>
                                        </p:tgtEl>
                                      </p:cBhvr>
                                    </p:animEffect>
                                  </p:childTnLst>
                                </p:cTn>
                              </p:par>
                              <p:par>
                                <p:cTn id="121" presetID="10" presetClass="entr" presetSubtype="0" fill="hold" grpId="0" nodeType="withEffect">
                                  <p:stCondLst>
                                    <p:cond delay="150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500"/>
                                        <p:tgtEl>
                                          <p:spTgt spid="44"/>
                                        </p:tgtEl>
                                      </p:cBhvr>
                                    </p:animEffect>
                                  </p:childTnLst>
                                </p:cTn>
                              </p:par>
                              <p:par>
                                <p:cTn id="124" presetID="10" presetClass="entr" presetSubtype="0" fill="hold" grpId="0" nodeType="withEffect">
                                  <p:stCondLst>
                                    <p:cond delay="150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500"/>
                                        <p:tgtEl>
                                          <p:spTgt spid="45"/>
                                        </p:tgtEl>
                                      </p:cBhvr>
                                    </p:animEffect>
                                  </p:childTnLst>
                                </p:cTn>
                              </p:par>
                              <p:par>
                                <p:cTn id="127" presetID="10" presetClass="entr" presetSubtype="0" fill="hold" grpId="0" nodeType="withEffect">
                                  <p:stCondLst>
                                    <p:cond delay="150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bldLvl="0" animBg="1"/>
      <p:bldP spid="39" grpId="0"/>
      <p:bldP spid="44" grpId="0"/>
      <p:bldP spid="12" grpId="0" bldLvl="0" animBg="1"/>
      <p:bldP spid="12" grpId="1" bldLvl="0" animBg="1"/>
      <p:bldP spid="41" grpId="0"/>
      <p:bldP spid="45" grpId="0"/>
      <p:bldP spid="6" grpId="0" bldLvl="0" animBg="1"/>
      <p:bldP spid="6" grpId="1" bldLvl="0" animBg="1"/>
      <p:bldP spid="38" grpId="0"/>
      <p:bldP spid="46" grpId="0"/>
      <p:bldP spid="11" grpId="0" bldLvl="0" animBg="1"/>
      <p:bldP spid="11" grpId="1" bldLvl="0" animBg="1"/>
      <p:bldP spid="40" grpId="0"/>
      <p:bldP spid="47" grpId="0"/>
      <p:bldP spid="2" grpId="0" animBg="1"/>
      <p:bldP spid="28" grpId="0" animBg="1"/>
      <p:bldP spid="29" grpId="0" animBg="1"/>
      <p:bldP spid="30" grpId="0" animBg="1"/>
      <p:bldP spid="52" grpId="0"/>
      <p:bldP spid="52" grpId="1"/>
      <p:bldP spid="52" grpId="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3429000"/>
            <a:ext cx="1472914" cy="0"/>
          </a:xfrm>
          <a:prstGeom prst="line">
            <a:avLst/>
          </a:prstGeom>
          <a:ln w="25400">
            <a:gradFill flip="none" rotWithShape="1">
              <a:gsLst>
                <a:gs pos="0">
                  <a:schemeClr val="accent1">
                    <a:lumMod val="20000"/>
                    <a:lumOff val="80000"/>
                    <a:alpha val="0"/>
                  </a:schemeClr>
                </a:gs>
                <a:gs pos="51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
            </p:custDataLst>
          </p:nvPr>
        </p:nvCxnSpPr>
        <p:spPr>
          <a:xfrm>
            <a:off x="2961975"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0752730" y="3429000"/>
            <a:ext cx="1439270" cy="0"/>
          </a:xfrm>
          <a:prstGeom prst="line">
            <a:avLst/>
          </a:prstGeom>
          <a:ln w="25400">
            <a:gradFill flip="none" rotWithShape="1">
              <a:gsLst>
                <a:gs pos="0">
                  <a:schemeClr val="accent1">
                    <a:lumMod val="20000"/>
                    <a:lumOff val="80000"/>
                    <a:alpha val="0"/>
                  </a:schemeClr>
                </a:gs>
                <a:gs pos="51000">
                  <a:schemeClr val="accent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2"/>
            </p:custDataLst>
          </p:nvPr>
        </p:nvSpPr>
        <p:spPr>
          <a:xfrm>
            <a:off x="3320415" y="1356995"/>
            <a:ext cx="3134360" cy="1329690"/>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custDataLst>
              <p:tags r:id="rId3"/>
            </p:custDataLst>
          </p:nvPr>
        </p:nvGrpSpPr>
        <p:grpSpPr>
          <a:xfrm>
            <a:off x="4128126" y="2750820"/>
            <a:ext cx="1314178" cy="1314176"/>
            <a:chOff x="4128126" y="2750820"/>
            <a:chExt cx="1314178" cy="1314176"/>
          </a:xfrm>
        </p:grpSpPr>
        <p:sp>
          <p:nvSpPr>
            <p:cNvPr id="32" name="椭圆 31"/>
            <p:cNvSpPr/>
            <p:nvPr>
              <p:custDataLst>
                <p:tags r:id="rId4"/>
              </p:custDataLst>
            </p:nvPr>
          </p:nvSpPr>
          <p:spPr>
            <a:xfrm>
              <a:off x="4128126"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custDataLst>
                <p:tags r:id="rId5"/>
              </p:custDataLst>
            </p:nvPr>
          </p:nvSpPr>
          <p:spPr>
            <a:xfrm>
              <a:off x="4516474"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文本框 38"/>
          <p:cNvSpPr txBox="1"/>
          <p:nvPr>
            <p:custDataLst>
              <p:tags r:id="rId7"/>
            </p:custDataLst>
          </p:nvPr>
        </p:nvSpPr>
        <p:spPr>
          <a:xfrm>
            <a:off x="4331051"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6</a:t>
            </a:r>
            <a:endParaRPr lang="zh-CN" altLang="en-US" sz="2400" dirty="0">
              <a:solidFill>
                <a:schemeClr val="accent2"/>
              </a:solidFill>
            </a:endParaRPr>
          </a:p>
        </p:txBody>
      </p:sp>
      <p:sp>
        <p:nvSpPr>
          <p:cNvPr id="44" name="矩形 43"/>
          <p:cNvSpPr/>
          <p:nvPr>
            <p:custDataLst>
              <p:tags r:id="rId8"/>
            </p:custDataLst>
          </p:nvPr>
        </p:nvSpPr>
        <p:spPr>
          <a:xfrm>
            <a:off x="3528900" y="1554467"/>
            <a:ext cx="2738156" cy="1170305"/>
          </a:xfrm>
          <a:prstGeom prst="rect">
            <a:avLst/>
          </a:prstGeom>
        </p:spPr>
        <p:txBody>
          <a:bodyPr wrap="square">
            <a:spAutoFit/>
          </a:bodyPr>
          <a:lstStyle/>
          <a:p>
            <a:pPr>
              <a:lnSpc>
                <a:spcPct val="130000"/>
              </a:lnSpc>
            </a:pPr>
            <a:r>
              <a:rPr lang="en-US" altLang="zh-CN" dirty="0">
                <a:solidFill>
                  <a:schemeClr val="tx1">
                    <a:lumMod val="50000"/>
                    <a:lumOff val="50000"/>
                  </a:schemeClr>
                </a:solidFill>
              </a:rPr>
              <a:t>One-hot encode categorical features</a:t>
            </a:r>
            <a:endParaRPr lang="en-US" altLang="zh-CN" dirty="0">
              <a:solidFill>
                <a:schemeClr val="tx1">
                  <a:lumMod val="50000"/>
                  <a:lumOff val="50000"/>
                </a:schemeClr>
              </a:solidFill>
            </a:endParaRPr>
          </a:p>
          <a:p>
            <a:pPr>
              <a:lnSpc>
                <a:spcPct val="130000"/>
              </a:lnSpc>
            </a:pPr>
            <a:endParaRPr lang="en-US" altLang="zh-CN" dirty="0">
              <a:solidFill>
                <a:schemeClr val="tx1">
                  <a:lumMod val="50000"/>
                  <a:lumOff val="50000"/>
                </a:schemeClr>
              </a:solidFill>
            </a:endParaRPr>
          </a:p>
        </p:txBody>
      </p:sp>
      <p:sp>
        <p:nvSpPr>
          <p:cNvPr id="12" name="矩形 11"/>
          <p:cNvSpPr/>
          <p:nvPr>
            <p:custDataLst>
              <p:tags r:id="rId9"/>
            </p:custDataLst>
          </p:nvPr>
        </p:nvSpPr>
        <p:spPr>
          <a:xfrm>
            <a:off x="8565515" y="882015"/>
            <a:ext cx="2903855" cy="1889125"/>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custDataLst>
              <p:tags r:id="rId10"/>
            </p:custDataLst>
          </p:nvPr>
        </p:nvGrpSpPr>
        <p:grpSpPr>
          <a:xfrm>
            <a:off x="9438552" y="2750820"/>
            <a:ext cx="1314178" cy="1314176"/>
            <a:chOff x="9438552" y="2750820"/>
            <a:chExt cx="1314178" cy="1314176"/>
          </a:xfrm>
        </p:grpSpPr>
        <p:sp>
          <p:nvSpPr>
            <p:cNvPr id="34" name="椭圆 33"/>
            <p:cNvSpPr/>
            <p:nvPr>
              <p:custDataLst>
                <p:tags r:id="rId11"/>
              </p:custDataLst>
            </p:nvPr>
          </p:nvSpPr>
          <p:spPr>
            <a:xfrm>
              <a:off x="9438552"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12"/>
              </p:custDataLst>
            </p:nvPr>
          </p:nvSpPr>
          <p:spPr>
            <a:xfrm>
              <a:off x="9826897"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文本框 40"/>
          <p:cNvSpPr txBox="1"/>
          <p:nvPr>
            <p:custDataLst>
              <p:tags r:id="rId13"/>
            </p:custDataLst>
          </p:nvPr>
        </p:nvSpPr>
        <p:spPr>
          <a:xfrm>
            <a:off x="9641474"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8</a:t>
            </a:r>
            <a:endParaRPr lang="zh-CN" altLang="en-US" sz="2400" dirty="0">
              <a:solidFill>
                <a:schemeClr val="accent2"/>
              </a:solidFill>
            </a:endParaRPr>
          </a:p>
        </p:txBody>
      </p:sp>
      <p:sp>
        <p:nvSpPr>
          <p:cNvPr id="45" name="矩形 44"/>
          <p:cNvSpPr/>
          <p:nvPr>
            <p:custDataLst>
              <p:tags r:id="rId14"/>
            </p:custDataLst>
          </p:nvPr>
        </p:nvSpPr>
        <p:spPr>
          <a:xfrm>
            <a:off x="8805943" y="900417"/>
            <a:ext cx="2738156" cy="1889760"/>
          </a:xfrm>
          <a:prstGeom prst="rect">
            <a:avLst/>
          </a:prstGeom>
        </p:spPr>
        <p:txBody>
          <a:bodyPr wrap="square">
            <a:spAutoFit/>
          </a:bodyPr>
          <a:lstStyle/>
          <a:p>
            <a:pPr>
              <a:lnSpc>
                <a:spcPct val="130000"/>
              </a:lnSpc>
            </a:pPr>
            <a:r>
              <a:rPr lang="en-US" altLang="zh-CN" dirty="0">
                <a:solidFill>
                  <a:schemeClr val="tx1">
                    <a:lumMod val="50000"/>
                    <a:lumOff val="50000"/>
                  </a:schemeClr>
                </a:solidFill>
              </a:rPr>
              <a:t>Use stratified 5-fold cross-validation and fit scaler/encoder only on training folds to avoid data leakage</a:t>
            </a:r>
            <a:endParaRPr lang="en-US" altLang="zh-CN" dirty="0">
              <a:solidFill>
                <a:schemeClr val="tx1">
                  <a:lumMod val="50000"/>
                  <a:lumOff val="50000"/>
                </a:schemeClr>
              </a:solidFill>
            </a:endParaRPr>
          </a:p>
        </p:txBody>
      </p:sp>
      <p:sp>
        <p:nvSpPr>
          <p:cNvPr id="6" name="矩形 5"/>
          <p:cNvSpPr/>
          <p:nvPr>
            <p:custDataLst>
              <p:tags r:id="rId15"/>
            </p:custDataLst>
          </p:nvPr>
        </p:nvSpPr>
        <p:spPr>
          <a:xfrm>
            <a:off x="939800" y="4307205"/>
            <a:ext cx="2476500" cy="1091565"/>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custDataLst>
              <p:tags r:id="rId16"/>
            </p:custDataLst>
          </p:nvPr>
        </p:nvGrpSpPr>
        <p:grpSpPr>
          <a:xfrm>
            <a:off x="1472914" y="2750820"/>
            <a:ext cx="1314178" cy="1314176"/>
            <a:chOff x="1472914" y="2750820"/>
            <a:chExt cx="1314178" cy="1314176"/>
          </a:xfrm>
        </p:grpSpPr>
        <p:sp>
          <p:nvSpPr>
            <p:cNvPr id="4" name="椭圆 3"/>
            <p:cNvSpPr/>
            <p:nvPr>
              <p:custDataLst>
                <p:tags r:id="rId17"/>
              </p:custDataLst>
            </p:nvPr>
          </p:nvSpPr>
          <p:spPr>
            <a:xfrm>
              <a:off x="1472914"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custDataLst>
                <p:tags r:id="rId18"/>
              </p:custDataLst>
            </p:nvPr>
          </p:nvSpPr>
          <p:spPr>
            <a:xfrm>
              <a:off x="1861262"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p:cNvSpPr txBox="1"/>
          <p:nvPr>
            <p:custDataLst>
              <p:tags r:id="rId19"/>
            </p:custDataLst>
          </p:nvPr>
        </p:nvSpPr>
        <p:spPr>
          <a:xfrm>
            <a:off x="1713748" y="3177722"/>
            <a:ext cx="83250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5</a:t>
            </a:r>
            <a:endParaRPr lang="en-US" altLang="zh-CN" sz="2400" dirty="0">
              <a:solidFill>
                <a:schemeClr val="accent2"/>
              </a:solidFill>
            </a:endParaRPr>
          </a:p>
        </p:txBody>
      </p:sp>
      <p:sp>
        <p:nvSpPr>
          <p:cNvPr id="46" name="矩形 45"/>
          <p:cNvSpPr/>
          <p:nvPr>
            <p:custDataLst>
              <p:tags r:id="rId20"/>
            </p:custDataLst>
          </p:nvPr>
        </p:nvSpPr>
        <p:spPr>
          <a:xfrm>
            <a:off x="875362" y="4415164"/>
            <a:ext cx="2738156" cy="810260"/>
          </a:xfrm>
          <a:prstGeom prst="rect">
            <a:avLst/>
          </a:prstGeom>
        </p:spPr>
        <p:txBody>
          <a:bodyPr wrap="square">
            <a:spAutoFit/>
          </a:bodyPr>
          <a:lstStyle/>
          <a:p>
            <a:pPr>
              <a:lnSpc>
                <a:spcPct val="130000"/>
              </a:lnSpc>
            </a:pPr>
            <a:r>
              <a:rPr lang="en-US" altLang="zh-CN" dirty="0">
                <a:solidFill>
                  <a:schemeClr val="tx1">
                    <a:lumMod val="50000"/>
                    <a:lumOff val="50000"/>
                  </a:schemeClr>
                </a:solidFill>
              </a:rPr>
              <a:t>Encode target: Churn Yes = 1, No = 0</a:t>
            </a:r>
            <a:endParaRPr lang="en-US" altLang="zh-CN" dirty="0">
              <a:solidFill>
                <a:schemeClr val="tx1">
                  <a:lumMod val="50000"/>
                  <a:lumOff val="50000"/>
                </a:schemeClr>
              </a:solidFill>
            </a:endParaRPr>
          </a:p>
        </p:txBody>
      </p:sp>
      <p:sp>
        <p:nvSpPr>
          <p:cNvPr id="11" name="矩形 10"/>
          <p:cNvSpPr/>
          <p:nvPr>
            <p:custDataLst>
              <p:tags r:id="rId21"/>
            </p:custDataLst>
          </p:nvPr>
        </p:nvSpPr>
        <p:spPr>
          <a:xfrm>
            <a:off x="5789930" y="4546600"/>
            <a:ext cx="2936240" cy="1282700"/>
          </a:xfrm>
          <a:prstGeom prst="rect">
            <a:avLst/>
          </a:prstGeom>
          <a:solidFill>
            <a:schemeClr val="bg1"/>
          </a:solidFill>
          <a:ln>
            <a:noFill/>
          </a:ln>
          <a:effectLst>
            <a:outerShdw blurRad="596900" dist="342900" dir="2700000" algn="tl" rotWithShape="0">
              <a:schemeClr val="tx1">
                <a:lumMod val="65000"/>
                <a:lumOff val="35000"/>
                <a:alpha val="1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2"/>
            </p:custDataLst>
          </p:nvPr>
        </p:nvGrpSpPr>
        <p:grpSpPr>
          <a:xfrm>
            <a:off x="6783338" y="2750820"/>
            <a:ext cx="1314178" cy="1314176"/>
            <a:chOff x="6783338" y="2750820"/>
            <a:chExt cx="1314178" cy="1314176"/>
          </a:xfrm>
        </p:grpSpPr>
        <p:sp>
          <p:nvSpPr>
            <p:cNvPr id="33" name="椭圆 32"/>
            <p:cNvSpPr/>
            <p:nvPr>
              <p:custDataLst>
                <p:tags r:id="rId23"/>
              </p:custDataLst>
            </p:nvPr>
          </p:nvSpPr>
          <p:spPr>
            <a:xfrm>
              <a:off x="6783338" y="2750820"/>
              <a:ext cx="1314178" cy="1314176"/>
            </a:xfrm>
            <a:prstGeom prst="ellipse">
              <a:avLst/>
            </a:prstGeom>
            <a:solidFill>
              <a:schemeClr val="bg2">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custDataLst>
                <p:tags r:id="rId24"/>
              </p:custDataLst>
            </p:nvPr>
          </p:nvSpPr>
          <p:spPr>
            <a:xfrm>
              <a:off x="7171688" y="3139168"/>
              <a:ext cx="537482" cy="537482"/>
            </a:xfrm>
            <a:prstGeom prst="ellipse">
              <a:avLst/>
            </a:prstGeom>
            <a:blipFill dpi="0" rotWithShape="1">
              <a:blip r:embed="rId6"/>
              <a:srcRect/>
              <a:tile tx="0" ty="0" sx="100000" sy="100000" flip="none" algn="tl"/>
            </a:blipFill>
            <a:ln>
              <a:noFill/>
            </a:ln>
            <a:effectLst>
              <a:outerShdw blurRad="266700" dist="139700" dir="2700000" algn="tl" rotWithShape="0">
                <a:schemeClr val="bg1">
                  <a:lumMod val="50000"/>
                  <a:alpha val="4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文本框 39"/>
          <p:cNvSpPr txBox="1"/>
          <p:nvPr>
            <p:custDataLst>
              <p:tags r:id="rId25"/>
            </p:custDataLst>
          </p:nvPr>
        </p:nvSpPr>
        <p:spPr>
          <a:xfrm>
            <a:off x="6986264" y="3177721"/>
            <a:ext cx="908328" cy="460375"/>
          </a:xfrm>
          <a:prstGeom prst="rect">
            <a:avLst/>
          </a:prstGeom>
          <a:noFill/>
        </p:spPr>
        <p:txBody>
          <a:bodyPr wrap="square" rtlCol="0" anchor="ctr" anchorCtr="0">
            <a:spAutoFit/>
          </a:bodyPr>
          <a:lstStyle/>
          <a:p>
            <a:pPr algn="ctr"/>
            <a:r>
              <a:rPr lang="en-US" altLang="zh-CN" sz="1000" dirty="0">
                <a:solidFill>
                  <a:schemeClr val="accent2"/>
                </a:solidFill>
              </a:rPr>
              <a:t>step</a:t>
            </a:r>
            <a:r>
              <a:rPr lang="en-US" altLang="zh-CN" sz="2400" dirty="0">
                <a:solidFill>
                  <a:schemeClr val="accent2"/>
                </a:solidFill>
              </a:rPr>
              <a:t>7</a:t>
            </a:r>
            <a:endParaRPr lang="zh-CN" altLang="en-US" sz="2400" dirty="0">
              <a:solidFill>
                <a:schemeClr val="accent2"/>
              </a:solidFill>
            </a:endParaRPr>
          </a:p>
        </p:txBody>
      </p:sp>
      <p:sp>
        <p:nvSpPr>
          <p:cNvPr id="47" name="矩形 46"/>
          <p:cNvSpPr/>
          <p:nvPr>
            <p:custDataLst>
              <p:tags r:id="rId26"/>
            </p:custDataLst>
          </p:nvPr>
        </p:nvSpPr>
        <p:spPr>
          <a:xfrm>
            <a:off x="5872480" y="4403090"/>
            <a:ext cx="2936240" cy="1356360"/>
          </a:xfrm>
          <a:prstGeom prst="rect">
            <a:avLst/>
          </a:prstGeom>
        </p:spPr>
        <p:txBody>
          <a:bodyPr wrap="square">
            <a:noAutofit/>
          </a:bodyPr>
          <a:lstStyle/>
          <a:p>
            <a:pPr>
              <a:lnSpc>
                <a:spcPct val="130000"/>
              </a:lnSpc>
            </a:pPr>
            <a:r>
              <a:rPr lang="en-US" altLang="zh-CN" dirty="0">
                <a:solidFill>
                  <a:schemeClr val="tx1">
                    <a:lumMod val="50000"/>
                    <a:lumOff val="50000"/>
                  </a:schemeClr>
                </a:solidFill>
              </a:rPr>
              <a:t>Standardize numeric features: tenure, MonthlyCharges, TotalCharges</a:t>
            </a:r>
            <a:endParaRPr lang="en-US" altLang="zh-CN" dirty="0">
              <a:solidFill>
                <a:schemeClr val="tx1">
                  <a:lumMod val="50000"/>
                  <a:lumOff val="50000"/>
                </a:schemeClr>
              </a:solidFill>
            </a:endParaRPr>
          </a:p>
        </p:txBody>
      </p:sp>
      <p:sp>
        <p:nvSpPr>
          <p:cNvPr id="2" name="等腰三角形 1"/>
          <p:cNvSpPr/>
          <p:nvPr>
            <p:custDataLst>
              <p:tags r:id="rId27"/>
            </p:custDataLst>
          </p:nvPr>
        </p:nvSpPr>
        <p:spPr>
          <a:xfrm flipV="1">
            <a:off x="2069254" y="3871990"/>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等腰三角形 27"/>
          <p:cNvSpPr/>
          <p:nvPr>
            <p:custDataLst>
              <p:tags r:id="rId28"/>
            </p:custDataLst>
          </p:nvPr>
        </p:nvSpPr>
        <p:spPr>
          <a:xfrm flipV="1">
            <a:off x="7379680" y="3871990"/>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8"/>
          <p:cNvSpPr/>
          <p:nvPr>
            <p:custDataLst>
              <p:tags r:id="rId29"/>
            </p:custDataLst>
          </p:nvPr>
        </p:nvSpPr>
        <p:spPr>
          <a:xfrm>
            <a:off x="4724467" y="2879499"/>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等腰三角形 29"/>
          <p:cNvSpPr/>
          <p:nvPr>
            <p:custDataLst>
              <p:tags r:id="rId30"/>
            </p:custDataLst>
          </p:nvPr>
        </p:nvSpPr>
        <p:spPr>
          <a:xfrm>
            <a:off x="10034890" y="2879499"/>
            <a:ext cx="121496" cy="104738"/>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连接符 36"/>
          <p:cNvCxnSpPr/>
          <p:nvPr>
            <p:custDataLst>
              <p:tags r:id="rId31"/>
            </p:custDataLst>
          </p:nvPr>
        </p:nvCxnSpPr>
        <p:spPr>
          <a:xfrm>
            <a:off x="5617187"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custDataLst>
              <p:tags r:id="rId32"/>
            </p:custDataLst>
          </p:nvPr>
        </p:nvCxnSpPr>
        <p:spPr>
          <a:xfrm>
            <a:off x="8272399" y="3429000"/>
            <a:ext cx="991268" cy="0"/>
          </a:xfrm>
          <a:prstGeom prst="line">
            <a:avLst/>
          </a:prstGeom>
          <a:ln w="25400" cap="rnd">
            <a:gradFill flip="none" rotWithShape="1">
              <a:gsLst>
                <a:gs pos="0">
                  <a:schemeClr val="accent1">
                    <a:lumMod val="20000"/>
                    <a:lumOff val="80000"/>
                  </a:schemeClr>
                </a:gs>
                <a:gs pos="100000">
                  <a:schemeClr val="accent1">
                    <a:lumMod val="20000"/>
                    <a:lumOff val="80000"/>
                  </a:schemeClr>
                </a:gs>
                <a:gs pos="5000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320040" y="650240"/>
            <a:ext cx="3096895" cy="137096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Preprocessing Pipeline</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53" name="直接连接符 52"/>
          <p:cNvCxnSpPr/>
          <p:nvPr/>
        </p:nvCxnSpPr>
        <p:spPr>
          <a:xfrm>
            <a:off x="446517" y="2255830"/>
            <a:ext cx="522514" cy="0"/>
          </a:xfrm>
          <a:prstGeom prst="line">
            <a:avLst/>
          </a:prstGeom>
          <a:ln w="2540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778635" y="5963285"/>
            <a:ext cx="8771255" cy="521970"/>
          </a:xfrm>
          <a:prstGeom prst="rect">
            <a:avLst/>
          </a:prstGeom>
          <a:gradFill>
            <a:gsLst>
              <a:gs pos="50000">
                <a:schemeClr val="accent3"/>
              </a:gs>
              <a:gs pos="0">
                <a:schemeClr val="accent3">
                  <a:lumMod val="25000"/>
                  <a:lumOff val="75000"/>
                </a:schemeClr>
              </a:gs>
              <a:gs pos="100000">
                <a:schemeClr val="accent3">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文本框 17"/>
          <p:cNvSpPr txBox="1"/>
          <p:nvPr/>
        </p:nvSpPr>
        <p:spPr>
          <a:xfrm>
            <a:off x="2125980" y="6097270"/>
            <a:ext cx="8107045" cy="368300"/>
          </a:xfrm>
          <a:prstGeom prst="rect">
            <a:avLst/>
          </a:prstGeom>
          <a:noFill/>
        </p:spPr>
        <p:txBody>
          <a:bodyPr wrap="square" rtlCol="0">
            <a:spAutoFit/>
          </a:bodyPr>
          <a:p>
            <a:r>
              <a:rPr lang="en-US" altLang="zh-CN" b="1">
                <a:solidFill>
                  <a:schemeClr val="accent1"/>
                </a:solidFill>
                <a:uFillTx/>
              </a:rPr>
              <a:t>No data leakage</a:t>
            </a:r>
            <a:r>
              <a:rPr lang="en-US" altLang="zh-CN">
                <a:solidFill>
                  <a:schemeClr val="accent1"/>
                </a:solidFill>
                <a:uFillTx/>
              </a:rPr>
              <a:t>: </a:t>
            </a:r>
            <a:r>
              <a:rPr lang="en-US" altLang="zh-CN" i="1">
                <a:solidFill>
                  <a:schemeClr val="accent1"/>
                </a:solidFill>
                <a:uFillTx/>
              </a:rPr>
              <a:t>scaling is performed using training folds only.</a:t>
            </a:r>
            <a:endParaRPr lang="en-US" altLang="zh-CN" i="1">
              <a:solidFill>
                <a:schemeClr val="accent1"/>
              </a:solidFill>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750"/>
                                        <p:tgtEl>
                                          <p:spTgt spid="52"/>
                                        </p:tgtEl>
                                      </p:cBhvr>
                                    </p:animEffect>
                                  </p:childTnLst>
                                </p:cTn>
                              </p:par>
                              <p:par>
                                <p:cTn id="8" presetID="63" presetClass="path" presetSubtype="0" decel="50000" fill="hold" grpId="1" nodeType="withEffect">
                                  <p:stCondLst>
                                    <p:cond delay="0"/>
                                  </p:stCondLst>
                                  <p:childTnLst>
                                    <p:animMotion origin="layout" path="M -0.01562 3.7037E-7 L 0.11081 3.7037E-7 " pathEditMode="relative" rAng="0" ptsTypes="AA">
                                      <p:cBhvr>
                                        <p:cTn id="9" dur="750" spd="-100000" fill="hold"/>
                                        <p:tgtEl>
                                          <p:spTgt spid="52"/>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2 3.7037E-7 L -2.29167E-6 3.7037E-7 " pathEditMode="relative" rAng="0" ptsTypes="AA">
                                      <p:cBhvr>
                                        <p:cTn id="11" dur="750" fill="hold"/>
                                        <p:tgtEl>
                                          <p:spTgt spid="52"/>
                                        </p:tgtEl>
                                        <p:attrNameLst>
                                          <p:attrName>ppt_x</p:attrName>
                                          <p:attrName>ppt_y</p:attrName>
                                        </p:attrNameLst>
                                      </p:cBhvr>
                                      <p:rCtr x="781" y="0"/>
                                    </p:animMotion>
                                  </p:childTnLst>
                                </p:cTn>
                              </p:par>
                              <p:par>
                                <p:cTn id="12" presetID="22" presetClass="entr" presetSubtype="8" fill="hold" nodeType="with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wipe(left)">
                                      <p:cBhvr>
                                        <p:cTn id="14" dur="1500"/>
                                        <p:tgtEl>
                                          <p:spTgt spid="53"/>
                                        </p:tgtEl>
                                      </p:cBhvr>
                                    </p:animEffect>
                                  </p:childTnLst>
                                </p:cTn>
                              </p:par>
                              <p:par>
                                <p:cTn id="15" presetID="63" presetClass="path" presetSubtype="0" decel="50000" fill="hold" nodeType="withEffect">
                                  <p:stCondLst>
                                    <p:cond delay="0"/>
                                  </p:stCondLst>
                                  <p:childTnLst>
                                    <p:animMotion origin="layout" path="M -0.01562 3.7037E-7 L 0.11081 3.7037E-7 " pathEditMode="relative" rAng="0" ptsTypes="AA">
                                      <p:cBhvr>
                                        <p:cTn id="16" dur="750" spd="-100000" fill="hold"/>
                                        <p:tgtEl>
                                          <p:spTgt spid="53"/>
                                        </p:tgtEl>
                                        <p:attrNameLst>
                                          <p:attrName>ppt_x</p:attrName>
                                          <p:attrName>ppt_y</p:attrName>
                                        </p:attrNameLst>
                                      </p:cBhvr>
                                      <p:rCtr x="6315" y="0"/>
                                    </p:animMotion>
                                  </p:childTnLst>
                                </p:cTn>
                              </p:par>
                              <p:par>
                                <p:cTn id="17" presetID="35" presetClass="path" presetSubtype="0" accel="50000" decel="50000" fill="hold" nodeType="withEffect">
                                  <p:stCondLst>
                                    <p:cond delay="750"/>
                                  </p:stCondLst>
                                  <p:childTnLst>
                                    <p:animMotion origin="layout" path="M -0.01562 3.7037E-7 L -2.29167E-6 3.7037E-7 " pathEditMode="relative" rAng="0" ptsTypes="AA">
                                      <p:cBhvr>
                                        <p:cTn id="18" dur="750" fill="hold"/>
                                        <p:tgtEl>
                                          <p:spTgt spid="53"/>
                                        </p:tgtEl>
                                        <p:attrNameLst>
                                          <p:attrName>ppt_x</p:attrName>
                                          <p:attrName>ppt_y</p:attrName>
                                        </p:attrNameLst>
                                      </p:cBhvr>
                                      <p:rCtr x="781" y="0"/>
                                    </p:animMotion>
                                  </p:childTnLst>
                                </p:cTn>
                              </p:par>
                              <p:par>
                                <p:cTn id="19" presetID="10"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750"/>
                                        <p:tgtEl>
                                          <p:spTgt spid="5"/>
                                        </p:tgtEl>
                                      </p:cBhvr>
                                    </p:animEffect>
                                  </p:childTnLst>
                                </p:cTn>
                              </p:par>
                              <p:par>
                                <p:cTn id="22" presetID="63" presetClass="path" presetSubtype="0" decel="50000" fill="hold" nodeType="withEffect">
                                  <p:stCondLst>
                                    <p:cond delay="0"/>
                                  </p:stCondLst>
                                  <p:childTnLst>
                                    <p:animMotion origin="layout" path="M 0.01523 3.7037E-7 L -0.10885 3.7037E-7 " pathEditMode="relative" rAng="0" ptsTypes="AA">
                                      <p:cBhvr>
                                        <p:cTn id="23" dur="750" spd="-100000" fill="hold"/>
                                        <p:tgtEl>
                                          <p:spTgt spid="5"/>
                                        </p:tgtEl>
                                        <p:attrNameLst>
                                          <p:attrName>ppt_x</p:attrName>
                                          <p:attrName>ppt_y</p:attrName>
                                        </p:attrNameLst>
                                      </p:cBhvr>
                                      <p:rCtr x="-6211" y="0"/>
                                    </p:animMotion>
                                  </p:childTnLst>
                                </p:cTn>
                              </p:par>
                              <p:par>
                                <p:cTn id="24" presetID="35" presetClass="path" presetSubtype="0" accel="50000" decel="50000" fill="hold" nodeType="withEffect">
                                  <p:stCondLst>
                                    <p:cond delay="750"/>
                                  </p:stCondLst>
                                  <p:childTnLst>
                                    <p:animMotion origin="layout" path="M 0.01601 3.7037E-7 L 8.33333E-7 3.7037E-7 " pathEditMode="relative" rAng="0" ptsTypes="AA">
                                      <p:cBhvr>
                                        <p:cTn id="25" dur="750" fill="hold"/>
                                        <p:tgtEl>
                                          <p:spTgt spid="5"/>
                                        </p:tgtEl>
                                        <p:attrNameLst>
                                          <p:attrName>ppt_x</p:attrName>
                                          <p:attrName>ppt_y</p:attrName>
                                        </p:attrNameLst>
                                      </p:cBhvr>
                                      <p:rCtr x="-807" y="0"/>
                                    </p:animMotion>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750"/>
                                        <p:tgtEl>
                                          <p:spTgt spid="8"/>
                                        </p:tgtEl>
                                      </p:cBhvr>
                                    </p:animEffect>
                                  </p:childTnLst>
                                </p:cTn>
                              </p:par>
                              <p:par>
                                <p:cTn id="29" presetID="42" presetClass="path" presetSubtype="0" decel="30000" fill="hold" nodeType="withEffect">
                                  <p:stCondLst>
                                    <p:cond delay="0"/>
                                  </p:stCondLst>
                                  <p:childTnLst>
                                    <p:animMotion origin="layout" path="M 3.125E-6 -0.03982 L 3.125E-6 0.14815 " pathEditMode="relative" rAng="0" ptsTypes="AA">
                                      <p:cBhvr>
                                        <p:cTn id="30" dur="750" spd="-100000" fill="hold"/>
                                        <p:tgtEl>
                                          <p:spTgt spid="8"/>
                                        </p:tgtEl>
                                        <p:attrNameLst>
                                          <p:attrName>ppt_x</p:attrName>
                                          <p:attrName>ppt_y</p:attrName>
                                        </p:attrNameLst>
                                      </p:cBhvr>
                                      <p:rCtr x="0" y="9398"/>
                                    </p:animMotion>
                                  </p:childTnLst>
                                </p:cTn>
                              </p:par>
                              <p:par>
                                <p:cTn id="31" presetID="42" presetClass="path" presetSubtype="0" accel="30000" decel="30000" fill="hold" nodeType="withEffect">
                                  <p:stCondLst>
                                    <p:cond delay="750"/>
                                  </p:stCondLst>
                                  <p:childTnLst>
                                    <p:animMotion origin="layout" path="M 3.125E-6 -0.03982 L 3.125E-6 3.7037E-7 " pathEditMode="relative" rAng="0" ptsTypes="AA">
                                      <p:cBhvr>
                                        <p:cTn id="32" dur="750" fill="hold"/>
                                        <p:tgtEl>
                                          <p:spTgt spid="8"/>
                                        </p:tgtEl>
                                        <p:attrNameLst>
                                          <p:attrName>ppt_x</p:attrName>
                                          <p:attrName>ppt_y</p:attrName>
                                        </p:attrNameLst>
                                      </p:cBhvr>
                                      <p:rCtr x="0" y="1991"/>
                                    </p:animMotion>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750"/>
                                        <p:tgtEl>
                                          <p:spTgt spid="9"/>
                                        </p:tgtEl>
                                      </p:cBhvr>
                                    </p:animEffect>
                                  </p:childTnLst>
                                </p:cTn>
                              </p:par>
                              <p:par>
                                <p:cTn id="36" presetID="64" presetClass="path" presetSubtype="0" decel="30000" fill="hold" nodeType="withEffect">
                                  <p:stCondLst>
                                    <p:cond delay="0"/>
                                  </p:stCondLst>
                                  <p:childTnLst>
                                    <p:animMotion origin="layout" path="M -4.58333E-6 0.03889 L -4.58333E-6 -0.14815 " pathEditMode="relative" rAng="0" ptsTypes="AA">
                                      <p:cBhvr>
                                        <p:cTn id="37" dur="750" spd="-100000" fill="hold"/>
                                        <p:tgtEl>
                                          <p:spTgt spid="9"/>
                                        </p:tgtEl>
                                        <p:attrNameLst>
                                          <p:attrName>ppt_x</p:attrName>
                                          <p:attrName>ppt_y</p:attrName>
                                        </p:attrNameLst>
                                      </p:cBhvr>
                                      <p:rCtr x="0" y="-9352"/>
                                    </p:animMotion>
                                  </p:childTnLst>
                                </p:cTn>
                              </p:par>
                              <p:par>
                                <p:cTn id="38" presetID="64" presetClass="path" presetSubtype="0" accel="30000" decel="30000" fill="hold" nodeType="withEffect">
                                  <p:stCondLst>
                                    <p:cond delay="750"/>
                                  </p:stCondLst>
                                  <p:childTnLst>
                                    <p:animMotion origin="layout" path="M -4.58333E-6 0.03843 L -4.58333E-6 3.7037E-7 " pathEditMode="relative" rAng="0" ptsTypes="AA">
                                      <p:cBhvr>
                                        <p:cTn id="39" dur="750" fill="hold"/>
                                        <p:tgtEl>
                                          <p:spTgt spid="9"/>
                                        </p:tgtEl>
                                        <p:attrNameLst>
                                          <p:attrName>ppt_x</p:attrName>
                                          <p:attrName>ppt_y</p:attrName>
                                        </p:attrNameLst>
                                      </p:cBhvr>
                                      <p:rCtr x="0" y="-1921"/>
                                    </p:animMotion>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750"/>
                                        <p:tgtEl>
                                          <p:spTgt spid="10"/>
                                        </p:tgtEl>
                                      </p:cBhvr>
                                    </p:animEffect>
                                  </p:childTnLst>
                                </p:cTn>
                              </p:par>
                              <p:par>
                                <p:cTn id="43" presetID="63" presetClass="path" presetSubtype="0" decel="50000" fill="hold" nodeType="withEffect">
                                  <p:stCondLst>
                                    <p:cond delay="0"/>
                                  </p:stCondLst>
                                  <p:childTnLst>
                                    <p:animMotion origin="layout" path="M -0.01562 3.7037E-7 L 0.11081 3.7037E-7 " pathEditMode="relative" rAng="0" ptsTypes="AA">
                                      <p:cBhvr>
                                        <p:cTn id="44" dur="750" spd="-100000" fill="hold"/>
                                        <p:tgtEl>
                                          <p:spTgt spid="10"/>
                                        </p:tgtEl>
                                        <p:attrNameLst>
                                          <p:attrName>ppt_x</p:attrName>
                                          <p:attrName>ppt_y</p:attrName>
                                        </p:attrNameLst>
                                      </p:cBhvr>
                                      <p:rCtr x="6315" y="0"/>
                                    </p:animMotion>
                                  </p:childTnLst>
                                </p:cTn>
                              </p:par>
                              <p:par>
                                <p:cTn id="45" presetID="35" presetClass="path" presetSubtype="0" accel="50000" decel="50000" fill="hold" nodeType="withEffect">
                                  <p:stCondLst>
                                    <p:cond delay="750"/>
                                  </p:stCondLst>
                                  <p:childTnLst>
                                    <p:animMotion origin="layout" path="M -0.01562 3.7037E-7 L -2.29167E-6 3.7037E-7 " pathEditMode="relative" rAng="0" ptsTypes="AA">
                                      <p:cBhvr>
                                        <p:cTn id="46" dur="750" fill="hold"/>
                                        <p:tgtEl>
                                          <p:spTgt spid="10"/>
                                        </p:tgtEl>
                                        <p:attrNameLst>
                                          <p:attrName>ppt_x</p:attrName>
                                          <p:attrName>ppt_y</p:attrName>
                                        </p:attrNameLst>
                                      </p:cBhvr>
                                      <p:rCtr x="781" y="0"/>
                                    </p:animMotion>
                                  </p:childTnLst>
                                </p:cTn>
                              </p:par>
                              <p:par>
                                <p:cTn id="47" presetID="53" presetClass="entr" presetSubtype="16" fill="hold" grpId="0" nodeType="withEffect">
                                  <p:stCondLst>
                                    <p:cond delay="750"/>
                                  </p:stCondLst>
                                  <p:childTnLst>
                                    <p:set>
                                      <p:cBhvr>
                                        <p:cTn id="48" dur="1" fill="hold">
                                          <p:stCondLst>
                                            <p:cond delay="0"/>
                                          </p:stCondLst>
                                        </p:cTn>
                                        <p:tgtEl>
                                          <p:spTgt spid="38"/>
                                        </p:tgtEl>
                                        <p:attrNameLst>
                                          <p:attrName>style.visibility</p:attrName>
                                        </p:attrNameLst>
                                      </p:cBhvr>
                                      <p:to>
                                        <p:strVal val="visible"/>
                                      </p:to>
                                    </p:set>
                                    <p:anim calcmode="lin" valueType="num">
                                      <p:cBhvr>
                                        <p:cTn id="49" dur="750" fill="hold"/>
                                        <p:tgtEl>
                                          <p:spTgt spid="38"/>
                                        </p:tgtEl>
                                        <p:attrNameLst>
                                          <p:attrName>ppt_w</p:attrName>
                                        </p:attrNameLst>
                                      </p:cBhvr>
                                      <p:tavLst>
                                        <p:tav tm="0">
                                          <p:val>
                                            <p:fltVal val="0"/>
                                          </p:val>
                                        </p:tav>
                                        <p:tav tm="100000">
                                          <p:val>
                                            <p:strVal val="#ppt_w"/>
                                          </p:val>
                                        </p:tav>
                                      </p:tavLst>
                                    </p:anim>
                                    <p:anim calcmode="lin" valueType="num">
                                      <p:cBhvr>
                                        <p:cTn id="50" dur="750" fill="hold"/>
                                        <p:tgtEl>
                                          <p:spTgt spid="38"/>
                                        </p:tgtEl>
                                        <p:attrNameLst>
                                          <p:attrName>ppt_h</p:attrName>
                                        </p:attrNameLst>
                                      </p:cBhvr>
                                      <p:tavLst>
                                        <p:tav tm="0">
                                          <p:val>
                                            <p:fltVal val="0"/>
                                          </p:val>
                                        </p:tav>
                                        <p:tav tm="100000">
                                          <p:val>
                                            <p:strVal val="#ppt_h"/>
                                          </p:val>
                                        </p:tav>
                                      </p:tavLst>
                                    </p:anim>
                                    <p:animEffect transition="in" filter="fade">
                                      <p:cBhvr>
                                        <p:cTn id="51" dur="750"/>
                                        <p:tgtEl>
                                          <p:spTgt spid="38"/>
                                        </p:tgtEl>
                                      </p:cBhvr>
                                    </p:animEffect>
                                  </p:childTnLst>
                                </p:cTn>
                              </p:par>
                              <p:par>
                                <p:cTn id="52" presetID="53" presetClass="entr" presetSubtype="16" fill="hold" grpId="0" nodeType="withEffect">
                                  <p:stCondLst>
                                    <p:cond delay="750"/>
                                  </p:stCondLst>
                                  <p:childTnLst>
                                    <p:set>
                                      <p:cBhvr>
                                        <p:cTn id="53" dur="1" fill="hold">
                                          <p:stCondLst>
                                            <p:cond delay="0"/>
                                          </p:stCondLst>
                                        </p:cTn>
                                        <p:tgtEl>
                                          <p:spTgt spid="39"/>
                                        </p:tgtEl>
                                        <p:attrNameLst>
                                          <p:attrName>style.visibility</p:attrName>
                                        </p:attrNameLst>
                                      </p:cBhvr>
                                      <p:to>
                                        <p:strVal val="visible"/>
                                      </p:to>
                                    </p:set>
                                    <p:anim calcmode="lin" valueType="num">
                                      <p:cBhvr>
                                        <p:cTn id="54" dur="750" fill="hold"/>
                                        <p:tgtEl>
                                          <p:spTgt spid="39"/>
                                        </p:tgtEl>
                                        <p:attrNameLst>
                                          <p:attrName>ppt_w</p:attrName>
                                        </p:attrNameLst>
                                      </p:cBhvr>
                                      <p:tavLst>
                                        <p:tav tm="0">
                                          <p:val>
                                            <p:fltVal val="0"/>
                                          </p:val>
                                        </p:tav>
                                        <p:tav tm="100000">
                                          <p:val>
                                            <p:strVal val="#ppt_w"/>
                                          </p:val>
                                        </p:tav>
                                      </p:tavLst>
                                    </p:anim>
                                    <p:anim calcmode="lin" valueType="num">
                                      <p:cBhvr>
                                        <p:cTn id="55" dur="750" fill="hold"/>
                                        <p:tgtEl>
                                          <p:spTgt spid="39"/>
                                        </p:tgtEl>
                                        <p:attrNameLst>
                                          <p:attrName>ppt_h</p:attrName>
                                        </p:attrNameLst>
                                      </p:cBhvr>
                                      <p:tavLst>
                                        <p:tav tm="0">
                                          <p:val>
                                            <p:fltVal val="0"/>
                                          </p:val>
                                        </p:tav>
                                        <p:tav tm="100000">
                                          <p:val>
                                            <p:strVal val="#ppt_h"/>
                                          </p:val>
                                        </p:tav>
                                      </p:tavLst>
                                    </p:anim>
                                    <p:animEffect transition="in" filter="fade">
                                      <p:cBhvr>
                                        <p:cTn id="56" dur="750"/>
                                        <p:tgtEl>
                                          <p:spTgt spid="39"/>
                                        </p:tgtEl>
                                      </p:cBhvr>
                                    </p:animEffect>
                                  </p:childTnLst>
                                </p:cTn>
                              </p:par>
                              <p:par>
                                <p:cTn id="57" presetID="53" presetClass="entr" presetSubtype="16" fill="hold" grpId="0" nodeType="withEffect">
                                  <p:stCondLst>
                                    <p:cond delay="750"/>
                                  </p:stCondLst>
                                  <p:childTnLst>
                                    <p:set>
                                      <p:cBhvr>
                                        <p:cTn id="58" dur="1" fill="hold">
                                          <p:stCondLst>
                                            <p:cond delay="0"/>
                                          </p:stCondLst>
                                        </p:cTn>
                                        <p:tgtEl>
                                          <p:spTgt spid="40"/>
                                        </p:tgtEl>
                                        <p:attrNameLst>
                                          <p:attrName>style.visibility</p:attrName>
                                        </p:attrNameLst>
                                      </p:cBhvr>
                                      <p:to>
                                        <p:strVal val="visible"/>
                                      </p:to>
                                    </p:set>
                                    <p:anim calcmode="lin" valueType="num">
                                      <p:cBhvr>
                                        <p:cTn id="59" dur="750" fill="hold"/>
                                        <p:tgtEl>
                                          <p:spTgt spid="40"/>
                                        </p:tgtEl>
                                        <p:attrNameLst>
                                          <p:attrName>ppt_w</p:attrName>
                                        </p:attrNameLst>
                                      </p:cBhvr>
                                      <p:tavLst>
                                        <p:tav tm="0">
                                          <p:val>
                                            <p:fltVal val="0"/>
                                          </p:val>
                                        </p:tav>
                                        <p:tav tm="100000">
                                          <p:val>
                                            <p:strVal val="#ppt_w"/>
                                          </p:val>
                                        </p:tav>
                                      </p:tavLst>
                                    </p:anim>
                                    <p:anim calcmode="lin" valueType="num">
                                      <p:cBhvr>
                                        <p:cTn id="60" dur="750" fill="hold"/>
                                        <p:tgtEl>
                                          <p:spTgt spid="40"/>
                                        </p:tgtEl>
                                        <p:attrNameLst>
                                          <p:attrName>ppt_h</p:attrName>
                                        </p:attrNameLst>
                                      </p:cBhvr>
                                      <p:tavLst>
                                        <p:tav tm="0">
                                          <p:val>
                                            <p:fltVal val="0"/>
                                          </p:val>
                                        </p:tav>
                                        <p:tav tm="100000">
                                          <p:val>
                                            <p:strVal val="#ppt_h"/>
                                          </p:val>
                                        </p:tav>
                                      </p:tavLst>
                                    </p:anim>
                                    <p:animEffect transition="in" filter="fade">
                                      <p:cBhvr>
                                        <p:cTn id="61" dur="750"/>
                                        <p:tgtEl>
                                          <p:spTgt spid="40"/>
                                        </p:tgtEl>
                                      </p:cBhvr>
                                    </p:animEffect>
                                  </p:childTnLst>
                                </p:cTn>
                              </p:par>
                              <p:par>
                                <p:cTn id="62" presetID="53" presetClass="entr" presetSubtype="16" fill="hold" grpId="0" nodeType="withEffect">
                                  <p:stCondLst>
                                    <p:cond delay="750"/>
                                  </p:stCondLst>
                                  <p:childTnLst>
                                    <p:set>
                                      <p:cBhvr>
                                        <p:cTn id="63" dur="1" fill="hold">
                                          <p:stCondLst>
                                            <p:cond delay="0"/>
                                          </p:stCondLst>
                                        </p:cTn>
                                        <p:tgtEl>
                                          <p:spTgt spid="41"/>
                                        </p:tgtEl>
                                        <p:attrNameLst>
                                          <p:attrName>style.visibility</p:attrName>
                                        </p:attrNameLst>
                                      </p:cBhvr>
                                      <p:to>
                                        <p:strVal val="visible"/>
                                      </p:to>
                                    </p:set>
                                    <p:anim calcmode="lin" valueType="num">
                                      <p:cBhvr>
                                        <p:cTn id="64" dur="750" fill="hold"/>
                                        <p:tgtEl>
                                          <p:spTgt spid="41"/>
                                        </p:tgtEl>
                                        <p:attrNameLst>
                                          <p:attrName>ppt_w</p:attrName>
                                        </p:attrNameLst>
                                      </p:cBhvr>
                                      <p:tavLst>
                                        <p:tav tm="0">
                                          <p:val>
                                            <p:fltVal val="0"/>
                                          </p:val>
                                        </p:tav>
                                        <p:tav tm="100000">
                                          <p:val>
                                            <p:strVal val="#ppt_w"/>
                                          </p:val>
                                        </p:tav>
                                      </p:tavLst>
                                    </p:anim>
                                    <p:anim calcmode="lin" valueType="num">
                                      <p:cBhvr>
                                        <p:cTn id="65" dur="750" fill="hold"/>
                                        <p:tgtEl>
                                          <p:spTgt spid="41"/>
                                        </p:tgtEl>
                                        <p:attrNameLst>
                                          <p:attrName>ppt_h</p:attrName>
                                        </p:attrNameLst>
                                      </p:cBhvr>
                                      <p:tavLst>
                                        <p:tav tm="0">
                                          <p:val>
                                            <p:fltVal val="0"/>
                                          </p:val>
                                        </p:tav>
                                        <p:tav tm="100000">
                                          <p:val>
                                            <p:strVal val="#ppt_h"/>
                                          </p:val>
                                        </p:tav>
                                      </p:tavLst>
                                    </p:anim>
                                    <p:animEffect transition="in" filter="fade">
                                      <p:cBhvr>
                                        <p:cTn id="66" dur="750"/>
                                        <p:tgtEl>
                                          <p:spTgt spid="41"/>
                                        </p:tgtEl>
                                      </p:cBhvr>
                                    </p:animEffect>
                                  </p:childTnLst>
                                </p:cTn>
                              </p:par>
                              <p:par>
                                <p:cTn id="67" presetID="22" presetClass="entr" presetSubtype="2" fill="hold" nodeType="withEffect">
                                  <p:stCondLst>
                                    <p:cond delay="750"/>
                                  </p:stCondLst>
                                  <p:childTnLst>
                                    <p:set>
                                      <p:cBhvr>
                                        <p:cTn id="68" dur="1" fill="hold">
                                          <p:stCondLst>
                                            <p:cond delay="0"/>
                                          </p:stCondLst>
                                        </p:cTn>
                                        <p:tgtEl>
                                          <p:spTgt spid="27"/>
                                        </p:tgtEl>
                                        <p:attrNameLst>
                                          <p:attrName>style.visibility</p:attrName>
                                        </p:attrNameLst>
                                      </p:cBhvr>
                                      <p:to>
                                        <p:strVal val="visible"/>
                                      </p:to>
                                    </p:set>
                                    <p:animEffect transition="in" filter="wipe(right)">
                                      <p:cBhvr>
                                        <p:cTn id="69" dur="750"/>
                                        <p:tgtEl>
                                          <p:spTgt spid="27"/>
                                        </p:tgtEl>
                                      </p:cBhvr>
                                    </p:animEffect>
                                  </p:childTnLst>
                                </p:cTn>
                              </p:par>
                              <p:par>
                                <p:cTn id="70" presetID="22" presetClass="entr" presetSubtype="8" fill="hold" nodeType="withEffect">
                                  <p:stCondLst>
                                    <p:cond delay="75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750"/>
                                        <p:tgtEl>
                                          <p:spTgt spid="3"/>
                                        </p:tgtEl>
                                      </p:cBhvr>
                                    </p:animEffect>
                                  </p:childTnLst>
                                </p:cTn>
                              </p:par>
                              <p:par>
                                <p:cTn id="73" presetID="16" presetClass="entr" presetSubtype="37" fill="hold" nodeType="withEffect">
                                  <p:stCondLst>
                                    <p:cond delay="750"/>
                                  </p:stCondLst>
                                  <p:childTnLst>
                                    <p:set>
                                      <p:cBhvr>
                                        <p:cTn id="74" dur="1" fill="hold">
                                          <p:stCondLst>
                                            <p:cond delay="0"/>
                                          </p:stCondLst>
                                        </p:cTn>
                                        <p:tgtEl>
                                          <p:spTgt spid="20"/>
                                        </p:tgtEl>
                                        <p:attrNameLst>
                                          <p:attrName>style.visibility</p:attrName>
                                        </p:attrNameLst>
                                      </p:cBhvr>
                                      <p:to>
                                        <p:strVal val="visible"/>
                                      </p:to>
                                    </p:set>
                                    <p:animEffect transition="in" filter="barn(outVertical)">
                                      <p:cBhvr>
                                        <p:cTn id="75" dur="750"/>
                                        <p:tgtEl>
                                          <p:spTgt spid="20"/>
                                        </p:tgtEl>
                                      </p:cBhvr>
                                    </p:animEffect>
                                  </p:childTnLst>
                                </p:cTn>
                              </p:par>
                              <p:par>
                                <p:cTn id="76" presetID="16" presetClass="entr" presetSubtype="37" fill="hold" nodeType="withEffect">
                                  <p:stCondLst>
                                    <p:cond delay="750"/>
                                  </p:stCondLst>
                                  <p:childTnLst>
                                    <p:set>
                                      <p:cBhvr>
                                        <p:cTn id="77" dur="1" fill="hold">
                                          <p:stCondLst>
                                            <p:cond delay="0"/>
                                          </p:stCondLst>
                                        </p:cTn>
                                        <p:tgtEl>
                                          <p:spTgt spid="37"/>
                                        </p:tgtEl>
                                        <p:attrNameLst>
                                          <p:attrName>style.visibility</p:attrName>
                                        </p:attrNameLst>
                                      </p:cBhvr>
                                      <p:to>
                                        <p:strVal val="visible"/>
                                      </p:to>
                                    </p:set>
                                    <p:animEffect transition="in" filter="barn(outVertical)">
                                      <p:cBhvr>
                                        <p:cTn id="78" dur="750"/>
                                        <p:tgtEl>
                                          <p:spTgt spid="37"/>
                                        </p:tgtEl>
                                      </p:cBhvr>
                                    </p:animEffect>
                                  </p:childTnLst>
                                </p:cTn>
                              </p:par>
                              <p:par>
                                <p:cTn id="79" presetID="16" presetClass="entr" presetSubtype="37" fill="hold" nodeType="withEffect">
                                  <p:stCondLst>
                                    <p:cond delay="750"/>
                                  </p:stCondLst>
                                  <p:childTnLst>
                                    <p:set>
                                      <p:cBhvr>
                                        <p:cTn id="80" dur="1" fill="hold">
                                          <p:stCondLst>
                                            <p:cond delay="0"/>
                                          </p:stCondLst>
                                        </p:cTn>
                                        <p:tgtEl>
                                          <p:spTgt spid="42"/>
                                        </p:tgtEl>
                                        <p:attrNameLst>
                                          <p:attrName>style.visibility</p:attrName>
                                        </p:attrNameLst>
                                      </p:cBhvr>
                                      <p:to>
                                        <p:strVal val="visible"/>
                                      </p:to>
                                    </p:set>
                                    <p:animEffect transition="in" filter="barn(outVertical)">
                                      <p:cBhvr>
                                        <p:cTn id="81" dur="750"/>
                                        <p:tgtEl>
                                          <p:spTgt spid="42"/>
                                        </p:tgtEl>
                                      </p:cBhvr>
                                    </p:animEffect>
                                  </p:childTnLst>
                                </p:cTn>
                              </p:par>
                              <p:par>
                                <p:cTn id="82" presetID="12" presetClass="entr" presetSubtype="1" fill="hold" grpId="0" nodeType="withEffect">
                                  <p:stCondLst>
                                    <p:cond delay="1000"/>
                                  </p:stCondLst>
                                  <p:childTnLst>
                                    <p:set>
                                      <p:cBhvr>
                                        <p:cTn id="83" dur="1" fill="hold">
                                          <p:stCondLst>
                                            <p:cond delay="0"/>
                                          </p:stCondLst>
                                        </p:cTn>
                                        <p:tgtEl>
                                          <p:spTgt spid="2"/>
                                        </p:tgtEl>
                                        <p:attrNameLst>
                                          <p:attrName>style.visibility</p:attrName>
                                        </p:attrNameLst>
                                      </p:cBhvr>
                                      <p:to>
                                        <p:strVal val="visible"/>
                                      </p:to>
                                    </p:set>
                                    <p:anim calcmode="lin" valueType="num">
                                      <p:cBhvr additive="base">
                                        <p:cTn id="84" dur="500"/>
                                        <p:tgtEl>
                                          <p:spTgt spid="2"/>
                                        </p:tgtEl>
                                        <p:attrNameLst>
                                          <p:attrName>ppt_y</p:attrName>
                                        </p:attrNameLst>
                                      </p:cBhvr>
                                      <p:tavLst>
                                        <p:tav tm="0">
                                          <p:val>
                                            <p:strVal val="#ppt_y-#ppt_h*1.125000"/>
                                          </p:val>
                                        </p:tav>
                                        <p:tav tm="100000">
                                          <p:val>
                                            <p:strVal val="#ppt_y"/>
                                          </p:val>
                                        </p:tav>
                                      </p:tavLst>
                                    </p:anim>
                                    <p:animEffect transition="in" filter="wipe(down)">
                                      <p:cBhvr>
                                        <p:cTn id="85" dur="500"/>
                                        <p:tgtEl>
                                          <p:spTgt spid="2"/>
                                        </p:tgtEl>
                                      </p:cBhvr>
                                    </p:animEffect>
                                  </p:childTnLst>
                                </p:cTn>
                              </p:par>
                              <p:par>
                                <p:cTn id="86" presetID="12" presetClass="entr" presetSubtype="4" fill="hold" grpId="0" nodeType="withEffect">
                                  <p:stCondLst>
                                    <p:cond delay="1000"/>
                                  </p:stCondLst>
                                  <p:childTnLst>
                                    <p:set>
                                      <p:cBhvr>
                                        <p:cTn id="87" dur="1" fill="hold">
                                          <p:stCondLst>
                                            <p:cond delay="0"/>
                                          </p:stCondLst>
                                        </p:cTn>
                                        <p:tgtEl>
                                          <p:spTgt spid="29"/>
                                        </p:tgtEl>
                                        <p:attrNameLst>
                                          <p:attrName>style.visibility</p:attrName>
                                        </p:attrNameLst>
                                      </p:cBhvr>
                                      <p:to>
                                        <p:strVal val="visible"/>
                                      </p:to>
                                    </p:set>
                                    <p:anim calcmode="lin" valueType="num">
                                      <p:cBhvr additive="base">
                                        <p:cTn id="88" dur="500"/>
                                        <p:tgtEl>
                                          <p:spTgt spid="29"/>
                                        </p:tgtEl>
                                        <p:attrNameLst>
                                          <p:attrName>ppt_y</p:attrName>
                                        </p:attrNameLst>
                                      </p:cBhvr>
                                      <p:tavLst>
                                        <p:tav tm="0">
                                          <p:val>
                                            <p:strVal val="#ppt_y+#ppt_h*1.125000"/>
                                          </p:val>
                                        </p:tav>
                                        <p:tav tm="100000">
                                          <p:val>
                                            <p:strVal val="#ppt_y"/>
                                          </p:val>
                                        </p:tav>
                                      </p:tavLst>
                                    </p:anim>
                                    <p:animEffect transition="in" filter="wipe(up)">
                                      <p:cBhvr>
                                        <p:cTn id="89" dur="500"/>
                                        <p:tgtEl>
                                          <p:spTgt spid="29"/>
                                        </p:tgtEl>
                                      </p:cBhvr>
                                    </p:animEffect>
                                  </p:childTnLst>
                                </p:cTn>
                              </p:par>
                              <p:par>
                                <p:cTn id="90" presetID="12" presetClass="entr" presetSubtype="1" fill="hold" grpId="0" nodeType="withEffect">
                                  <p:stCondLst>
                                    <p:cond delay="1000"/>
                                  </p:stCondLst>
                                  <p:childTnLst>
                                    <p:set>
                                      <p:cBhvr>
                                        <p:cTn id="91" dur="1" fill="hold">
                                          <p:stCondLst>
                                            <p:cond delay="0"/>
                                          </p:stCondLst>
                                        </p:cTn>
                                        <p:tgtEl>
                                          <p:spTgt spid="28"/>
                                        </p:tgtEl>
                                        <p:attrNameLst>
                                          <p:attrName>style.visibility</p:attrName>
                                        </p:attrNameLst>
                                      </p:cBhvr>
                                      <p:to>
                                        <p:strVal val="visible"/>
                                      </p:to>
                                    </p:set>
                                    <p:anim calcmode="lin" valueType="num">
                                      <p:cBhvr additive="base">
                                        <p:cTn id="92" dur="500"/>
                                        <p:tgtEl>
                                          <p:spTgt spid="28"/>
                                        </p:tgtEl>
                                        <p:attrNameLst>
                                          <p:attrName>ppt_y</p:attrName>
                                        </p:attrNameLst>
                                      </p:cBhvr>
                                      <p:tavLst>
                                        <p:tav tm="0">
                                          <p:val>
                                            <p:strVal val="#ppt_y-#ppt_h*1.125000"/>
                                          </p:val>
                                        </p:tav>
                                        <p:tav tm="100000">
                                          <p:val>
                                            <p:strVal val="#ppt_y"/>
                                          </p:val>
                                        </p:tav>
                                      </p:tavLst>
                                    </p:anim>
                                    <p:animEffect transition="in" filter="wipe(down)">
                                      <p:cBhvr>
                                        <p:cTn id="93" dur="500"/>
                                        <p:tgtEl>
                                          <p:spTgt spid="28"/>
                                        </p:tgtEl>
                                      </p:cBhvr>
                                    </p:animEffect>
                                  </p:childTnLst>
                                </p:cTn>
                              </p:par>
                              <p:par>
                                <p:cTn id="94" presetID="12" presetClass="entr" presetSubtype="4" fill="hold" grpId="0" nodeType="withEffect">
                                  <p:stCondLst>
                                    <p:cond delay="1000"/>
                                  </p:stCondLst>
                                  <p:childTnLst>
                                    <p:set>
                                      <p:cBhvr>
                                        <p:cTn id="95" dur="1" fill="hold">
                                          <p:stCondLst>
                                            <p:cond delay="0"/>
                                          </p:stCondLst>
                                        </p:cTn>
                                        <p:tgtEl>
                                          <p:spTgt spid="30"/>
                                        </p:tgtEl>
                                        <p:attrNameLst>
                                          <p:attrName>style.visibility</p:attrName>
                                        </p:attrNameLst>
                                      </p:cBhvr>
                                      <p:to>
                                        <p:strVal val="visible"/>
                                      </p:to>
                                    </p:set>
                                    <p:anim calcmode="lin" valueType="num">
                                      <p:cBhvr additive="base">
                                        <p:cTn id="96" dur="500"/>
                                        <p:tgtEl>
                                          <p:spTgt spid="30"/>
                                        </p:tgtEl>
                                        <p:attrNameLst>
                                          <p:attrName>ppt_y</p:attrName>
                                        </p:attrNameLst>
                                      </p:cBhvr>
                                      <p:tavLst>
                                        <p:tav tm="0">
                                          <p:val>
                                            <p:strVal val="#ppt_y+#ppt_h*1.125000"/>
                                          </p:val>
                                        </p:tav>
                                        <p:tav tm="100000">
                                          <p:val>
                                            <p:strVal val="#ppt_y"/>
                                          </p:val>
                                        </p:tav>
                                      </p:tavLst>
                                    </p:anim>
                                    <p:animEffect transition="in" filter="wipe(up)">
                                      <p:cBhvr>
                                        <p:cTn id="97" dur="500"/>
                                        <p:tgtEl>
                                          <p:spTgt spid="30"/>
                                        </p:tgtEl>
                                      </p:cBhvr>
                                    </p:animEffect>
                                  </p:childTnLst>
                                </p:cTn>
                              </p:par>
                              <p:par>
                                <p:cTn id="98" presetID="10" presetClass="entr" presetSubtype="0" fill="hold" grpId="0" nodeType="withEffect">
                                  <p:stCondLst>
                                    <p:cond delay="1150"/>
                                  </p:stCondLst>
                                  <p:childTnLst>
                                    <p:set>
                                      <p:cBhvr>
                                        <p:cTn id="99" dur="1" fill="hold">
                                          <p:stCondLst>
                                            <p:cond delay="0"/>
                                          </p:stCondLst>
                                        </p:cTn>
                                        <p:tgtEl>
                                          <p:spTgt spid="12"/>
                                        </p:tgtEl>
                                        <p:attrNameLst>
                                          <p:attrName>style.visibility</p:attrName>
                                        </p:attrNameLst>
                                      </p:cBhvr>
                                      <p:to>
                                        <p:strVal val="visible"/>
                                      </p:to>
                                    </p:set>
                                    <p:animEffect transition="in" filter="fade">
                                      <p:cBhvr>
                                        <p:cTn id="100" dur="750"/>
                                        <p:tgtEl>
                                          <p:spTgt spid="12"/>
                                        </p:tgtEl>
                                      </p:cBhvr>
                                    </p:animEffect>
                                  </p:childTnLst>
                                </p:cTn>
                              </p:par>
                              <p:par>
                                <p:cTn id="101" presetID="42" presetClass="path" presetSubtype="0" decel="36000" fill="hold" grpId="1" nodeType="withEffect">
                                  <p:stCondLst>
                                    <p:cond delay="1150"/>
                                  </p:stCondLst>
                                  <p:childTnLst>
                                    <p:animMotion origin="layout" path="M 8.33333E-7 3.33333E-6 L 0.06315 -0.10324 " pathEditMode="relative" rAng="0" ptsTypes="AA">
                                      <p:cBhvr>
                                        <p:cTn id="102" dur="750" spd="-100000" fill="hold"/>
                                        <p:tgtEl>
                                          <p:spTgt spid="12"/>
                                        </p:tgtEl>
                                        <p:attrNameLst>
                                          <p:attrName>ppt_x</p:attrName>
                                          <p:attrName>ppt_y</p:attrName>
                                        </p:attrNameLst>
                                      </p:cBhvr>
                                      <p:rCtr x="3151" y="-5162"/>
                                    </p:animMotion>
                                  </p:childTnLst>
                                </p:cTn>
                              </p:par>
                              <p:par>
                                <p:cTn id="103" presetID="10" presetClass="entr" presetSubtype="0" fill="hold" grpId="0" nodeType="withEffect">
                                  <p:stCondLst>
                                    <p:cond delay="1150"/>
                                  </p:stCondLst>
                                  <p:childTnLst>
                                    <p:set>
                                      <p:cBhvr>
                                        <p:cTn id="104" dur="1" fill="hold">
                                          <p:stCondLst>
                                            <p:cond delay="0"/>
                                          </p:stCondLst>
                                        </p:cTn>
                                        <p:tgtEl>
                                          <p:spTgt spid="7"/>
                                        </p:tgtEl>
                                        <p:attrNameLst>
                                          <p:attrName>style.visibility</p:attrName>
                                        </p:attrNameLst>
                                      </p:cBhvr>
                                      <p:to>
                                        <p:strVal val="visible"/>
                                      </p:to>
                                    </p:set>
                                    <p:animEffect transition="in" filter="fade">
                                      <p:cBhvr>
                                        <p:cTn id="105" dur="750"/>
                                        <p:tgtEl>
                                          <p:spTgt spid="7"/>
                                        </p:tgtEl>
                                      </p:cBhvr>
                                    </p:animEffect>
                                  </p:childTnLst>
                                </p:cTn>
                              </p:par>
                              <p:par>
                                <p:cTn id="106" presetID="42" presetClass="path" presetSubtype="0" decel="36000" fill="hold" grpId="1" nodeType="withEffect">
                                  <p:stCondLst>
                                    <p:cond delay="1150"/>
                                  </p:stCondLst>
                                  <p:childTnLst>
                                    <p:animMotion origin="layout" path="M 8.33333E-7 3.33333E-6 L 0.06315 -0.10324 " pathEditMode="relative" rAng="0" ptsTypes="AA">
                                      <p:cBhvr>
                                        <p:cTn id="107" dur="750" spd="-100000" fill="hold"/>
                                        <p:tgtEl>
                                          <p:spTgt spid="7"/>
                                        </p:tgtEl>
                                        <p:attrNameLst>
                                          <p:attrName>ppt_x</p:attrName>
                                          <p:attrName>ppt_y</p:attrName>
                                        </p:attrNameLst>
                                      </p:cBhvr>
                                      <p:rCtr x="3151" y="-5162"/>
                                    </p:animMotion>
                                  </p:childTnLst>
                                </p:cTn>
                              </p:par>
                              <p:par>
                                <p:cTn id="108" presetID="10" presetClass="entr" presetSubtype="0" fill="hold" grpId="0" nodeType="withEffect">
                                  <p:stCondLst>
                                    <p:cond delay="1150"/>
                                  </p:stCondLst>
                                  <p:childTnLst>
                                    <p:set>
                                      <p:cBhvr>
                                        <p:cTn id="109" dur="1" fill="hold">
                                          <p:stCondLst>
                                            <p:cond delay="0"/>
                                          </p:stCondLst>
                                        </p:cTn>
                                        <p:tgtEl>
                                          <p:spTgt spid="11"/>
                                        </p:tgtEl>
                                        <p:attrNameLst>
                                          <p:attrName>style.visibility</p:attrName>
                                        </p:attrNameLst>
                                      </p:cBhvr>
                                      <p:to>
                                        <p:strVal val="visible"/>
                                      </p:to>
                                    </p:set>
                                    <p:animEffect transition="in" filter="fade">
                                      <p:cBhvr>
                                        <p:cTn id="110" dur="750"/>
                                        <p:tgtEl>
                                          <p:spTgt spid="11"/>
                                        </p:tgtEl>
                                      </p:cBhvr>
                                    </p:animEffect>
                                  </p:childTnLst>
                                </p:cTn>
                              </p:par>
                              <p:par>
                                <p:cTn id="111" presetID="42" presetClass="path" presetSubtype="0" decel="36000" fill="hold" grpId="1" nodeType="withEffect">
                                  <p:stCondLst>
                                    <p:cond delay="1150"/>
                                  </p:stCondLst>
                                  <p:childTnLst>
                                    <p:animMotion origin="layout" path="M 4.375E-6 -3.33333E-6 L -0.06771 0.09375 " pathEditMode="relative" rAng="0" ptsTypes="AA">
                                      <p:cBhvr>
                                        <p:cTn id="112" dur="750" spd="-100000" fill="hold"/>
                                        <p:tgtEl>
                                          <p:spTgt spid="11"/>
                                        </p:tgtEl>
                                        <p:attrNameLst>
                                          <p:attrName>ppt_x</p:attrName>
                                          <p:attrName>ppt_y</p:attrName>
                                        </p:attrNameLst>
                                      </p:cBhvr>
                                      <p:rCtr x="-3385" y="4676"/>
                                    </p:animMotion>
                                  </p:childTnLst>
                                </p:cTn>
                              </p:par>
                              <p:par>
                                <p:cTn id="113" presetID="10" presetClass="entr" presetSubtype="0" fill="hold" grpId="0" nodeType="withEffect">
                                  <p:stCondLst>
                                    <p:cond delay="1150"/>
                                  </p:stCondLst>
                                  <p:childTnLst>
                                    <p:set>
                                      <p:cBhvr>
                                        <p:cTn id="114" dur="1" fill="hold">
                                          <p:stCondLst>
                                            <p:cond delay="0"/>
                                          </p:stCondLst>
                                        </p:cTn>
                                        <p:tgtEl>
                                          <p:spTgt spid="6"/>
                                        </p:tgtEl>
                                        <p:attrNameLst>
                                          <p:attrName>style.visibility</p:attrName>
                                        </p:attrNameLst>
                                      </p:cBhvr>
                                      <p:to>
                                        <p:strVal val="visible"/>
                                      </p:to>
                                    </p:set>
                                    <p:animEffect transition="in" filter="fade">
                                      <p:cBhvr>
                                        <p:cTn id="115" dur="750"/>
                                        <p:tgtEl>
                                          <p:spTgt spid="6"/>
                                        </p:tgtEl>
                                      </p:cBhvr>
                                    </p:animEffect>
                                  </p:childTnLst>
                                </p:cTn>
                              </p:par>
                              <p:par>
                                <p:cTn id="116" presetID="42" presetClass="path" presetSubtype="0" decel="36000" fill="hold" grpId="1" nodeType="withEffect">
                                  <p:stCondLst>
                                    <p:cond delay="1150"/>
                                  </p:stCondLst>
                                  <p:childTnLst>
                                    <p:animMotion origin="layout" path="M 4.375E-6 -3.33333E-6 L -0.06771 0.09375 " pathEditMode="relative" rAng="0" ptsTypes="AA">
                                      <p:cBhvr>
                                        <p:cTn id="117" dur="750" spd="-100000" fill="hold"/>
                                        <p:tgtEl>
                                          <p:spTgt spid="6"/>
                                        </p:tgtEl>
                                        <p:attrNameLst>
                                          <p:attrName>ppt_x</p:attrName>
                                          <p:attrName>ppt_y</p:attrName>
                                        </p:attrNameLst>
                                      </p:cBhvr>
                                      <p:rCtr x="-3385" y="4676"/>
                                    </p:animMotion>
                                  </p:childTnLst>
                                </p:cTn>
                              </p:par>
                              <p:par>
                                <p:cTn id="118" presetID="10" presetClass="entr" presetSubtype="0" fill="hold" grpId="0" nodeType="withEffect">
                                  <p:stCondLst>
                                    <p:cond delay="1500"/>
                                  </p:stCondLst>
                                  <p:childTnLst>
                                    <p:set>
                                      <p:cBhvr>
                                        <p:cTn id="119" dur="1" fill="hold">
                                          <p:stCondLst>
                                            <p:cond delay="0"/>
                                          </p:stCondLst>
                                        </p:cTn>
                                        <p:tgtEl>
                                          <p:spTgt spid="46"/>
                                        </p:tgtEl>
                                        <p:attrNameLst>
                                          <p:attrName>style.visibility</p:attrName>
                                        </p:attrNameLst>
                                      </p:cBhvr>
                                      <p:to>
                                        <p:strVal val="visible"/>
                                      </p:to>
                                    </p:set>
                                    <p:animEffect transition="in" filter="fade">
                                      <p:cBhvr>
                                        <p:cTn id="120" dur="500"/>
                                        <p:tgtEl>
                                          <p:spTgt spid="46"/>
                                        </p:tgtEl>
                                      </p:cBhvr>
                                    </p:animEffect>
                                  </p:childTnLst>
                                </p:cTn>
                              </p:par>
                              <p:par>
                                <p:cTn id="121" presetID="10" presetClass="entr" presetSubtype="0" fill="hold" grpId="0" nodeType="withEffect">
                                  <p:stCondLst>
                                    <p:cond delay="150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500"/>
                                        <p:tgtEl>
                                          <p:spTgt spid="44"/>
                                        </p:tgtEl>
                                      </p:cBhvr>
                                    </p:animEffect>
                                  </p:childTnLst>
                                </p:cTn>
                              </p:par>
                              <p:par>
                                <p:cTn id="124" presetID="10" presetClass="entr" presetSubtype="0" fill="hold" grpId="0" nodeType="withEffect">
                                  <p:stCondLst>
                                    <p:cond delay="150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500"/>
                                        <p:tgtEl>
                                          <p:spTgt spid="45"/>
                                        </p:tgtEl>
                                      </p:cBhvr>
                                    </p:animEffect>
                                  </p:childTnLst>
                                </p:cTn>
                              </p:par>
                              <p:par>
                                <p:cTn id="127" presetID="10" presetClass="entr" presetSubtype="0" fill="hold" grpId="0" nodeType="withEffect">
                                  <p:stCondLst>
                                    <p:cond delay="150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bldLvl="0" animBg="1"/>
      <p:bldP spid="39" grpId="0"/>
      <p:bldP spid="44" grpId="0"/>
      <p:bldP spid="12" grpId="0" bldLvl="0" animBg="1"/>
      <p:bldP spid="12" grpId="1" bldLvl="0" animBg="1"/>
      <p:bldP spid="41" grpId="0"/>
      <p:bldP spid="45" grpId="0"/>
      <p:bldP spid="6" grpId="0" bldLvl="0" animBg="1"/>
      <p:bldP spid="6" grpId="1" bldLvl="0" animBg="1"/>
      <p:bldP spid="38" grpId="0"/>
      <p:bldP spid="46" grpId="0"/>
      <p:bldP spid="11" grpId="0" bldLvl="0" animBg="1"/>
      <p:bldP spid="11" grpId="1" bldLvl="0" animBg="1"/>
      <p:bldP spid="40" grpId="0"/>
      <p:bldP spid="47" grpId="0"/>
      <p:bldP spid="2" grpId="0" bldLvl="0" animBg="1"/>
      <p:bldP spid="28" grpId="0" bldLvl="0" animBg="1"/>
      <p:bldP spid="29" grpId="0" bldLvl="0" animBg="1"/>
      <p:bldP spid="30" grpId="0" bldLvl="0" animBg="1"/>
      <p:bldP spid="52" grpId="0"/>
      <p:bldP spid="52" grpId="1"/>
      <p:bldP spid="52" grpId="2"/>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11200" y="711200"/>
            <a:ext cx="2844800" cy="54483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2133600" y="7112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7112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21336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6" name="Connector 6"/>
          <p:cNvCxnSpPr/>
          <p:nvPr/>
        </p:nvCxnSpPr>
        <p:spPr>
          <a:xfrm>
            <a:off x="876300" y="1574800"/>
            <a:ext cx="2514632" cy="12700"/>
          </a:xfrm>
          <a:prstGeom prst="line">
            <a:avLst/>
          </a:prstGeom>
          <a:solidFill>
            <a:srgbClr val="DEE0E3">
              <a:alpha val="100000"/>
            </a:srgbClr>
          </a:solidFill>
          <a:ln w="12700" cap="rnd" cmpd="sng">
            <a:gradFill rotWithShape="1">
              <a:gsLst>
                <a:gs pos="0">
                  <a:srgbClr val="D7DCE7">
                    <a:alpha val="53000"/>
                  </a:srgbClr>
                </a:gs>
                <a:gs pos="50000">
                  <a:srgbClr val="D7DCE7">
                    <a:alpha val="100000"/>
                  </a:srgbClr>
                </a:gs>
                <a:gs pos="100000">
                  <a:srgbClr val="D7DCE7">
                    <a:alpha val="53000"/>
                  </a:srgbClr>
                </a:gs>
              </a:gsLst>
              <a:lin ang="0"/>
            </a:gradFill>
            <a:prstDash val="solid"/>
            <a:miter lim="10000000"/>
            <a:headEnd type="none" w="med" len="med"/>
            <a:tailEnd type="none" w="med" len="med"/>
          </a:ln>
        </p:spPr>
      </p:cxnSp>
      <p:sp>
        <p:nvSpPr>
          <p:cNvPr id="7" name="AutoShape 7"/>
          <p:cNvSpPr/>
          <p:nvPr/>
        </p:nvSpPr>
        <p:spPr>
          <a:xfrm>
            <a:off x="1181100" y="2095500"/>
            <a:ext cx="1905000" cy="26797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9600" b="1" i="0" u="none" strike="noStrike" kern="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03</a:t>
            </a:r>
            <a:endParaRPr lang="en-US" sz="9600" b="1" i="0" u="none" strike="noStrike" kern="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8" name="AutoShape 8"/>
          <p:cNvSpPr/>
          <p:nvPr/>
        </p:nvSpPr>
        <p:spPr>
          <a:xfrm>
            <a:off x="18288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2082800" y="5232400"/>
            <a:ext cx="101600" cy="101600"/>
          </a:xfrm>
          <a:prstGeom prst="ellipse">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23241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3810000" y="1231900"/>
            <a:ext cx="7696200" cy="49276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11493500" y="7112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37973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4" name="AutoShape 14"/>
          <p:cNvSpPr/>
          <p:nvPr/>
        </p:nvSpPr>
        <p:spPr>
          <a:xfrm>
            <a:off x="114935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4152900" y="3155950"/>
            <a:ext cx="6413500" cy="1689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spcBef>
                <a:spcPts val="0"/>
              </a:spcBef>
              <a:spcAft>
                <a:spcPts val="0"/>
              </a:spcAft>
              <a:defRPr/>
            </a:pPr>
            <a:r>
              <a:rPr lang="en-US" sz="2800" b="1" i="0" u="none" strike="noStrike" kern="0" dirty="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rPr>
              <a:t>Model Theory and Implementation</a:t>
            </a:r>
            <a:endParaRPr lang="en-US" sz="2800" b="1" i="0" u="none" strike="noStrike" kern="0" dirty="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8" name="AutoShape 18"/>
          <p:cNvSpPr/>
          <p:nvPr/>
        </p:nvSpPr>
        <p:spPr>
          <a:xfrm>
            <a:off x="4241800" y="4178300"/>
            <a:ext cx="57023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33000"/>
              </a:lnSpc>
              <a:spcBef>
                <a:spcPts val="0"/>
              </a:spcBef>
              <a:spcAft>
                <a:spcPts val="0"/>
              </a:spcAft>
              <a:defRPr/>
            </a:pPr>
            <a:r>
              <a:rPr lang="en-US" altLang="zh-CN" sz="2400" b="1" kern="0" dirty="0">
                <a:solidFill>
                  <a:schemeClr val="accent1">
                    <a:lumMod val="75000"/>
                  </a:schemeClr>
                </a:solidFill>
                <a:latin typeface="Arial" panose="020B0604020202020204"/>
                <a:ea typeface="Arial" panose="020B0604020202020204"/>
                <a:cs typeface="Arial" panose="020B0604020202020204"/>
                <a:sym typeface="Arial" panose="020B0604020202020204"/>
              </a:rPr>
              <a:t>Huang Yueqing</a:t>
            </a:r>
            <a:endParaRPr lang="en-US" altLang="zh-CN" sz="2400" b="1" kern="0" dirty="0">
              <a:solidFill>
                <a:schemeClr val="accent1">
                  <a:lumMod val="75000"/>
                </a:schemeClr>
              </a:solidFill>
              <a:latin typeface="Arial" panose="020B0604020202020204"/>
              <a:ea typeface="Arial" panose="020B0604020202020204"/>
              <a:cs typeface="Arial" panose="020B0604020202020204"/>
              <a:sym typeface="Arial" panose="020B0604020202020204"/>
            </a:endParaRPr>
          </a:p>
        </p:txBody>
      </p:sp>
      <p:sp>
        <p:nvSpPr>
          <p:cNvPr id="19" name="AutoShape 19"/>
          <p:cNvSpPr/>
          <p:nvPr/>
        </p:nvSpPr>
        <p:spPr>
          <a:xfrm>
            <a:off x="4419632" y="673100"/>
            <a:ext cx="5511800" cy="838200"/>
          </a:xfrm>
          <a:prstGeom prst="roundRect">
            <a:avLst>
              <a:gd name="adj" fmla="val 0"/>
            </a:avLst>
          </a:prstGeom>
          <a:blipFill rotWithShape="1">
            <a:blip r:embed="rId2"/>
            <a:tile tx="0" ty="0" sx="100000" sy="100000" flip="none" algn="tl"/>
          </a:blip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AutoShape 20"/>
          <p:cNvSpPr/>
          <p:nvPr/>
        </p:nvSpPr>
        <p:spPr>
          <a:xfrm>
            <a:off x="4419632" y="1511300"/>
            <a:ext cx="5511800" cy="101600"/>
          </a:xfrm>
          <a:prstGeom prst="roundRect">
            <a:avLst>
              <a:gd name="adj" fmla="val 0"/>
            </a:avLst>
          </a:prstGeom>
          <a:solidFill>
            <a:srgbClr val="F2D4AA">
              <a:alpha val="100000"/>
            </a:srgbClr>
          </a:solid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4508532" y="698500"/>
            <a:ext cx="5537200" cy="711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800" b="1" i="0" u="none" strike="noStrike" kern="0">
                <a:ln w="12700">
                  <a:solidFill>
                    <a:srgbClr val="FFFFFF">
                      <a:alpha val="100000"/>
                    </a:srgbClr>
                  </a:solidFill>
                </a:ln>
                <a:solidFill>
                  <a:srgbClr val="FFFFFF"/>
                </a:solidFill>
                <a:latin typeface="华文细黑" panose="02010600040101010101" charset="-122"/>
                <a:ea typeface="华文细黑" panose="02010600040101010101" charset="-122"/>
                <a:cs typeface="华文细黑" panose="02010600040101010101" charset="-122"/>
                <a:sym typeface="华文细黑" panose="02010600040101010101" charset="-122"/>
              </a:rPr>
              <a:t>AI3013 Machine Learning Course Project</a:t>
            </a:r>
            <a:endParaRPr lang="en-US" sz="1800" b="1" i="0" u="none" strike="noStrike" kern="0">
              <a:ln w="12700">
                <a:solidFill>
                  <a:srgbClr val="FFFFFF">
                    <a:alpha val="100000"/>
                  </a:srgbClr>
                </a:solidFill>
              </a:ln>
              <a:solidFill>
                <a:srgbClr val="FFFFFF"/>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422275" y="722313"/>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3511550" y="4562475"/>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6438900" y="69215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178300" y="2781300"/>
            <a:ext cx="3835400" cy="2006600"/>
          </a:xfrm>
          <a:prstGeom prst="roundRect">
            <a:avLst>
              <a:gd name="adj" fmla="val 0"/>
            </a:avLst>
          </a:prstGeom>
          <a:noFill/>
          <a:ln w="25400" cap="flat" cmpd="sng">
            <a:noFill/>
            <a:prstDash val="solid"/>
            <a:round/>
          </a:ln>
        </p:spPr>
        <p:txBody>
          <a:bodyPr vert="horz" wrap="square" lIns="88900" tIns="127000" rIns="88900" bIns="127000" rtlCol="0" anchor="ctr" anchorCtr="0"/>
          <a:lstStyle/>
          <a:p>
            <a:pPr indent="0" algn="ctr">
              <a:lnSpc>
                <a:spcPct val="108000"/>
              </a:lnSpc>
              <a:spcBef>
                <a:spcPts val="0"/>
              </a:spcBef>
              <a:spcAft>
                <a:spcPts val="0"/>
              </a:spcAft>
              <a:defRPr/>
            </a:pPr>
            <a:r>
              <a:rPr lang="en-US" sz="3200" b="1" i="0" u="none" strike="noStrike" kern="0" dirty="0">
                <a:solidFill>
                  <a:schemeClr val="accent1">
                    <a:lumMod val="75000"/>
                  </a:schemeClr>
                </a:solidFill>
                <a:latin typeface="华文细黑" panose="02010600040101010101" charset="-122"/>
                <a:ea typeface="华文细黑" panose="02010600040101010101" charset="-122"/>
                <a:cs typeface="华文细黑" panose="02010600040101010101" charset="-122"/>
                <a:sym typeface="华文细黑" panose="02010600040101010101" charset="-122"/>
              </a:rPr>
              <a:t>Core Content</a:t>
            </a:r>
            <a:endParaRPr lang="en-US" sz="3200" b="1" i="0" u="none" strike="noStrike" kern="0" dirty="0">
              <a:solidFill>
                <a:schemeClr val="accent1">
                  <a:lumMod val="75000"/>
                </a:schemeClr>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0" name="AutoShape 10"/>
          <p:cNvSpPr/>
          <p:nvPr/>
        </p:nvSpPr>
        <p:spPr>
          <a:xfrm>
            <a:off x="1460500" y="952500"/>
            <a:ext cx="4064000" cy="13335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24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Logistic Regression</a:t>
            </a:r>
            <a:endParaRPr lang="en-US" sz="24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defRPr/>
            </a:pPr>
            <a:endParaRPr lang="en-US" sz="2400" b="0" i="0" u="none" strike="noStrike" kern="0"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4781550" y="4743450"/>
            <a:ext cx="3556000" cy="14605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24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Tree</a:t>
            </a:r>
            <a:endParaRPr lang="en-US" sz="24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0" y="952500"/>
            <a:ext cx="3556000" cy="13335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24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Gaussian Naive Bayes</a:t>
            </a:r>
            <a:endParaRPr lang="en-US" sz="24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22300" y="609600"/>
            <a:ext cx="7239000" cy="1143000"/>
          </a:xfrm>
          <a:prstGeom prst="roundRect">
            <a:avLst>
              <a:gd name="adj" fmla="val 0"/>
            </a:avLst>
          </a:prstGeom>
          <a:solidFill>
            <a:srgbClr val="FFFFFF">
              <a:alpha val="95000"/>
            </a:srgbClr>
          </a:solidFill>
          <a:ln w="25400" cap="flat" cmpd="sng">
            <a:noFill/>
            <a:prstDash val="solid"/>
            <a:round/>
          </a:ln>
          <a:effectLst>
            <a:outerShdw blurRad="381000" dist="190500" dir="2700000" algn="tl" rotWithShape="0">
              <a:srgbClr val="000000">
                <a:alpha val="10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876300" y="762000"/>
            <a:ext cx="6731000" cy="838200"/>
          </a:xfrm>
          <a:prstGeom prst="rect">
            <a:avLst/>
          </a:prstGeom>
          <a:noFill/>
          <a:ln w="12700" cap="flat" cmpd="sng">
            <a:noFill/>
            <a:prstDash val="solid"/>
            <a:round/>
          </a:ln>
        </p:spPr>
        <p:txBody>
          <a:bodyPr vert="horz" wrap="square" lIns="0" tIns="0" rIns="0" bIns="0" rtlCol="0" anchor="ctr" anchorCtr="0"/>
          <a:lstStyle/>
          <a:p>
            <a:pPr>
              <a:lnSpc>
                <a:spcPct val="125000"/>
              </a:lnSpc>
              <a:spcBef>
                <a:spcPts val="0"/>
              </a:spcBef>
              <a:spcAft>
                <a:spcPts val="0"/>
              </a:spcAft>
              <a:defRPr/>
            </a:pPr>
            <a:r>
              <a:rPr lang="en-US" sz="28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Logistic Regression:</a:t>
            </a:r>
            <a:r>
              <a:rPr lang="en-US" altLang="zh-CN" sz="2800" b="1" kern="0"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Theoretical Background</a:t>
            </a:r>
            <a:endParaRPr lang="en-US" altLang="zh-CN" sz="28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25000"/>
              </a:lnSpc>
              <a:spcBef>
                <a:spcPts val="0"/>
              </a:spcBef>
              <a:spcAft>
                <a:spcPts val="0"/>
              </a:spcAft>
              <a:defRPr/>
            </a:pPr>
            <a:endParaRPr lang="en-US" altLang="zh-CN" sz="2800" kern="0"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5022945" y="2094552"/>
            <a:ext cx="6858000" cy="1968500"/>
          </a:xfrm>
          <a:prstGeom prst="roundRect">
            <a:avLst>
              <a:gd name="adj" fmla="val 0"/>
            </a:avLst>
          </a:prstGeom>
          <a:solidFill>
            <a:srgbClr val="FFFFFF">
              <a:alpha val="95000"/>
            </a:srgbClr>
          </a:solidFill>
          <a:ln w="25400" cap="flat" cmpd="sng">
            <a:noFill/>
            <a:prstDash val="solid"/>
            <a:round/>
          </a:ln>
          <a:effectLst>
            <a:outerShdw blurRad="381000" dist="190500" dir="2700000" algn="tl" rotWithShape="0">
              <a:srgbClr val="000000">
                <a:alpha val="12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5442045" y="2304102"/>
            <a:ext cx="4826000" cy="1714500"/>
          </a:xfrm>
          <a:prstGeom prst="rect">
            <a:avLst/>
          </a:prstGeom>
          <a:noFill/>
          <a:ln w="12700" cap="flat" cmpd="sng">
            <a:noFill/>
            <a:prstDash val="solid"/>
            <a:round/>
          </a:ln>
        </p:spPr>
        <p:txBody>
          <a:bodyPr vert="horz" wrap="square" lIns="127000" tIns="0" rIns="0" bIns="0" rtlCol="0" anchor="t" anchorCtr="0"/>
          <a:lstStyle/>
          <a:p>
            <a:pPr indent="0" algn="l">
              <a:lnSpc>
                <a:spcPct val="100000"/>
              </a:lnSpc>
              <a:spcBef>
                <a:spcPts val="0"/>
              </a:spcBef>
              <a:spcAft>
                <a:spcPts val="0"/>
              </a:spcAft>
              <a:defRPr/>
            </a:pPr>
            <a:r>
              <a:rPr lang="en-US" sz="16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 Loss Function: Binary Cross-Entropy</a:t>
            </a:r>
            <a:endParaRPr lang="en-US" sz="16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600"/>
              </a:spcBef>
              <a:spcAft>
                <a:spcPts val="0"/>
              </a:spcAft>
            </a:pPr>
            <a:r>
              <a:rPr lang="en-US" sz="1600" b="0" i="0" u="none" strike="noStrike" kern="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Measures the gap between predicted probabilities and true labels, the standard loss function for logistic regression:</a:t>
            </a:r>
            <a:endParaRPr lang="en-US" sz="1600" b="0" i="0" u="none" strike="noStrike" kern="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0"/>
              </a:spcBef>
              <a:spcAft>
                <a:spcPts val="0"/>
              </a:spcAft>
            </a:pPr>
            <a:r>
              <a:rPr lang="en-US" sz="1600" b="1" i="0" u="none" strike="noStrike" kern="0" dirty="0">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rPr>
              <a:t>L(w , b) = -1/N · ∑ [ yᵢ log(pᵢ) + (1-yᵢ) log(1-pᵢ) ]</a:t>
            </a:r>
            <a:endParaRPr lang="en-US" sz="1600" b="1" i="0" u="none" strike="noStrike" kern="0" dirty="0">
              <a:solidFill>
                <a:srgbClr val="C0392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022945" y="4355152"/>
            <a:ext cx="6858000" cy="2095500"/>
          </a:xfrm>
          <a:prstGeom prst="roundRect">
            <a:avLst>
              <a:gd name="adj" fmla="val 0"/>
            </a:avLst>
          </a:prstGeom>
          <a:solidFill>
            <a:srgbClr val="FFFFFF">
              <a:alpha val="95000"/>
            </a:srgbClr>
          </a:solidFill>
          <a:ln w="25400" cap="flat" cmpd="sng">
            <a:noFill/>
            <a:prstDash val="solid"/>
            <a:round/>
          </a:ln>
          <a:effectLst>
            <a:outerShdw blurRad="381000" dist="190500" dir="2700000" algn="tl" rotWithShape="0">
              <a:srgbClr val="000000">
                <a:alpha val="12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5442045" y="4564702"/>
            <a:ext cx="4826000" cy="1841500"/>
          </a:xfrm>
          <a:prstGeom prst="rect">
            <a:avLst/>
          </a:prstGeom>
          <a:noFill/>
          <a:ln w="12700" cap="flat" cmpd="sng">
            <a:noFill/>
            <a:prstDash val="solid"/>
            <a:round/>
          </a:ln>
        </p:spPr>
        <p:txBody>
          <a:bodyPr vert="horz" wrap="square" lIns="127000" tIns="0" rIns="0" bIns="0" rtlCol="0" anchor="t" anchorCtr="0"/>
          <a:lstStyle/>
          <a:p>
            <a:pPr indent="0" algn="l">
              <a:lnSpc>
                <a:spcPct val="100000"/>
              </a:lnSpc>
              <a:spcBef>
                <a:spcPts val="0"/>
              </a:spcBef>
              <a:spcAft>
                <a:spcPts val="0"/>
              </a:spcAft>
              <a:defRPr/>
            </a:pPr>
            <a:r>
              <a:rPr lang="en-US" sz="16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 Optimization: Gradient Descent</a:t>
            </a:r>
            <a:endParaRPr lang="en-US" sz="16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600"/>
              </a:spcBef>
              <a:spcAft>
                <a:spcPts val="0"/>
              </a:spcAft>
            </a:pPr>
            <a:r>
              <a:rPr lang="en-US" sz="1600" b="0" i="0" u="none" strike="noStrike" kern="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Iteratively updates parameters by gradient to find the minimum : </a:t>
            </a:r>
            <a:r>
              <a:rPr lang="en-US" sz="1600" b="1" i="0" u="none" strike="noStrike" kern="0" dirty="0">
                <a:solidFill>
                  <a:srgbClr val="D35400"/>
                </a:solidFill>
                <a:latin typeface="Noto Sans SC" panose="020B0200000000000000" charset="-122"/>
                <a:ea typeface="Noto Sans SC" panose="020B0200000000000000" charset="-122"/>
                <a:cs typeface="Noto Sans SC" panose="020B0200000000000000" charset="-122"/>
                <a:sym typeface="Noto Sans SC" panose="020B0200000000000000" charset="-122"/>
              </a:rPr>
              <a:t>w = w - α∇J</a:t>
            </a:r>
            <a:endParaRPr lang="en-US" sz="1600" b="1" i="0" u="none" strike="noStrike" kern="0" dirty="0">
              <a:solidFill>
                <a:srgbClr val="D354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800"/>
              </a:spcBef>
              <a:spcAft>
                <a:spcPts val="0"/>
              </a:spcAft>
            </a:pPr>
            <a:r>
              <a:rPr lang="en-US" sz="1600" b="1" i="0" u="none" strike="noStrike" kern="0" dirty="0">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Regularization Strategy : </a:t>
            </a:r>
            <a:r>
              <a:rPr lang="en-US" sz="1600" b="0" i="0" u="none" strike="noStrike" kern="0" dirty="0">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Apply L2 (Ridge) to limit parameter scale and prevent overfitting.</a:t>
            </a:r>
            <a:endParaRPr lang="en-US" sz="1600" b="0" i="0" u="none" strike="noStrike" kern="0" dirty="0">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3517" y="6050602"/>
            <a:ext cx="355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spcBef>
                <a:spcPts val="0"/>
              </a:spcBef>
              <a:spcAft>
                <a:spcPts val="0"/>
              </a:spcAft>
              <a:defRPr/>
            </a:pPr>
            <a:r>
              <a:rPr lang="en-US" sz="1100" b="0" i="1" u="none" strike="noStrike" kern="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Schematic of Gradient Descent Path</a:t>
            </a:r>
            <a:endParaRPr lang="en-US" sz="1100" b="0" i="1" u="none" strike="noStrike" kern="0">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6"/>
          <p:cNvSpPr/>
          <p:nvPr/>
        </p:nvSpPr>
        <p:spPr>
          <a:xfrm>
            <a:off x="763517" y="2132652"/>
            <a:ext cx="3683000" cy="4318000"/>
          </a:xfrm>
          <a:prstGeom prst="roundRect">
            <a:avLst>
              <a:gd name="adj" fmla="val 4137"/>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AutoShape 7"/>
          <p:cNvSpPr/>
          <p:nvPr/>
        </p:nvSpPr>
        <p:spPr>
          <a:xfrm>
            <a:off x="1055617" y="2393002"/>
            <a:ext cx="3302000" cy="3683000"/>
          </a:xfrm>
          <a:prstGeom prst="rect">
            <a:avLst/>
          </a:prstGeom>
          <a:noFill/>
          <a:ln w="12700" cap="flat" cmpd="sng">
            <a:noFill/>
            <a:prstDash val="solid"/>
            <a:round/>
          </a:ln>
        </p:spPr>
        <p:txBody>
          <a:bodyPr vert="horz" wrap="square" lIns="0" tIns="0" rIns="0" bIns="0" rtlCol="0" anchor="t" anchorCtr="0"/>
          <a:lstStyle/>
          <a:p>
            <a:pPr indent="0" algn="l">
              <a:lnSpc>
                <a:spcPct val="100000"/>
              </a:lnSpc>
              <a:spcBef>
                <a:spcPts val="0"/>
              </a:spcBef>
              <a:spcAft>
                <a:spcPts val="800"/>
              </a:spcAft>
              <a:defRPr/>
            </a:pPr>
            <a:r>
              <a:rPr lang="en-US" sz="14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 Sigmoid Mapping</a:t>
            </a:r>
            <a:br>
              <a:rPr lang="en-US" sz="1300" b="0"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Maps linear combination to (0,1):</a:t>
            </a:r>
            <a:br>
              <a:rPr lang="en-US" sz="1300" b="0"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P(y=1|x) = 1 / (1 + e^(-(</a:t>
            </a:r>
            <a:r>
              <a:rPr lang="en-US" sz="1100" b="0" i="0" u="none" strike="noStrike" kern="0"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wᵀx</a:t>
            </a:r>
            <a:r>
              <a:rPr lang="en-US" sz="11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b)))</a:t>
            </a:r>
            <a:endParaRPr lang="en-US" sz="11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800"/>
              </a:spcAft>
            </a:pPr>
            <a:endParaRPr lang="en-US" sz="1100"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r>
              <a:rPr lang="en-US" sz="14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 Linear Decision Boundary</a:t>
            </a:r>
            <a:br>
              <a:rPr lang="en-US" sz="1300" b="0"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Set </a:t>
            </a:r>
            <a:r>
              <a:rPr lang="en-US" sz="1200" b="0" i="0" u="none" strike="noStrike" kern="0"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wᵀx</a:t>
            </a:r>
            <a:r>
              <a:rPr lang="en-US"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 b = 0 as the linear boundary. </a:t>
            </a:r>
            <a:r>
              <a:rPr lang="en-US" altLang="zh-CN"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a:t>
            </a:r>
            <a:r>
              <a:rPr lang="en-US" altLang="zh-CN" sz="1200"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nitially</a:t>
            </a:r>
            <a:r>
              <a:rPr lang="en-US"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use 0.5 as the classification threshold.</a:t>
            </a:r>
            <a:endParaRPr lang="en-US" sz="1200" b="0" i="0" u="none" strike="noStrike" kern="0"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7" name="图片 16"/>
          <p:cNvPicPr>
            <a:picLocks noChangeAspect="1"/>
          </p:cNvPicPr>
          <p:nvPr/>
        </p:nvPicPr>
        <p:blipFill>
          <a:blip r:embed="rId2"/>
          <a:stretch>
            <a:fillRect/>
          </a:stretch>
        </p:blipFill>
        <p:spPr>
          <a:xfrm>
            <a:off x="996584" y="4133122"/>
            <a:ext cx="3245216" cy="19968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810000" y="1092200"/>
            <a:ext cx="4813300" cy="4813300"/>
          </a:xfrm>
          <a:prstGeom prst="ellipse">
            <a:avLst/>
          </a:prstGeom>
          <a:solidFill>
            <a:srgbClr val="E7E6E6">
              <a:alpha val="60000"/>
            </a:srgbClr>
          </a:solidFill>
          <a:ln w="50800" cap="flat" cmpd="sng">
            <a:solidFill>
              <a:srgbClr val="FFFFFF">
                <a:alpha val="100000"/>
              </a:srgbClr>
            </a:solidFill>
            <a:prstDash val="solid"/>
            <a:miter lim="10000000"/>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698500" y="74930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698500" y="4330700"/>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6521450" y="74295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6616700" y="4318001"/>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178300" y="2781300"/>
            <a:ext cx="4064948" cy="16002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22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Logistic Regression</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spcBef>
                <a:spcPts val="0"/>
              </a:spcBef>
              <a:spcAft>
                <a:spcPts val="0"/>
              </a:spcAft>
            </a:pPr>
            <a:r>
              <a:rPr lang="en-US" sz="1600" b="0"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Pros and Cons Analysis</a:t>
            </a:r>
            <a:endParaRPr lang="en-US" sz="1600" b="0"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1968500" y="952500"/>
            <a:ext cx="3683000" cy="13970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1400" b="1" i="0" u="none" strike="noStrike" kern="0" dirty="0">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Pro: High Interpretability</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0"/>
              </a:spcBef>
              <a:spcAft>
                <a:spcPts val="0"/>
              </a:spcAft>
            </a:pPr>
            <a:r>
              <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The magnitude and sign of the weights w directly reflect the feature's impact on the result, facilitating business interpretation.</a:t>
            </a:r>
            <a:endPar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1968500" y="4572000"/>
            <a:ext cx="3683000" cy="13970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1400" b="1" i="0" u="none" strike="noStrike" kern="0" dirty="0">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 Pro: High Efficiency</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0"/>
              </a:spcBef>
              <a:spcAft>
                <a:spcPts val="0"/>
              </a:spcAft>
            </a:pPr>
            <a:r>
              <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The training process is simple and fast, often used as a baseline model for large-scale data.</a:t>
            </a:r>
            <a:endPar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0" y="952500"/>
            <a:ext cx="3683000" cy="13970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1400" b="1" i="0" u="none" strike="noStrike" kern="0" dirty="0">
                <a:solidFill>
                  <a:srgbClr val="F97316"/>
                </a:solidFill>
                <a:latin typeface="Noto Sans SC" panose="020B0200000000000000" charset="-122"/>
                <a:ea typeface="Noto Sans SC" panose="020B0200000000000000" charset="-122"/>
                <a:cs typeface="Noto Sans SC" panose="020B0200000000000000" charset="-122"/>
                <a:sym typeface="Noto Sans SC" panose="020B0200000000000000" charset="-122"/>
              </a:rPr>
              <a:t> Con: Linear Assumption</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0"/>
              </a:spcBef>
              <a:spcAft>
                <a:spcPts val="0"/>
              </a:spcAft>
            </a:pPr>
            <a:r>
              <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Limited capacity; prone to underfitting if the decision boundary is non-linear in reality.</a:t>
            </a:r>
            <a:endPar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620000" y="4572000"/>
            <a:ext cx="3683000" cy="1397000"/>
          </a:xfrm>
          <a:prstGeom prst="roundRect">
            <a:avLst>
              <a:gd name="adj" fmla="val 0"/>
            </a:avLst>
          </a:prstGeom>
          <a:noFill/>
          <a:ln w="25400" cap="flat" cmpd="sng">
            <a:noFill/>
            <a:prstDash val="solid"/>
            <a:round/>
          </a:ln>
        </p:spPr>
        <p:txBody>
          <a:bodyPr vert="horz" wrap="square" lIns="127000" tIns="0" rIns="127000" bIns="0" rtlCol="0" anchor="ctr" anchorCtr="0"/>
          <a:lstStyle/>
          <a:p>
            <a:pPr indent="0" algn="l">
              <a:lnSpc>
                <a:spcPct val="100000"/>
              </a:lnSpc>
              <a:spcBef>
                <a:spcPts val="0"/>
              </a:spcBef>
              <a:spcAft>
                <a:spcPts val="0"/>
              </a:spcAft>
              <a:defRPr/>
            </a:pPr>
            <a:r>
              <a:rPr lang="en-US" sz="1400" b="1" i="0" u="none" strike="noStrike" kern="0"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Con: Sensitive to Outliers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8000"/>
              </a:lnSpc>
              <a:spcBef>
                <a:spcPts val="0"/>
              </a:spcBef>
              <a:spcAft>
                <a:spcPts val="0"/>
              </a:spcAft>
            </a:pPr>
            <a:r>
              <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As a linear model, it is vulnerable to extreme values; data cleaning is essential.</a:t>
            </a:r>
            <a:endParaRPr lang="en-US" sz="1100" b="0" i="0" u="none" strike="noStrike" kern="0"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698500" y="711200"/>
            <a:ext cx="2552700" cy="24892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825500" y="1054100"/>
            <a:ext cx="228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spcBef>
                <a:spcPts val="0"/>
              </a:spcBef>
              <a:spcAft>
                <a:spcPts val="0"/>
              </a:spcAft>
              <a:defRPr/>
            </a:pPr>
            <a:r>
              <a:rPr lang="en-US" sz="1800" b="1" i="0" u="none" strike="noStrike" kern="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Bayes' Theorem</a:t>
            </a:r>
            <a:endParaRPr lang="en-US" sz="1800" b="1" i="0" u="none" strike="noStrike" kern="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825500" y="1778000"/>
            <a:ext cx="2286000" cy="1270000"/>
          </a:xfrm>
          <a:prstGeom prst="roundRect">
            <a:avLst>
              <a:gd name="adj" fmla="val 0"/>
            </a:avLst>
          </a:prstGeom>
          <a:noFill/>
          <a:ln w="25400" cap="flat" cmpd="sng">
            <a:noFill/>
            <a:prstDash val="solid"/>
            <a:round/>
          </a:ln>
        </p:spPr>
        <p:txBody>
          <a:bodyPr vert="horz" wrap="square" lIns="127000" tIns="0" rIns="127000" bIns="0" rtlCol="0" anchor="t" anchorCtr="0"/>
          <a:lstStyle/>
          <a:p>
            <a:pPr indent="0" algn="ctr">
              <a:lnSpc>
                <a:spcPct val="100000"/>
              </a:lnSpc>
              <a:spcBef>
                <a:spcPts val="0"/>
              </a:spcBef>
              <a:spcAft>
                <a:spcPts val="0"/>
              </a:spcAft>
              <a:defRPr/>
            </a:pPr>
            <a:r>
              <a:rPr lang="en-US" sz="1100" b="1" i="0" u="none" strike="noStrike" kern="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P(y | x) = P(x | y)P(y) / P(x)</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spcBef>
                <a:spcPts val="0"/>
              </a:spcBef>
              <a:spcAft>
                <a:spcPts val="0"/>
              </a:spcAft>
            </a:pPr>
            <a:r>
              <a:rPr lang="en-US" sz="1100" b="0" i="0" u="none" strike="noStrike" kern="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Calculates the posterior probability of a class given features, the theoretical foundation.</a:t>
            </a:r>
            <a:endParaRPr lang="en-US" sz="1100" b="0" i="0" u="none" strike="noStrike" kern="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3441700" y="711200"/>
            <a:ext cx="2552700" cy="2489200"/>
          </a:xfrm>
          <a:prstGeom prst="roundRect">
            <a:avLst>
              <a:gd name="adj" fmla="val 0"/>
            </a:avLst>
          </a:prstGeom>
          <a:blipFill rotWithShape="1">
            <a:blip r:embed="rId2"/>
            <a:tile tx="0" ty="0" sx="100000" sy="100000" flip="none" algn="ctr"/>
          </a:blipFill>
          <a:ln w="25400" cap="flat" cmpd="sng">
            <a:noFill/>
            <a:prstDash val="solid"/>
            <a:round/>
          </a:ln>
          <a:effectLst>
            <a:outerShdw blurRad="596900" dist="3429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3568700" y="1054100"/>
            <a:ext cx="228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spcBef>
                <a:spcPts val="0"/>
              </a:spcBef>
              <a:spcAft>
                <a:spcPts val="0"/>
              </a:spcAft>
              <a:defRPr/>
            </a:pPr>
            <a:r>
              <a:rPr lang="en-US" sz="1800" b="1" i="0" u="none" strike="noStrike" kern="0">
                <a:solidFill>
                  <a:srgbClr val="F2D4AA"/>
                </a:solidFill>
                <a:latin typeface="Noto Sans SC" panose="020B0200000000000000" charset="-122"/>
                <a:ea typeface="Noto Sans SC" panose="020B0200000000000000" charset="-122"/>
                <a:cs typeface="Noto Sans SC" panose="020B0200000000000000" charset="-122"/>
                <a:sym typeface="Noto Sans SC" panose="020B0200000000000000" charset="-122"/>
              </a:rPr>
              <a:t>Naive Assumption</a:t>
            </a:r>
            <a:endParaRPr lang="en-US" sz="1800" b="1" i="0" u="none" strike="noStrike" kern="0">
              <a:solidFill>
                <a:srgbClr val="F2D4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3568700" y="1778000"/>
            <a:ext cx="2286000" cy="1270000"/>
          </a:xfrm>
          <a:prstGeom prst="roundRect">
            <a:avLst>
              <a:gd name="adj" fmla="val 0"/>
            </a:avLst>
          </a:prstGeom>
          <a:noFill/>
          <a:ln w="25400" cap="flat" cmpd="sng">
            <a:noFill/>
            <a:prstDash val="solid"/>
            <a:round/>
          </a:ln>
        </p:spPr>
        <p:txBody>
          <a:bodyPr vert="horz" wrap="square" lIns="127000" tIns="0" rIns="127000" bIns="0" rtlCol="0" anchor="t" anchorCtr="0"/>
          <a:lstStyle/>
          <a:p>
            <a:pPr indent="0" algn="ctr">
              <a:lnSpc>
                <a:spcPct val="100000"/>
              </a:lnSpc>
              <a:spcBef>
                <a:spcPts val="0"/>
              </a:spcBef>
              <a:spcAft>
                <a:spcPts val="0"/>
              </a:spcAft>
              <a:defRPr/>
            </a:pPr>
            <a:r>
              <a:rPr lang="en-US" sz="1100" b="1"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P(x | y) = ∏ P(xj | y)</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spcBef>
                <a:spcPts val="0"/>
              </a:spcBef>
              <a:spcAft>
                <a:spcPts val="0"/>
              </a:spcAft>
            </a:pPr>
            <a:r>
              <a:rPr lang="en-US" sz="1100" b="0"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Assumes all features are conditionally independent, greatly simplifying computation.</a:t>
            </a:r>
            <a:endParaRPr lang="en-US" sz="1100" b="0"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9350" y="711200"/>
            <a:ext cx="2552700" cy="24892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6324600" y="1054100"/>
            <a:ext cx="228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spcBef>
                <a:spcPts val="0"/>
              </a:spcBef>
              <a:spcAft>
                <a:spcPts val="0"/>
              </a:spcAft>
              <a:defRPr/>
            </a:pPr>
            <a:r>
              <a:rPr lang="en-US" sz="1800" b="1" i="0" u="none" strike="noStrike" kern="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Gaussian Distribution</a:t>
            </a:r>
            <a:endParaRPr lang="en-US" sz="1800" b="1" i="0" u="none" strike="noStrike" kern="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324600" y="1828800"/>
            <a:ext cx="2286000" cy="1003300"/>
          </a:xfrm>
          <a:prstGeom prst="roundRect">
            <a:avLst>
              <a:gd name="adj" fmla="val 0"/>
            </a:avLst>
          </a:prstGeom>
          <a:noFill/>
          <a:ln w="25400" cap="flat" cmpd="sng">
            <a:noFill/>
            <a:prstDash val="solid"/>
            <a:round/>
          </a:ln>
        </p:spPr>
        <p:txBody>
          <a:bodyPr vert="horz" wrap="square" lIns="127000" tIns="0" rIns="127000" bIns="0" rtlCol="0" anchor="t" anchorCtr="0"/>
          <a:lstStyle/>
          <a:p>
            <a:pPr indent="0" algn="ctr">
              <a:lnSpc>
                <a:spcPct val="100000"/>
              </a:lnSpc>
              <a:spcBef>
                <a:spcPts val="0"/>
              </a:spcBef>
              <a:spcAft>
                <a:spcPts val="0"/>
              </a:spcAft>
              <a:defRPr/>
            </a:pPr>
            <a:r>
              <a:rPr lang="en-US" sz="1100" b="0" i="0" u="none" strike="noStrike" kern="0" dirty="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Assumes continuous features follow a normal distribution (mean &amp; variance) for density estimation.</a:t>
            </a:r>
            <a:r>
              <a:rPr lang="en-US" sz="1100" kern="0" dirty="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kern="0" dirty="0">
              <a:solidFill>
                <a:srgbClr val="40404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0000"/>
              </a:lnSpc>
              <a:spcBef>
                <a:spcPts val="0"/>
              </a:spcBef>
              <a:spcAft>
                <a:spcPts val="0"/>
              </a:spcAft>
              <a:defRPr/>
            </a:pPr>
            <a:endParaRPr lang="en-US" sz="1100" kern="0" dirty="0">
              <a:solidFill>
                <a:srgbClr val="404040"/>
              </a:solidFill>
              <a:latin typeface="Noto Sans SC" panose="020B0200000000000000" charset="-122"/>
              <a:ea typeface="Noto Sans SC" panose="020B0200000000000000" charset="-122"/>
              <a:cs typeface="Arial" panose="020B0604020202020204"/>
              <a:sym typeface="Noto Sans SC" panose="020B0200000000000000" charset="-122"/>
            </a:endParaRPr>
          </a:p>
          <a:p>
            <a:pPr indent="0" algn="ctr">
              <a:lnSpc>
                <a:spcPct val="100000"/>
              </a:lnSpc>
              <a:spcBef>
                <a:spcPts val="0"/>
              </a:spcBef>
              <a:spcAft>
                <a:spcPts val="0"/>
              </a:spcAft>
              <a:defRPr/>
            </a:pPr>
            <a:endParaRPr lang="en-US" sz="1100" kern="0" dirty="0">
              <a:solidFill>
                <a:srgbClr val="404040"/>
              </a:solidFill>
              <a:latin typeface="Noto Sans SC" panose="020B0200000000000000" charset="-122"/>
              <a:ea typeface="Noto Sans SC" panose="020B0200000000000000" charset="-122"/>
              <a:cs typeface="Arial" panose="020B0604020202020204"/>
              <a:sym typeface="Noto Sans SC" panose="020B0200000000000000" charset="-122"/>
            </a:endParaRPr>
          </a:p>
          <a:p>
            <a:pPr indent="0" algn="ctr">
              <a:lnSpc>
                <a:spcPct val="100000"/>
              </a:lnSpc>
              <a:spcBef>
                <a:spcPts val="0"/>
              </a:spcBef>
              <a:spcAft>
                <a:spcPts val="0"/>
              </a:spcAft>
              <a:defRPr/>
            </a:pPr>
            <a:endParaRPr lang="en-US" sz="1100" kern="0" dirty="0">
              <a:solidFill>
                <a:srgbClr val="404040"/>
              </a:solidFill>
              <a:latin typeface="Noto Sans SC" panose="020B0200000000000000" charset="-122"/>
              <a:ea typeface="Noto Sans SC" panose="020B0200000000000000" charset="-122"/>
              <a:cs typeface="Arial" panose="020B0604020202020204"/>
              <a:sym typeface="Noto Sans SC" panose="020B0200000000000000" charset="-122"/>
            </a:endParaRPr>
          </a:p>
        </p:txBody>
      </p:sp>
      <p:sp>
        <p:nvSpPr>
          <p:cNvPr id="11" name="AutoShape 11"/>
          <p:cNvSpPr/>
          <p:nvPr/>
        </p:nvSpPr>
        <p:spPr>
          <a:xfrm>
            <a:off x="8953500" y="711200"/>
            <a:ext cx="2552700" cy="2489200"/>
          </a:xfrm>
          <a:prstGeom prst="roundRect">
            <a:avLst>
              <a:gd name="adj" fmla="val 0"/>
            </a:avLst>
          </a:prstGeom>
          <a:blipFill rotWithShape="1">
            <a:blip r:embed="rId2"/>
            <a:tile tx="0" ty="0" sx="100000" sy="100000" flip="none" algn="ctr"/>
          </a:blipFill>
          <a:ln w="25400" cap="flat" cmpd="sng">
            <a:noFill/>
            <a:prstDash val="solid"/>
            <a:round/>
          </a:ln>
          <a:effectLst>
            <a:outerShdw blurRad="596900" dist="342900" dir="2700000" algn="tl" rotWithShape="0">
              <a:srgbClr val="404040">
                <a:alpha val="11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9080500" y="1054100"/>
            <a:ext cx="228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spcBef>
                <a:spcPts val="0"/>
              </a:spcBef>
              <a:spcAft>
                <a:spcPts val="0"/>
              </a:spcAft>
              <a:defRPr/>
            </a:pPr>
            <a:r>
              <a:rPr lang="en-US" sz="1800" b="1" i="0" u="none" strike="noStrike" kern="0">
                <a:solidFill>
                  <a:srgbClr val="F2D4AA"/>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Rule</a:t>
            </a:r>
            <a:endParaRPr lang="en-US" sz="1800" b="1" i="0" u="none" strike="noStrike" kern="0">
              <a:solidFill>
                <a:srgbClr val="F2D4A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080500" y="1778000"/>
            <a:ext cx="2286000" cy="1270000"/>
          </a:xfrm>
          <a:prstGeom prst="roundRect">
            <a:avLst>
              <a:gd name="adj" fmla="val 0"/>
            </a:avLst>
          </a:prstGeom>
          <a:noFill/>
          <a:ln w="25400" cap="flat" cmpd="sng">
            <a:noFill/>
            <a:prstDash val="solid"/>
            <a:round/>
          </a:ln>
        </p:spPr>
        <p:txBody>
          <a:bodyPr vert="horz" wrap="square" lIns="127000" tIns="0" rIns="127000" bIns="0" rtlCol="0" anchor="t" anchorCtr="0"/>
          <a:lstStyle/>
          <a:p>
            <a:pPr indent="0" algn="ctr">
              <a:lnSpc>
                <a:spcPct val="100000"/>
              </a:lnSpc>
              <a:spcBef>
                <a:spcPts val="0"/>
              </a:spcBef>
              <a:spcAft>
                <a:spcPts val="0"/>
              </a:spcAft>
              <a:defRPr/>
            </a:pPr>
            <a:r>
              <a:rPr lang="en-US" sz="1100" b="1"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ŷ = argmax [ P(y) ∏ P(xj | y) ]</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ctr">
              <a:lnSpc>
                <a:spcPct val="100000"/>
              </a:lnSpc>
              <a:spcBef>
                <a:spcPts val="0"/>
              </a:spcBef>
              <a:spcAft>
                <a:spcPts val="0"/>
              </a:spcAft>
            </a:pPr>
            <a:r>
              <a:rPr lang="en-US" sz="1100" b="0"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Predicts the class with the maximum posterior probability.</a:t>
            </a:r>
            <a:endParaRPr lang="en-US" sz="1100" b="0" i="0" u="none" strike="noStrike" kern="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98500" y="3810000"/>
            <a:ext cx="4572000" cy="2006600"/>
          </a:xfrm>
          <a:prstGeom prst="roundRect">
            <a:avLst>
              <a:gd name="adj" fmla="val 0"/>
            </a:avLst>
          </a:prstGeom>
          <a:gradFill rotWithShape="1">
            <a:gsLst>
              <a:gs pos="0">
                <a:srgbClr val="FFFFFF">
                  <a:alpha val="95000"/>
                </a:srgbClr>
              </a:gs>
              <a:gs pos="100000">
                <a:srgbClr val="E6EBF5">
                  <a:alpha val="95000"/>
                </a:srgbClr>
              </a:gs>
            </a:gsLst>
            <a:lin ang="2700000"/>
          </a:gradFill>
          <a:ln w="25400" cap="flat" cmpd="sng">
            <a:noFill/>
            <a:prstDash val="solid"/>
            <a:round/>
          </a:ln>
          <a:effectLst>
            <a:outerShdw blurRad="381000" dist="190500" dir="2700000" algn="tl" rotWithShape="0">
              <a:srgbClr val="000000">
                <a:alpha val="15000"/>
              </a:srgbClr>
            </a:outerShdw>
          </a:effectLst>
        </p:spPr>
        <p:txBody>
          <a:bodyPr vert="horz" wrap="square" lIns="254000" tIns="190500" rIns="254000" bIns="190500" rtlCol="0" anchor="ctr" anchorCtr="0"/>
          <a:lstStyle/>
          <a:p>
            <a:pPr indent="0" algn="l">
              <a:lnSpc>
                <a:spcPct val="100000"/>
              </a:lnSpc>
              <a:spcBef>
                <a:spcPts val="0"/>
              </a:spcBef>
              <a:spcAft>
                <a:spcPts val="0"/>
              </a:spcAft>
              <a:defRPr/>
            </a:pPr>
            <a:r>
              <a:rPr lang="en-US" sz="2400" b="1" i="0" u="none" strike="noStrike" kern="0" dirty="0">
                <a:solidFill>
                  <a:srgbClr val="485575"/>
                </a:solidFill>
                <a:latin typeface="Noto Sans SC" panose="020B0200000000000000" charset="-122"/>
                <a:ea typeface="Noto Sans SC" panose="020B0200000000000000" charset="-122"/>
                <a:cs typeface="Noto Sans SC" panose="020B0200000000000000" charset="-122"/>
                <a:sym typeface="Noto Sans SC" panose="020B0200000000000000" charset="-122"/>
              </a:rPr>
              <a:t>Gaussian Naive Bayes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25000"/>
              </a:lnSpc>
              <a:spcBef>
                <a:spcPts val="1000"/>
              </a:spcBef>
              <a:spcAft>
                <a:spcPts val="0"/>
              </a:spcAft>
            </a:pPr>
            <a:r>
              <a:rPr lang="en-US" sz="1200" b="0" i="0" u="none" strike="noStrike" kern="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 simple and efficient classifier based on Bayes' theorem and the 'naive' assumption of feature conditional independence, built by learning the distribution of features under different classes.</a:t>
            </a:r>
            <a:endParaRPr lang="en-US" sz="1200" b="0" i="0" u="none" strike="noStrike" kern="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5461000" y="3810000"/>
            <a:ext cx="6096000" cy="2006600"/>
          </a:xfrm>
          <a:prstGeom prst="roundRect">
            <a:avLst>
              <a:gd name="adj" fmla="val 0"/>
            </a:avLst>
          </a:prstGeom>
          <a:solidFill>
            <a:srgbClr val="485575">
              <a:alpha val="90000"/>
            </a:srgbClr>
          </a:solidFill>
          <a:ln w="25400" cap="flat" cmpd="sng">
            <a:noFill/>
            <a:prstDash val="solid"/>
            <a:round/>
          </a:ln>
          <a:effectLst>
            <a:outerShdw blurRad="381000" dist="190500" dir="2700000" algn="tl" rotWithShape="0">
              <a:srgbClr val="000000">
                <a:alpha val="15000"/>
              </a:srgbClr>
            </a:outerShdw>
          </a:effectLst>
        </p:spPr>
        <p:txBody>
          <a:bodyPr vert="horz" wrap="square" lIns="317500" tIns="254000" rIns="317500" bIns="254000" rtlCol="0" anchor="ctr" anchorCtr="0"/>
          <a:lstStyle/>
          <a:p>
            <a:pPr indent="0" algn="l">
              <a:lnSpc>
                <a:spcPct val="125000"/>
              </a:lnSpc>
              <a:spcBef>
                <a:spcPts val="0"/>
              </a:spcBef>
              <a:spcAft>
                <a:spcPts val="0"/>
              </a:spcAft>
              <a:defRPr/>
            </a:pPr>
            <a:r>
              <a:rPr lang="en-US" sz="1200" b="1" i="0" u="none" strike="noStrike" kern="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 Advantage: </a:t>
            </a:r>
            <a:r>
              <a:rPr lang="en-US" sz="1200" b="0" i="0" u="none" strike="noStrike" kern="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Extremely fast computation, insensitive to the number of classes or feature dimensions.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25000"/>
              </a:lnSpc>
              <a:spcBef>
                <a:spcPts val="1000"/>
              </a:spcBef>
              <a:spcAft>
                <a:spcPts val="0"/>
              </a:spcAft>
            </a:pPr>
            <a:r>
              <a:rPr lang="en-US" sz="1200" b="1" i="0" u="none" strike="noStrike" kern="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Applicable Scenarios: </a:t>
            </a:r>
            <a:r>
              <a:rPr lang="en-US" sz="1200" b="0" i="0" u="none" strike="noStrike" kern="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Text classification, spam filtering, sentiment analysis, and other scenarios with high feature dimensions and relatively independent distributions.</a:t>
            </a:r>
            <a:endParaRPr lang="en-US" sz="1200" b="0" i="0" u="none" strike="noStrike" kern="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cxnSp>
        <p:nvCxnSpPr>
          <p:cNvPr id="2" name="Connector 2"/>
          <p:cNvCxnSpPr/>
          <p:nvPr/>
        </p:nvCxnSpPr>
        <p:spPr>
          <a:xfrm rot="1">
            <a:off x="0" y="3429000"/>
            <a:ext cx="1473255" cy="12700"/>
          </a:xfrm>
          <a:prstGeom prst="line">
            <a:avLst/>
          </a:prstGeom>
          <a:solidFill>
            <a:srgbClr val="DEE0E3">
              <a:alpha val="100000"/>
            </a:srgbClr>
          </a:solidFill>
          <a:ln w="25400" cap="flat" cmpd="sng">
            <a:gradFill rotWithShape="1">
              <a:gsLst>
                <a:gs pos="0">
                  <a:srgbClr val="D7DCE7">
                    <a:alpha val="0"/>
                  </a:srgbClr>
                </a:gs>
                <a:gs pos="51000">
                  <a:srgbClr val="485575">
                    <a:alpha val="100000"/>
                  </a:srgbClr>
                </a:gs>
              </a:gsLst>
              <a:lin ang="10800000"/>
            </a:gradFill>
            <a:prstDash val="solid"/>
            <a:miter lim="10000000"/>
            <a:headEnd type="none" w="med" len="med"/>
            <a:tailEnd type="none" w="med" len="med"/>
          </a:ln>
        </p:spPr>
      </p:cxnSp>
      <p:cxnSp>
        <p:nvCxnSpPr>
          <p:cNvPr id="3" name="Connector 3"/>
          <p:cNvCxnSpPr/>
          <p:nvPr/>
        </p:nvCxnSpPr>
        <p:spPr>
          <a:xfrm rot="3">
            <a:off x="29591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cxnSp>
        <p:nvCxnSpPr>
          <p:cNvPr id="4" name="Connector 4"/>
          <p:cNvCxnSpPr/>
          <p:nvPr/>
        </p:nvCxnSpPr>
        <p:spPr>
          <a:xfrm rot="1">
            <a:off x="10756900" y="3429000"/>
            <a:ext cx="1435156" cy="12700"/>
          </a:xfrm>
          <a:prstGeom prst="line">
            <a:avLst/>
          </a:prstGeom>
          <a:solidFill>
            <a:srgbClr val="DEE0E3">
              <a:alpha val="100000"/>
            </a:srgbClr>
          </a:solidFill>
          <a:ln w="25400" cap="flat" cmpd="sng">
            <a:gradFill rotWithShape="1">
              <a:gsLst>
                <a:gs pos="0">
                  <a:srgbClr val="D7DCE7">
                    <a:alpha val="0"/>
                  </a:srgbClr>
                </a:gs>
                <a:gs pos="51000">
                  <a:srgbClr val="485575">
                    <a:alpha val="100000"/>
                  </a:srgbClr>
                </a:gs>
              </a:gsLst>
              <a:lin ang="0"/>
            </a:gradFill>
            <a:prstDash val="solid"/>
            <a:miter lim="10000000"/>
            <a:headEnd type="none" w="med" len="med"/>
            <a:tailEnd type="none" w="med" len="med"/>
          </a:ln>
        </p:spPr>
      </p:cxnSp>
      <p:sp>
        <p:nvSpPr>
          <p:cNvPr id="5" name="AutoShape 5"/>
          <p:cNvSpPr/>
          <p:nvPr/>
        </p:nvSpPr>
        <p:spPr>
          <a:xfrm>
            <a:off x="3314700" y="1358900"/>
            <a:ext cx="3136900" cy="1333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41275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5212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43307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2</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9" name="AutoShape 9"/>
          <p:cNvSpPr/>
          <p:nvPr/>
        </p:nvSpPr>
        <p:spPr>
          <a:xfrm>
            <a:off x="3530600" y="13462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400" b="1" i="0" u="none" strike="noStrike" kern="0"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2: Training - Calculate Statistics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For each class and feature, calculate the mean μ and variance σ².</a:t>
            </a:r>
            <a:endPar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458200" y="1263650"/>
            <a:ext cx="2895600" cy="14224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94361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98298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96393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4</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4" name="AutoShape 14"/>
          <p:cNvSpPr/>
          <p:nvPr/>
        </p:nvSpPr>
        <p:spPr>
          <a:xfrm>
            <a:off x="8610600" y="12827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400" b="1" i="0" u="none" strike="noStrike" kern="0"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4: Prediction - Decision</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Select the class with the highest log likelihood</a:t>
            </a:r>
            <a:endPar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as the prediction result.</a:t>
            </a:r>
            <a:endPar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39800" y="4305300"/>
            <a:ext cx="2476500" cy="10922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AutoShape 16"/>
          <p:cNvSpPr/>
          <p:nvPr/>
        </p:nvSpPr>
        <p:spPr>
          <a:xfrm>
            <a:off x="14732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18669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AutoShape 18"/>
          <p:cNvSpPr/>
          <p:nvPr/>
        </p:nvSpPr>
        <p:spPr>
          <a:xfrm>
            <a:off x="1714500" y="3213100"/>
            <a:ext cx="838200" cy="3937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1</a:t>
            </a:r>
            <a:endParaRPr lang="en-US" sz="2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9" name="AutoShape 19"/>
          <p:cNvSpPr/>
          <p:nvPr/>
        </p:nvSpPr>
        <p:spPr>
          <a:xfrm>
            <a:off x="965200" y="4381500"/>
            <a:ext cx="2743200" cy="1270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400" b="1" i="0" u="none" strike="noStrike" kern="0"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1: Training - Calculate Prior Probabilities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Calculate the prior probability P(y=c) for each class.</a:t>
            </a:r>
            <a:endPar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765800" y="4178300"/>
            <a:ext cx="3225800" cy="1701802"/>
          </a:xfrm>
          <a:prstGeom prst="roundRect">
            <a:avLst>
              <a:gd name="adj" fmla="val 6395"/>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67818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AutoShape 22"/>
          <p:cNvSpPr/>
          <p:nvPr/>
        </p:nvSpPr>
        <p:spPr>
          <a:xfrm>
            <a:off x="71755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69850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3</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24" name="AutoShape 24"/>
          <p:cNvSpPr/>
          <p:nvPr/>
        </p:nvSpPr>
        <p:spPr>
          <a:xfrm>
            <a:off x="5842000" y="4216400"/>
            <a:ext cx="3003550" cy="1562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400" b="1" i="0" u="none" strike="noStrike" kern="0"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3: Prediction - Calculate Posterior Probabilities</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For a new sample, </a:t>
            </a:r>
            <a:r>
              <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 use gaussian  pdf</a:t>
            </a: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endPar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spcBef>
                <a:spcPts val="0"/>
              </a:spcBef>
              <a:spcAft>
                <a:spcPts val="0"/>
              </a:spcAft>
            </a:pPr>
            <a:r>
              <a:rPr lang="en-US" sz="1200"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to </a:t>
            </a:r>
            <a:r>
              <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calculate its posterior probability of belonging to each class.</a:t>
            </a:r>
            <a:endParaRPr lang="en-US" sz="12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flipV="1">
            <a:off x="2070100" y="38735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AutoShape 26"/>
          <p:cNvSpPr/>
          <p:nvPr/>
        </p:nvSpPr>
        <p:spPr>
          <a:xfrm flipV="1">
            <a:off x="7378700" y="38735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AutoShape 27"/>
          <p:cNvSpPr/>
          <p:nvPr/>
        </p:nvSpPr>
        <p:spPr>
          <a:xfrm>
            <a:off x="4724400" y="28829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AutoShape 28"/>
          <p:cNvSpPr/>
          <p:nvPr/>
        </p:nvSpPr>
        <p:spPr>
          <a:xfrm>
            <a:off x="10033000" y="28829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29" name="Connector 29"/>
          <p:cNvCxnSpPr/>
          <p:nvPr/>
        </p:nvCxnSpPr>
        <p:spPr>
          <a:xfrm rot="3">
            <a:off x="56134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cxnSp>
        <p:nvCxnSpPr>
          <p:cNvPr id="30" name="Connector 30"/>
          <p:cNvCxnSpPr/>
          <p:nvPr/>
        </p:nvCxnSpPr>
        <p:spPr>
          <a:xfrm rot="3">
            <a:off x="82677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sp>
        <p:nvSpPr>
          <p:cNvPr id="31" name="AutoShape 31"/>
          <p:cNvSpPr/>
          <p:nvPr/>
        </p:nvSpPr>
        <p:spPr>
          <a:xfrm>
            <a:off x="317500" y="647700"/>
            <a:ext cx="10160000" cy="1371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8000"/>
              </a:lnSpc>
              <a:spcBef>
                <a:spcPts val="0"/>
              </a:spcBef>
              <a:spcAft>
                <a:spcPts val="0"/>
              </a:spcAft>
              <a:defRPr/>
            </a:pPr>
            <a:r>
              <a:rPr lang="en-US" sz="2600" b="1" i="0" u="none" strike="noStrike" kern="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rPr>
              <a:t>Gaussian Naive Bayes - Training and Prediction Process</a:t>
            </a:r>
            <a:endParaRPr lang="en-US" sz="2600" b="1" i="0" u="none" strike="noStrike" kern="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cxnSp>
        <p:nvCxnSpPr>
          <p:cNvPr id="32" name="Connector 32"/>
          <p:cNvCxnSpPr/>
          <p:nvPr/>
        </p:nvCxnSpPr>
        <p:spPr>
          <a:xfrm rot="24">
            <a:off x="444500" y="2260602"/>
            <a:ext cx="520855" cy="12700"/>
          </a:xfrm>
          <a:prstGeom prst="line">
            <a:avLst/>
          </a:prstGeom>
          <a:solidFill>
            <a:srgbClr val="DEE0E3">
              <a:alpha val="100000"/>
            </a:srgbClr>
          </a:solidFill>
          <a:ln w="25400" cap="flat" cmpd="sng">
            <a:solidFill>
              <a:srgbClr val="EDC286">
                <a:alpha val="100000"/>
              </a:srgbClr>
            </a:solidFill>
            <a:prstDash val="solid"/>
            <a:miter lim="10000000"/>
            <a:headEnd type="none" w="med" len="med"/>
            <a:tailEnd type="none" w="med" len="med"/>
          </a:ln>
        </p:spPr>
      </p:cxnSp>
      <p:pic>
        <p:nvPicPr>
          <p:cNvPr id="36" name="图片 35"/>
          <p:cNvPicPr>
            <a:picLocks noChangeAspect="1"/>
          </p:cNvPicPr>
          <p:nvPr/>
        </p:nvPicPr>
        <p:blipFill>
          <a:blip r:embed="rId3"/>
          <a:stretch>
            <a:fillRect/>
          </a:stretch>
        </p:blipFill>
        <p:spPr>
          <a:xfrm>
            <a:off x="5919575" y="4915872"/>
            <a:ext cx="2170325" cy="424480"/>
          </a:xfrm>
          <a:prstGeom prst="rect">
            <a:avLst/>
          </a:prstGeom>
        </p:spPr>
      </p:pic>
      <p:pic>
        <p:nvPicPr>
          <p:cNvPr id="38" name="图片 37"/>
          <p:cNvPicPr>
            <a:picLocks noChangeAspect="1"/>
          </p:cNvPicPr>
          <p:nvPr/>
        </p:nvPicPr>
        <p:blipFill>
          <a:blip r:embed="rId4"/>
          <a:stretch>
            <a:fillRect/>
          </a:stretch>
        </p:blipFill>
        <p:spPr>
          <a:xfrm>
            <a:off x="8691568" y="1911358"/>
            <a:ext cx="2306632" cy="3429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95700" y="1028700"/>
            <a:ext cx="4813300" cy="4813300"/>
          </a:xfrm>
          <a:prstGeom prst="ellipse">
            <a:avLst/>
          </a:prstGeom>
          <a:solidFill>
            <a:srgbClr val="E7E6E6">
              <a:alpha val="40000"/>
            </a:srgbClr>
          </a:solidFill>
          <a:ln w="50800" cap="flat" cmpd="sng">
            <a:solidFill>
              <a:srgbClr val="FFFFFF">
                <a:alpha val="100000"/>
              </a:srgbClr>
            </a:solidFill>
            <a:prstDash val="solid"/>
            <a:miter lim="10000000"/>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698500" y="69850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698500" y="4330700"/>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6324600" y="72390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6324600" y="4330700"/>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178300" y="2781300"/>
            <a:ext cx="3935294" cy="1442682"/>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8000"/>
              </a:lnSpc>
              <a:spcBef>
                <a:spcPts val="0"/>
              </a:spcBef>
              <a:spcAft>
                <a:spcPts val="0"/>
              </a:spcAft>
              <a:defRPr/>
            </a:pPr>
            <a:r>
              <a:rPr lang="en-US" sz="2000" b="1" i="0" u="none" strike="noStrike" kern="0"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Gaussian Naive Bayes</a:t>
            </a:r>
            <a:endParaRPr lang="en-US" sz="1100" kern="0" dirty="0">
              <a:solidFill>
                <a:schemeClr val="accent1">
                  <a:lumMod val="75000"/>
                </a:schemeClr>
              </a:solidFill>
              <a:latin typeface="Arial" panose="020B0604020202020204"/>
              <a:ea typeface="Arial" panose="020B0604020202020204"/>
              <a:cs typeface="Arial" panose="020B0604020202020204"/>
              <a:sym typeface="Arial" panose="020B0604020202020204"/>
            </a:endParaRPr>
          </a:p>
          <a:p>
            <a:pPr indent="0" algn="ctr">
              <a:lnSpc>
                <a:spcPct val="108000"/>
              </a:lnSpc>
              <a:spcBef>
                <a:spcPts val="0"/>
              </a:spcBef>
              <a:spcAft>
                <a:spcPts val="0"/>
              </a:spcAft>
            </a:pPr>
            <a:r>
              <a:rPr lang="en-US" sz="1600" b="0" i="0" u="none" strike="noStrike" kern="0"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Pros and Cons Analysis</a:t>
            </a:r>
            <a:endParaRPr lang="en-US" sz="1600" b="0" i="0" u="none" strike="noStrike" kern="0" dirty="0">
              <a:solidFill>
                <a:schemeClr val="accent1">
                  <a:lumMod val="7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977900" y="1079500"/>
            <a:ext cx="38735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r">
              <a:lnSpc>
                <a:spcPct val="100000"/>
              </a:lnSpc>
              <a:spcBef>
                <a:spcPts val="0"/>
              </a:spcBef>
              <a:spcAft>
                <a:spcPts val="0"/>
              </a:spcAft>
              <a:defRPr/>
            </a:pPr>
            <a:r>
              <a:rPr lang="en-US" sz="1400" b="1" i="0" u="none" strike="noStrike" kern="0" dirty="0">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Pro: Extremely Fast Training</a:t>
            </a:r>
            <a:endParaRPr lang="en-US" sz="1100" kern="0" dirty="0">
              <a:solidFill>
                <a:schemeClr val="accent6"/>
              </a:solidFill>
              <a:latin typeface="Arial" panose="020B0604020202020204"/>
              <a:ea typeface="Arial" panose="020B0604020202020204"/>
              <a:cs typeface="Arial" panose="020B0604020202020204"/>
              <a:sym typeface="Arial" panose="020B0604020202020204"/>
            </a:endParaRPr>
          </a:p>
          <a:p>
            <a:pPr indent="0" algn="r">
              <a:lnSpc>
                <a:spcPct val="100000"/>
              </a:lnSpc>
              <a:spcBef>
                <a:spcPts val="0"/>
              </a:spcBef>
              <a:spcAft>
                <a:spcPts val="0"/>
              </a:spcAft>
            </a:pPr>
            <a:r>
              <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Only requires calculating statistics with no iterative optimization process, making training extremely efficient.</a:t>
            </a:r>
            <a:endPar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977900" y="4699000"/>
            <a:ext cx="38735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r">
              <a:lnSpc>
                <a:spcPct val="100000"/>
              </a:lnSpc>
              <a:spcBef>
                <a:spcPts val="0"/>
              </a:spcBef>
              <a:spcAft>
                <a:spcPts val="0"/>
              </a:spcAft>
              <a:defRPr/>
            </a:pPr>
            <a:r>
              <a:rPr lang="en-US" sz="1400" b="1" i="0" u="none" strike="noStrike" kern="0" dirty="0">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Pro: Insensitive to Missing Data</a:t>
            </a:r>
            <a:endParaRPr lang="en-US" sz="1100" kern="0" dirty="0">
              <a:solidFill>
                <a:schemeClr val="accent6"/>
              </a:solidFill>
              <a:latin typeface="Arial" panose="020B0604020202020204"/>
              <a:ea typeface="Arial" panose="020B0604020202020204"/>
              <a:cs typeface="Arial" panose="020B0604020202020204"/>
              <a:sym typeface="Arial" panose="020B0604020202020204"/>
            </a:endParaRPr>
          </a:p>
          <a:p>
            <a:pPr indent="0" algn="r">
              <a:lnSpc>
                <a:spcPct val="100000"/>
              </a:lnSpc>
              <a:spcBef>
                <a:spcPts val="0"/>
              </a:spcBef>
              <a:spcAft>
                <a:spcPts val="0"/>
              </a:spcAft>
            </a:pPr>
            <a:r>
              <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probabilistic design principles, it is insensitive to cases with partially missing features.</a:t>
            </a:r>
            <a:endPar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213600" y="1079500"/>
            <a:ext cx="40005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spcBef>
                <a:spcPts val="0"/>
              </a:spcBef>
              <a:spcAft>
                <a:spcPts val="0"/>
              </a:spcAft>
              <a:defRPr/>
            </a:pPr>
            <a:r>
              <a:rPr lang="en-US" sz="1400" b="1" i="0" u="none" strike="noStrike" kern="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 Feature Conditional Independence Assumption</a:t>
            </a:r>
            <a:endParaRPr lang="en-US" sz="1100" kern="0" dirty="0">
              <a:solidFill>
                <a:srgbClr val="FF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is a strong assumption; features in real-world data are often correlated, which may affect performance.</a:t>
            </a:r>
            <a:endPar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7213600" y="4699000"/>
            <a:ext cx="4000500" cy="1143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spcBef>
                <a:spcPts val="0"/>
              </a:spcBef>
              <a:spcAft>
                <a:spcPts val="0"/>
              </a:spcAft>
              <a:defRPr/>
            </a:pPr>
            <a:r>
              <a:rPr lang="en-US" sz="1400" b="1" i="0" u="none" strike="noStrike" kern="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 Sensitive to Distribution Assumptions</a:t>
            </a:r>
            <a:endParaRPr lang="en-US" sz="1100" kern="0" dirty="0">
              <a:solidFill>
                <a:srgbClr val="FF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model is based on the Gaussian distribution and may perform poorly on data that is non-Gaussian or non-unimodal.</a:t>
            </a:r>
            <a:endParaRPr lang="en-US" sz="1100" b="0" i="0" u="none" strike="noStrike" kern="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cxnSp>
        <p:nvCxnSpPr>
          <p:cNvPr id="2" name="Connector 2"/>
          <p:cNvCxnSpPr/>
          <p:nvPr/>
        </p:nvCxnSpPr>
        <p:spPr>
          <a:xfrm rot="1">
            <a:off x="0" y="3429000"/>
            <a:ext cx="1473255" cy="12700"/>
          </a:xfrm>
          <a:prstGeom prst="line">
            <a:avLst/>
          </a:prstGeom>
          <a:solidFill>
            <a:srgbClr val="DEE0E3">
              <a:alpha val="100000"/>
            </a:srgbClr>
          </a:solidFill>
          <a:ln w="25400" cap="flat" cmpd="sng">
            <a:gradFill rotWithShape="1">
              <a:gsLst>
                <a:gs pos="0">
                  <a:srgbClr val="D7DCE7">
                    <a:alpha val="0"/>
                  </a:srgbClr>
                </a:gs>
                <a:gs pos="51000">
                  <a:srgbClr val="485575">
                    <a:alpha val="100000"/>
                  </a:srgbClr>
                </a:gs>
              </a:gsLst>
              <a:lin ang="10800000"/>
            </a:gradFill>
            <a:prstDash val="solid"/>
            <a:miter lim="10000000"/>
            <a:headEnd type="none" w="med" len="med"/>
            <a:tailEnd type="none" w="med" len="med"/>
          </a:ln>
        </p:spPr>
      </p:cxnSp>
      <p:cxnSp>
        <p:nvCxnSpPr>
          <p:cNvPr id="3" name="Connector 3"/>
          <p:cNvCxnSpPr/>
          <p:nvPr/>
        </p:nvCxnSpPr>
        <p:spPr>
          <a:xfrm rot="3">
            <a:off x="29591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cxnSp>
        <p:nvCxnSpPr>
          <p:cNvPr id="4" name="Connector 4"/>
          <p:cNvCxnSpPr/>
          <p:nvPr/>
        </p:nvCxnSpPr>
        <p:spPr>
          <a:xfrm rot="1">
            <a:off x="10756900" y="3429000"/>
            <a:ext cx="1435156" cy="12700"/>
          </a:xfrm>
          <a:prstGeom prst="line">
            <a:avLst/>
          </a:prstGeom>
          <a:solidFill>
            <a:srgbClr val="DEE0E3">
              <a:alpha val="100000"/>
            </a:srgbClr>
          </a:solidFill>
          <a:ln w="25400" cap="flat" cmpd="sng">
            <a:gradFill rotWithShape="1">
              <a:gsLst>
                <a:gs pos="0">
                  <a:srgbClr val="D7DCE7">
                    <a:alpha val="0"/>
                  </a:srgbClr>
                </a:gs>
                <a:gs pos="51000">
                  <a:srgbClr val="485575">
                    <a:alpha val="100000"/>
                  </a:srgbClr>
                </a:gs>
              </a:gsLst>
              <a:lin ang="0"/>
            </a:gradFill>
            <a:prstDash val="solid"/>
            <a:miter lim="10000000"/>
            <a:headEnd type="none" w="med" len="med"/>
            <a:tailEnd type="none" w="med" len="med"/>
          </a:ln>
        </p:spPr>
      </p:cxnSp>
      <p:sp>
        <p:nvSpPr>
          <p:cNvPr id="5" name="AutoShape 5"/>
          <p:cNvSpPr/>
          <p:nvPr/>
        </p:nvSpPr>
        <p:spPr>
          <a:xfrm>
            <a:off x="3314700" y="1358900"/>
            <a:ext cx="3136900" cy="1333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41275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5212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43307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2</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9" name="AutoShape 9"/>
          <p:cNvSpPr/>
          <p:nvPr/>
        </p:nvSpPr>
        <p:spPr>
          <a:xfrm>
            <a:off x="3530600" y="13462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600" b="1" i="0" u="none" strike="noStrike" kern="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2: Split Dataset</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Splits the dataset into two subsets based on the optimal split and creates child nodes.</a:t>
            </a:r>
            <a:endPar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458200" y="1117600"/>
            <a:ext cx="2895600" cy="14224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94361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AutoShape 12"/>
          <p:cNvSpPr/>
          <p:nvPr/>
        </p:nvSpPr>
        <p:spPr>
          <a:xfrm>
            <a:off x="98298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96393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4</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4" name="AutoShape 14"/>
          <p:cNvSpPr/>
          <p:nvPr/>
        </p:nvSpPr>
        <p:spPr>
          <a:xfrm>
            <a:off x="8610600" y="12827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600" b="1" i="0" u="none" strike="noStrike" kern="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4: Stopping Criteria</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Stops recursion and creates a leaf node when the maximum depth is reached or the number of samples in a node is too small.</a:t>
            </a:r>
            <a:endPar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939800" y="4305299"/>
            <a:ext cx="2590800" cy="1168399"/>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AutoShape 16"/>
          <p:cNvSpPr/>
          <p:nvPr/>
        </p:nvSpPr>
        <p:spPr>
          <a:xfrm>
            <a:off x="14732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18669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18" name="AutoShape 18"/>
          <p:cNvSpPr/>
          <p:nvPr/>
        </p:nvSpPr>
        <p:spPr>
          <a:xfrm>
            <a:off x="1714500" y="3213100"/>
            <a:ext cx="838200" cy="3937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1</a:t>
            </a:r>
            <a:endParaRPr lang="en-US" sz="2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19" name="AutoShape 19"/>
          <p:cNvSpPr/>
          <p:nvPr/>
        </p:nvSpPr>
        <p:spPr>
          <a:xfrm>
            <a:off x="965200" y="43180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600" b="1" i="0" u="none" strike="noStrike" kern="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1: Find Optimal Split</a:t>
            </a:r>
            <a:endParaRPr lang="en-US" sz="1100" kern="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Iterates through all features and thresholds, calculating the Gini impurity after splitting to select the optimal one.</a:t>
            </a:r>
            <a:endParaRPr lang="en-US" sz="1100" b="0" i="0" u="none" strike="noStrike" kern="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038850" y="4406900"/>
            <a:ext cx="2933700" cy="10922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6781800" y="2755900"/>
            <a:ext cx="1308100" cy="1308100"/>
          </a:xfrm>
          <a:prstGeom prst="ellipse">
            <a:avLst/>
          </a:prstGeom>
          <a:solidFill>
            <a:srgbClr val="E7E6E6">
              <a:alpha val="67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AutoShape 22"/>
          <p:cNvSpPr/>
          <p:nvPr/>
        </p:nvSpPr>
        <p:spPr>
          <a:xfrm>
            <a:off x="7175500" y="3136900"/>
            <a:ext cx="533400" cy="533400"/>
          </a:xfrm>
          <a:prstGeom prst="ellipse">
            <a:avLst/>
          </a:prstGeom>
          <a:blipFill rotWithShape="1">
            <a:blip r:embed="rId2"/>
            <a:tile tx="0" ty="0" sx="100000" sy="100000" flip="none" algn="tl"/>
          </a:blipFill>
          <a:ln w="25400" cap="flat" cmpd="sng">
            <a:noFill/>
            <a:prstDash val="solid"/>
            <a:round/>
          </a:ln>
          <a:effectLst>
            <a:outerShdw blurRad="266700" dist="139700" dir="2700000" algn="tl" rotWithShape="0">
              <a:srgbClr val="808080">
                <a:alpha val="45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6985000" y="3175000"/>
            <a:ext cx="914400" cy="4572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10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step</a:t>
            </a:r>
            <a:r>
              <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rPr>
              <a:t>3</a:t>
            </a:r>
            <a:endParaRPr lang="en-US" sz="2400" b="0" i="0" u="none" strike="noStrike" kern="0">
              <a:solidFill>
                <a:srgbClr val="F2D4AA"/>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sp>
        <p:nvSpPr>
          <p:cNvPr id="24" name="AutoShape 24"/>
          <p:cNvSpPr/>
          <p:nvPr/>
        </p:nvSpPr>
        <p:spPr>
          <a:xfrm>
            <a:off x="6159500" y="4381500"/>
            <a:ext cx="2743200" cy="1524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0000"/>
              </a:lnSpc>
              <a:spcBef>
                <a:spcPts val="0"/>
              </a:spcBef>
              <a:spcAft>
                <a:spcPts val="0"/>
              </a:spcAft>
              <a:defRPr/>
            </a:pPr>
            <a:r>
              <a:rPr lang="en-US" sz="1600" b="1" i="0" u="none" strike="noStrike" kern="0"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Step 3: Recursive Construction</a:t>
            </a:r>
            <a:endParaRPr lang="en-US" sz="1100" kern="0" dirty="0">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Repeats the above process for each child node to build left and right subtrees.</a:t>
            </a:r>
            <a:endParaRPr lang="en-US" sz="1100" b="0" i="0" u="none" strike="noStrike" kern="0" dirty="0">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flipV="1">
            <a:off x="2070100" y="38735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6" name="AutoShape 26"/>
          <p:cNvSpPr/>
          <p:nvPr/>
        </p:nvSpPr>
        <p:spPr>
          <a:xfrm flipV="1">
            <a:off x="7378700" y="38735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7" name="AutoShape 27"/>
          <p:cNvSpPr/>
          <p:nvPr/>
        </p:nvSpPr>
        <p:spPr>
          <a:xfrm>
            <a:off x="4724400" y="28829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AutoShape 28"/>
          <p:cNvSpPr/>
          <p:nvPr/>
        </p:nvSpPr>
        <p:spPr>
          <a:xfrm>
            <a:off x="10033000" y="2882900"/>
            <a:ext cx="127000" cy="101600"/>
          </a:xfrm>
          <a:prstGeom prst="triangle">
            <a:avLst>
              <a:gd name="adj" fmla="val 50000"/>
            </a:avLst>
          </a:prstGeom>
          <a:solidFill>
            <a:srgbClr val="8895B6">
              <a:alpha val="100000"/>
            </a:srgbClr>
          </a:soli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29" name="Connector 29"/>
          <p:cNvCxnSpPr/>
          <p:nvPr/>
        </p:nvCxnSpPr>
        <p:spPr>
          <a:xfrm rot="3">
            <a:off x="56134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cxnSp>
        <p:nvCxnSpPr>
          <p:cNvPr id="30" name="Connector 30"/>
          <p:cNvCxnSpPr/>
          <p:nvPr/>
        </p:nvCxnSpPr>
        <p:spPr>
          <a:xfrm rot="3">
            <a:off x="8267700" y="3429001"/>
            <a:ext cx="990681" cy="12700"/>
          </a:xfrm>
          <a:prstGeom prst="line">
            <a:avLst/>
          </a:prstGeom>
          <a:solidFill>
            <a:srgbClr val="DEE0E3">
              <a:alpha val="100000"/>
            </a:srgbClr>
          </a:solidFill>
          <a:ln w="25400" cap="rnd" cmpd="sng">
            <a:gradFill rotWithShape="1">
              <a:gsLst>
                <a:gs pos="0">
                  <a:srgbClr val="D7DCE7">
                    <a:alpha val="100000"/>
                  </a:srgbClr>
                </a:gs>
                <a:gs pos="50000">
                  <a:srgbClr val="8895B6">
                    <a:alpha val="100000"/>
                  </a:srgbClr>
                </a:gs>
                <a:gs pos="100000">
                  <a:srgbClr val="D7DCE7">
                    <a:alpha val="100000"/>
                  </a:srgbClr>
                </a:gs>
              </a:gsLst>
              <a:lin ang="0"/>
            </a:gradFill>
            <a:prstDash val="solid"/>
            <a:miter lim="10000000"/>
            <a:headEnd type="none" w="med" len="med"/>
            <a:tailEnd type="none" w="med" len="med"/>
          </a:ln>
        </p:spPr>
      </p:cxnSp>
      <p:sp>
        <p:nvSpPr>
          <p:cNvPr id="31" name="AutoShape 31"/>
          <p:cNvSpPr/>
          <p:nvPr/>
        </p:nvSpPr>
        <p:spPr>
          <a:xfrm>
            <a:off x="520700" y="419104"/>
            <a:ext cx="7620000" cy="1371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08000"/>
              </a:lnSpc>
              <a:spcBef>
                <a:spcPts val="0"/>
              </a:spcBef>
              <a:spcAft>
                <a:spcPts val="0"/>
              </a:spcAft>
              <a:defRPr/>
            </a:pPr>
            <a:r>
              <a:rPr lang="en-US" sz="2400" b="1" i="0" u="none" strike="noStrike" kern="0" dirty="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rPr>
              <a:t>Decision Tree - Training Process (Recursive Construction)</a:t>
            </a:r>
            <a:endParaRPr lang="en-US" sz="2400" b="1" i="0" u="none" strike="noStrike" kern="0" dirty="0">
              <a:solidFill>
                <a:srgbClr val="000000"/>
              </a:solidFill>
              <a:latin typeface="华文细黑" panose="02010600040101010101" charset="-122"/>
              <a:ea typeface="华文细黑" panose="02010600040101010101" charset="-122"/>
              <a:cs typeface="华文细黑" panose="02010600040101010101" charset="-122"/>
              <a:sym typeface="华文细黑" panose="02010600040101010101" charset="-122"/>
            </a:endParaRPr>
          </a:p>
        </p:txBody>
      </p:sp>
      <p:cxnSp>
        <p:nvCxnSpPr>
          <p:cNvPr id="32" name="Connector 32"/>
          <p:cNvCxnSpPr/>
          <p:nvPr/>
        </p:nvCxnSpPr>
        <p:spPr>
          <a:xfrm rot="24">
            <a:off x="444500" y="2260602"/>
            <a:ext cx="520855" cy="12700"/>
          </a:xfrm>
          <a:prstGeom prst="line">
            <a:avLst/>
          </a:prstGeom>
          <a:solidFill>
            <a:srgbClr val="DEE0E3">
              <a:alpha val="100000"/>
            </a:srgbClr>
          </a:solidFill>
          <a:ln w="25400" cap="flat" cmpd="sng">
            <a:solidFill>
              <a:srgbClr val="EDC286">
                <a:alpha val="100000"/>
              </a:srgbClr>
            </a:solidFill>
            <a:prstDash val="solid"/>
            <a:miter lim="10000000"/>
            <a:headEnd type="none" w="med" len="med"/>
            <a:tailEnd type="none" w="med" len="med"/>
          </a:ln>
        </p:spPr>
      </p:cxnSp>
      <p:sp>
        <p:nvSpPr>
          <p:cNvPr id="33" name="AutoShape 33"/>
          <p:cNvSpPr/>
          <p:nvPr/>
        </p:nvSpPr>
        <p:spPr>
          <a:xfrm>
            <a:off x="1142998" y="5740400"/>
            <a:ext cx="10083801" cy="1054094"/>
          </a:xfrm>
          <a:prstGeom prst="roundRect">
            <a:avLst>
              <a:gd name="adj" fmla="val 0"/>
            </a:avLst>
          </a:prstGeom>
          <a:gradFill rotWithShape="0">
            <a:gsLst>
              <a:gs pos="0">
                <a:srgbClr val="FAFBFC">
                  <a:alpha val="100000"/>
                </a:srgbClr>
              </a:gs>
              <a:gs pos="50000">
                <a:srgbClr val="ECEFF1">
                  <a:alpha val="100000"/>
                </a:srgbClr>
              </a:gs>
              <a:gs pos="100000">
                <a:srgbClr val="C3CCD3">
                  <a:alpha val="100000"/>
                </a:srgbClr>
              </a:gs>
            </a:gsLst>
            <a:lin ang="5400000"/>
          </a:gradFill>
          <a:ln w="25400" cap="flat" cmpd="sng">
            <a:noFill/>
            <a:prstDash val="solid"/>
            <a:round/>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AutoShape 34"/>
          <p:cNvSpPr/>
          <p:nvPr/>
        </p:nvSpPr>
        <p:spPr>
          <a:xfrm>
            <a:off x="1193800" y="5740400"/>
            <a:ext cx="10160000" cy="508000"/>
          </a:xfrm>
          <a:prstGeom prst="rect">
            <a:avLst/>
          </a:prstGeom>
          <a:noFill/>
          <a:ln w="12700" cap="flat" cmpd="sng">
            <a:noFill/>
            <a:prstDash val="solid"/>
            <a:round/>
          </a:ln>
        </p:spPr>
        <p:txBody>
          <a:bodyPr vert="horz" wrap="square" lIns="88900" tIns="50800" rIns="88900" bIns="50800" rtlCol="0" anchor="t" anchorCtr="0"/>
          <a:lstStyle/>
          <a:p>
            <a:pPr>
              <a:spcBef>
                <a:spcPts val="0"/>
              </a:spcBef>
              <a:spcAft>
                <a:spcPts val="0"/>
              </a:spcAft>
            </a:pPr>
            <a:r>
              <a:rPr lang="en-US" altLang="zh-CN" sz="1400" b="1" kern="0" dirty="0">
                <a:solidFill>
                  <a:schemeClr val="accent1">
                    <a:lumMod val="75000"/>
                  </a:schemeClr>
                </a:solidFill>
                <a:latin typeface="Arial" panose="020B0604020202020204"/>
                <a:ea typeface="Arial" panose="020B0604020202020204"/>
                <a:cs typeface="Arial" panose="020B0604020202020204"/>
                <a:sym typeface="Arial" panose="020B0604020202020204"/>
              </a:rPr>
              <a:t>Splitting Criterion: Gini Impurity</a:t>
            </a:r>
            <a:endParaRPr lang="en-US" altLang="zh-CN" sz="1400" kern="0" dirty="0">
              <a:solidFill>
                <a:schemeClr val="accent1">
                  <a:lumMod val="75000"/>
                </a:schemeClr>
              </a:solidFill>
              <a:latin typeface="Arial" panose="020B0604020202020204"/>
              <a:ea typeface="Arial" panose="020B0604020202020204"/>
              <a:cs typeface="Arial" panose="020B0604020202020204"/>
              <a:sym typeface="Arial" panose="020B0604020202020204"/>
            </a:endParaRPr>
          </a:p>
          <a:p>
            <a:pPr>
              <a:spcBef>
                <a:spcPts val="0"/>
              </a:spcBef>
              <a:spcAft>
                <a:spcPts val="0"/>
              </a:spcAft>
            </a:pPr>
            <a:r>
              <a:rPr lang="en-US" altLang="zh-CN" sz="1400" kern="0" dirty="0">
                <a:solidFill>
                  <a:schemeClr val="accent1">
                    <a:lumMod val="75000"/>
                  </a:schemeClr>
                </a:solidFill>
                <a:latin typeface="Arial" panose="020B0604020202020204"/>
                <a:ea typeface="Arial" panose="020B0604020202020204"/>
                <a:cs typeface="Arial" panose="020B0604020202020204"/>
                <a:sym typeface="Arial" panose="020B0604020202020204"/>
              </a:rPr>
              <a:t>We use Gini Impurity to measure node impurity and guide the optimal split. It ranges from 0 (pure) to 0.5 (maximally impure). The goal is to find the split that minimizes the impurity.</a:t>
            </a:r>
            <a:endParaRPr lang="en-US" altLang="zh-CN" sz="1400" kern="0" dirty="0">
              <a:solidFill>
                <a:schemeClr val="accent1">
                  <a:lumMod val="75000"/>
                </a:schemeClr>
              </a:solidFill>
              <a:latin typeface="Arial" panose="020B0604020202020204"/>
              <a:ea typeface="Arial" panose="020B0604020202020204"/>
              <a:cs typeface="Arial" panose="020B0604020202020204"/>
              <a:sym typeface="Arial" panose="020B0604020202020204"/>
            </a:endParaRPr>
          </a:p>
          <a:p>
            <a:pPr>
              <a:spcBef>
                <a:spcPts val="0"/>
              </a:spcBef>
              <a:spcAft>
                <a:spcPts val="0"/>
              </a:spcAft>
            </a:pPr>
            <a:r>
              <a:rPr lang="en-US" altLang="zh-CN" sz="1400" b="1" kern="0" dirty="0">
                <a:solidFill>
                  <a:schemeClr val="accent1">
                    <a:lumMod val="75000"/>
                  </a:schemeClr>
                </a:solidFill>
                <a:latin typeface="Arial" panose="020B0604020202020204"/>
                <a:ea typeface="Arial" panose="020B0604020202020204"/>
                <a:cs typeface="Arial" panose="020B0604020202020204"/>
                <a:sym typeface="Arial" panose="020B0604020202020204"/>
              </a:rPr>
              <a:t>Gini(D) = 1 - Σ(p_k²)</a:t>
            </a:r>
            <a:endParaRPr lang="en-US" altLang="zh-CN" sz="1400" b="1" kern="0" dirty="0">
              <a:solidFill>
                <a:schemeClr val="accent1">
                  <a:lumMod val="75000"/>
                </a:schemeClr>
              </a:solidFill>
              <a:effectLs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695700" y="1028700"/>
            <a:ext cx="4813300" cy="4813300"/>
          </a:xfrm>
          <a:prstGeom prst="ellipse">
            <a:avLst/>
          </a:prstGeom>
          <a:solidFill>
            <a:srgbClr val="E7E6E6">
              <a:alpha val="40000"/>
            </a:srgbClr>
          </a:solidFill>
          <a:ln w="50800" cap="flat" cmpd="sng">
            <a:solidFill>
              <a:srgbClr val="FFFFFF">
                <a:alpha val="100000"/>
              </a:srgbClr>
            </a:solidFill>
            <a:prstDash val="solid"/>
            <a:miter lim="10000000"/>
          </a:ln>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698500" y="69850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AutoShape 4"/>
          <p:cNvSpPr/>
          <p:nvPr/>
        </p:nvSpPr>
        <p:spPr>
          <a:xfrm>
            <a:off x="698500" y="4318001"/>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5" name="AutoShape 5"/>
          <p:cNvSpPr/>
          <p:nvPr/>
        </p:nvSpPr>
        <p:spPr>
          <a:xfrm>
            <a:off x="6324600" y="698500"/>
            <a:ext cx="5168900" cy="18415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AutoShape 6"/>
          <p:cNvSpPr/>
          <p:nvPr/>
        </p:nvSpPr>
        <p:spPr>
          <a:xfrm>
            <a:off x="6324600" y="4330700"/>
            <a:ext cx="5168900" cy="1866900"/>
          </a:xfrm>
          <a:prstGeom prst="roundRect">
            <a:avLst>
              <a:gd name="adj" fmla="val 0"/>
            </a:avLst>
          </a:prstGeom>
          <a:solidFill>
            <a:srgbClr val="FFFFFF">
              <a:alpha val="100000"/>
            </a:srgbClr>
          </a:solidFill>
          <a:ln w="25400" cap="flat" cmpd="sng">
            <a:noFill/>
            <a:prstDash val="solid"/>
            <a:round/>
          </a:ln>
          <a:effectLst>
            <a:outerShdw blurRad="596900" dist="342900" dir="2700000" algn="tl" rotWithShape="0">
              <a:srgbClr val="595959">
                <a:alpha val="13000"/>
              </a:srgbClr>
            </a:outerShdw>
          </a:effectLst>
        </p:spPr>
        <p:txBody>
          <a:bodyPr vert="horz" wrap="square" lIns="63500" tIns="63500" rIns="63500" bIns="63500" rtlCol="0" anchor="ctr"/>
          <a:lstStyle/>
          <a:p>
            <a:pPr algn="ctr">
              <a:spcBef>
                <a:spcPts val="0"/>
              </a:spcBef>
              <a:spcAft>
                <a:spcPts val="0"/>
              </a:spcAft>
              <a:defRPr/>
            </a:pPr>
            <a:endParaRPr sz="1400" kern="0">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4178299" y="2781300"/>
            <a:ext cx="3860231" cy="13589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spcBef>
                <a:spcPts val="0"/>
              </a:spcBef>
              <a:spcAft>
                <a:spcPts val="0"/>
              </a:spcAft>
              <a:defRPr/>
            </a:pPr>
            <a:r>
              <a:rPr lang="en-US" sz="20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Tree - Pros and Cons Analysis</a:t>
            </a:r>
            <a:endParaRPr lang="en-US" sz="2000" b="1" i="0" u="none" strike="noStrike" kern="0"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977900" y="1016000"/>
            <a:ext cx="3873500" cy="1270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r">
              <a:lnSpc>
                <a:spcPct val="100000"/>
              </a:lnSpc>
              <a:spcBef>
                <a:spcPts val="0"/>
              </a:spcBef>
              <a:spcAft>
                <a:spcPts val="0"/>
              </a:spcAft>
              <a:defRPr/>
            </a:pPr>
            <a:r>
              <a:rPr lang="en-US" sz="1400" b="1" i="0" u="none" strike="noStrike" kern="0" dirty="0">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Pro: High Interpretability</a:t>
            </a:r>
            <a:endParaRPr lang="en-US" sz="1100" kern="0" dirty="0">
              <a:solidFill>
                <a:schemeClr val="accent6"/>
              </a:solidFill>
              <a:latin typeface="Arial" panose="020B0604020202020204"/>
              <a:ea typeface="Arial" panose="020B0604020202020204"/>
              <a:cs typeface="Arial" panose="020B0604020202020204"/>
              <a:sym typeface="Arial" panose="020B0604020202020204"/>
            </a:endParaRPr>
          </a:p>
          <a:p>
            <a:pPr indent="0" algn="r">
              <a:lnSpc>
                <a:spcPct val="100000"/>
              </a:lnSpc>
              <a:spcBef>
                <a:spcPts val="0"/>
              </a:spcBef>
              <a:spcAft>
                <a:spcPts val="0"/>
              </a:spcAft>
            </a:pPr>
            <a:r>
              <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The decision process is clear and intuitive, similar to human decision-making logic, and can provide certain decision rules.</a:t>
            </a:r>
            <a:endPar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77900" y="4635500"/>
            <a:ext cx="3962400" cy="1270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r">
              <a:lnSpc>
                <a:spcPct val="100000"/>
              </a:lnSpc>
              <a:spcBef>
                <a:spcPts val="0"/>
              </a:spcBef>
              <a:spcAft>
                <a:spcPts val="0"/>
              </a:spcAft>
              <a:defRPr/>
            </a:pPr>
            <a:r>
              <a:rPr lang="en-US" sz="1300" b="1" i="0" u="none" strike="noStrike" kern="0" dirty="0">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Pro: Handles Non-linear Relationships</a:t>
            </a:r>
            <a:endParaRPr lang="en-US" sz="1100" kern="0" dirty="0">
              <a:solidFill>
                <a:schemeClr val="accent6"/>
              </a:solidFill>
              <a:latin typeface="Arial" panose="020B0604020202020204"/>
              <a:ea typeface="Arial" panose="020B0604020202020204"/>
              <a:cs typeface="Arial" panose="020B0604020202020204"/>
              <a:sym typeface="Arial" panose="020B0604020202020204"/>
            </a:endParaRPr>
          </a:p>
          <a:p>
            <a:pPr indent="0" algn="r">
              <a:lnSpc>
                <a:spcPct val="100000"/>
              </a:lnSpc>
              <a:spcBef>
                <a:spcPts val="0"/>
              </a:spcBef>
              <a:spcAft>
                <a:spcPts val="0"/>
              </a:spcAft>
            </a:pPr>
            <a:r>
              <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No complex transformations of the data are needed; it naturally captures complex non-linear interactions between features.</a:t>
            </a:r>
            <a:endPar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232650" y="1016000"/>
            <a:ext cx="3981450" cy="1270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spcBef>
                <a:spcPts val="0"/>
              </a:spcBef>
              <a:spcAft>
                <a:spcPts val="0"/>
              </a:spcAft>
              <a:defRPr/>
            </a:pPr>
            <a:r>
              <a:rPr lang="en-US" sz="1400" b="1" i="0" u="none" strike="noStrike" kern="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 Prone to Overfitting</a:t>
            </a:r>
            <a:endParaRPr lang="en-US" sz="1100" kern="0" dirty="0">
              <a:solidFill>
                <a:srgbClr val="FF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Without constraints, it can perfectly fit the training data (including noise), leading to poor generalization ability.</a:t>
            </a:r>
            <a:endPar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7175500" y="4635500"/>
            <a:ext cx="4038600" cy="1270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l">
              <a:lnSpc>
                <a:spcPct val="100000"/>
              </a:lnSpc>
              <a:spcBef>
                <a:spcPts val="0"/>
              </a:spcBef>
              <a:spcAft>
                <a:spcPts val="0"/>
              </a:spcAft>
              <a:defRPr/>
            </a:pPr>
            <a:r>
              <a:rPr lang="en-US" sz="1400" b="1" i="0" u="none" strike="noStrike" kern="0"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 Instability</a:t>
            </a:r>
            <a:endParaRPr lang="en-US" sz="1100" kern="0" dirty="0">
              <a:solidFill>
                <a:srgbClr val="FF0000"/>
              </a:solidFill>
              <a:latin typeface="Arial" panose="020B0604020202020204"/>
              <a:ea typeface="Arial" panose="020B0604020202020204"/>
              <a:cs typeface="Arial" panose="020B0604020202020204"/>
              <a:sym typeface="Arial" panose="020B0604020202020204"/>
            </a:endParaRPr>
          </a:p>
          <a:p>
            <a:pPr indent="0" algn="l">
              <a:lnSpc>
                <a:spcPct val="100000"/>
              </a:lnSpc>
              <a:spcBef>
                <a:spcPts val="0"/>
              </a:spcBef>
              <a:spcAft>
                <a:spcPts val="0"/>
              </a:spcAft>
            </a:pPr>
            <a:r>
              <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Slight adjustments or sampling of the training data can lead to completely different tree structures, affecting model stability.</a:t>
            </a:r>
            <a:endParaRPr lang="en-US" sz="1100" b="0" i="0" u="none" strike="noStrike" kern="0"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721278" y="2324100"/>
            <a:ext cx="7316009" cy="1789344"/>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24116" y="614737"/>
            <a:ext cx="3483506" cy="201104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Evaluation Protocol</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8" name="直接连接符 7"/>
          <p:cNvCxnSpPr/>
          <p:nvPr/>
        </p:nvCxnSpPr>
        <p:spPr>
          <a:xfrm>
            <a:off x="721278" y="1971434"/>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2"/>
            </p:custDataLst>
          </p:nvPr>
        </p:nvSpPr>
        <p:spPr>
          <a:xfrm>
            <a:off x="725714" y="4320400"/>
            <a:ext cx="9158515" cy="1789344"/>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3" cstate="screen"/>
          <a:srcRect/>
          <a:stretch>
            <a:fillRect/>
          </a:stretch>
        </p:blipFill>
        <p:spPr>
          <a:xfrm>
            <a:off x="7876540" y="941705"/>
            <a:ext cx="3609975" cy="4796155"/>
          </a:xfrm>
          <a:custGeom>
            <a:avLst/>
            <a:gdLst>
              <a:gd name="connsiteX0" fmla="*/ 0 w 3178628"/>
              <a:gd name="connsiteY0" fmla="*/ 0 h 4223656"/>
              <a:gd name="connsiteX1" fmla="*/ 3178628 w 3178628"/>
              <a:gd name="connsiteY1" fmla="*/ 0 h 4223656"/>
              <a:gd name="connsiteX2" fmla="*/ 3178628 w 3178628"/>
              <a:gd name="connsiteY2" fmla="*/ 4223656 h 4223656"/>
              <a:gd name="connsiteX3" fmla="*/ 0 w 3178628"/>
              <a:gd name="connsiteY3" fmla="*/ 4223656 h 4223656"/>
            </a:gdLst>
            <a:ahLst/>
            <a:cxnLst>
              <a:cxn ang="0">
                <a:pos x="connsiteX0" y="connsiteY0"/>
              </a:cxn>
              <a:cxn ang="0">
                <a:pos x="connsiteX1" y="connsiteY1"/>
              </a:cxn>
              <a:cxn ang="0">
                <a:pos x="connsiteX2" y="connsiteY2"/>
              </a:cxn>
              <a:cxn ang="0">
                <a:pos x="connsiteX3" y="connsiteY3"/>
              </a:cxn>
            </a:cxnLst>
            <a:rect l="l" t="t" r="r" b="b"/>
            <a:pathLst>
              <a:path w="3178628" h="4223656">
                <a:moveTo>
                  <a:pt x="0" y="0"/>
                </a:moveTo>
                <a:lnTo>
                  <a:pt x="3178628" y="0"/>
                </a:lnTo>
                <a:lnTo>
                  <a:pt x="3178628" y="4223656"/>
                </a:lnTo>
                <a:lnTo>
                  <a:pt x="0" y="4223656"/>
                </a:lnTo>
                <a:close/>
              </a:path>
            </a:pathLst>
          </a:custGeom>
          <a:solidFill>
            <a:schemeClr val="bg1"/>
          </a:solidFill>
          <a:ln w="50800">
            <a:solidFill>
              <a:schemeClr val="bg1"/>
            </a:solidFill>
            <a:miter lim="800000"/>
            <a:headEnd/>
            <a:tailEnd/>
          </a:ln>
          <a:effectLst>
            <a:outerShdw blurRad="596900" dist="342900" dir="2700000" algn="tl" rotWithShape="0">
              <a:schemeClr val="tx1">
                <a:lumMod val="75000"/>
                <a:lumOff val="25000"/>
                <a:alpha val="11000"/>
              </a:schemeClr>
            </a:outerShdw>
          </a:effectLst>
        </p:spPr>
      </p:pic>
      <p:sp>
        <p:nvSpPr>
          <p:cNvPr id="13" name="椭圆 12"/>
          <p:cNvSpPr/>
          <p:nvPr>
            <p:custDataLst>
              <p:tags r:id="rId4"/>
            </p:custDataLst>
          </p:nvPr>
        </p:nvSpPr>
        <p:spPr>
          <a:xfrm>
            <a:off x="1219281" y="2696298"/>
            <a:ext cx="1044948" cy="1044948"/>
          </a:xfrm>
          <a:prstGeom prst="ellipse">
            <a:avLst/>
          </a:prstGeom>
          <a:blipFill dpi="0" rotWithShape="1">
            <a:blip r:embed="rId5"/>
            <a:srcRect/>
            <a:tile tx="0" ty="0" sx="100000" sy="100000" flip="none" algn="tl"/>
          </a:blipFill>
          <a:ln>
            <a:noFill/>
          </a:ln>
          <a:effectLst>
            <a:outerShdw blurRad="266700" dist="139700" dir="2700000" algn="tl" rotWithShape="0">
              <a:schemeClr val="bg1">
                <a:lumMod val="50000"/>
                <a:alpha val="3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椭圆 27"/>
          <p:cNvSpPr/>
          <p:nvPr>
            <p:custDataLst>
              <p:tags r:id="rId6"/>
            </p:custDataLst>
          </p:nvPr>
        </p:nvSpPr>
        <p:spPr>
          <a:xfrm>
            <a:off x="1219281" y="4692598"/>
            <a:ext cx="1044948" cy="1044948"/>
          </a:xfrm>
          <a:prstGeom prst="ellipse">
            <a:avLst/>
          </a:prstGeom>
          <a:blipFill dpi="0" rotWithShape="1">
            <a:blip r:embed="rId5"/>
            <a:srcRect/>
            <a:tile tx="0" ty="0" sx="100000" sy="100000" flip="none" algn="tl"/>
          </a:blipFill>
          <a:ln>
            <a:noFill/>
          </a:ln>
          <a:effectLst>
            <a:outerShdw blurRad="266700" dist="139700" dir="2700000" algn="tl" rotWithShape="0">
              <a:schemeClr val="bg1">
                <a:lumMod val="50000"/>
                <a:alpha val="3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Freeform 5"/>
          <p:cNvSpPr>
            <a:spLocks noEditPoints="1"/>
          </p:cNvSpPr>
          <p:nvPr>
            <p:custDataLst>
              <p:tags r:id="rId7"/>
            </p:custDataLst>
          </p:nvPr>
        </p:nvSpPr>
        <p:spPr bwMode="auto">
          <a:xfrm>
            <a:off x="1543669" y="3000615"/>
            <a:ext cx="396172" cy="436314"/>
          </a:xfrm>
          <a:custGeom>
            <a:avLst/>
            <a:gdLst>
              <a:gd name="T0" fmla="*/ 298 w 636"/>
              <a:gd name="T1" fmla="*/ 617 h 701"/>
              <a:gd name="T2" fmla="*/ 318 w 636"/>
              <a:gd name="T3" fmla="*/ 701 h 701"/>
              <a:gd name="T4" fmla="*/ 337 w 636"/>
              <a:gd name="T5" fmla="*/ 617 h 701"/>
              <a:gd name="T6" fmla="*/ 494 w 636"/>
              <a:gd name="T7" fmla="*/ 549 h 701"/>
              <a:gd name="T8" fmla="*/ 466 w 636"/>
              <a:gd name="T9" fmla="*/ 549 h 701"/>
              <a:gd name="T10" fmla="*/ 466 w 636"/>
              <a:gd name="T11" fmla="*/ 577 h 701"/>
              <a:gd name="T12" fmla="*/ 525 w 636"/>
              <a:gd name="T13" fmla="*/ 628 h 701"/>
              <a:gd name="T14" fmla="*/ 539 w 636"/>
              <a:gd name="T15" fmla="*/ 594 h 701"/>
              <a:gd name="T16" fmla="*/ 149 w 636"/>
              <a:gd name="T17" fmla="*/ 543 h 701"/>
              <a:gd name="T18" fmla="*/ 90 w 636"/>
              <a:gd name="T19" fmla="*/ 594 h 701"/>
              <a:gd name="T20" fmla="*/ 90 w 636"/>
              <a:gd name="T21" fmla="*/ 622 h 701"/>
              <a:gd name="T22" fmla="*/ 118 w 636"/>
              <a:gd name="T23" fmla="*/ 622 h 701"/>
              <a:gd name="T24" fmla="*/ 163 w 636"/>
              <a:gd name="T25" fmla="*/ 549 h 701"/>
              <a:gd name="T26" fmla="*/ 636 w 636"/>
              <a:gd name="T27" fmla="*/ 385 h 701"/>
              <a:gd name="T28" fmla="*/ 341 w 636"/>
              <a:gd name="T29" fmla="*/ 73 h 701"/>
              <a:gd name="T30" fmla="*/ 338 w 636"/>
              <a:gd name="T31" fmla="*/ 20 h 701"/>
              <a:gd name="T32" fmla="*/ 298 w 636"/>
              <a:gd name="T33" fmla="*/ 20 h 701"/>
              <a:gd name="T34" fmla="*/ 294 w 636"/>
              <a:gd name="T35" fmla="*/ 73 h 701"/>
              <a:gd name="T36" fmla="*/ 0 w 636"/>
              <a:gd name="T37" fmla="*/ 385 h 701"/>
              <a:gd name="T38" fmla="*/ 0 w 636"/>
              <a:gd name="T39" fmla="*/ 434 h 701"/>
              <a:gd name="T40" fmla="*/ 160 w 636"/>
              <a:gd name="T41" fmla="*/ 437 h 701"/>
              <a:gd name="T42" fmla="*/ 476 w 636"/>
              <a:gd name="T43" fmla="*/ 437 h 701"/>
              <a:gd name="T44" fmla="*/ 636 w 636"/>
              <a:gd name="T45" fmla="*/ 434 h 701"/>
              <a:gd name="T46" fmla="*/ 636 w 636"/>
              <a:gd name="T47" fmla="*/ 385 h 701"/>
              <a:gd name="T48" fmla="*/ 318 w 636"/>
              <a:gd name="T49" fmla="*/ 518 h 701"/>
              <a:gd name="T50" fmla="*/ 205 w 636"/>
              <a:gd name="T51" fmla="*/ 436 h 701"/>
              <a:gd name="T52" fmla="*/ 428 w 636"/>
              <a:gd name="T53" fmla="*/ 434 h 701"/>
              <a:gd name="T54" fmla="*/ 431 w 636"/>
              <a:gd name="T55" fmla="*/ 440 h 701"/>
              <a:gd name="T56" fmla="*/ 586 w 636"/>
              <a:gd name="T57" fmla="*/ 389 h 701"/>
              <a:gd name="T58" fmla="*/ 47 w 636"/>
              <a:gd name="T59" fmla="*/ 387 h 701"/>
              <a:gd name="T60" fmla="*/ 127 w 636"/>
              <a:gd name="T61" fmla="*/ 196 h 701"/>
              <a:gd name="T62" fmla="*/ 508 w 636"/>
              <a:gd name="T63" fmla="*/ 196 h 701"/>
              <a:gd name="T64" fmla="*/ 589 w 636"/>
              <a:gd name="T65" fmla="*/ 387 h 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36" h="701">
                <a:moveTo>
                  <a:pt x="318" y="598"/>
                </a:moveTo>
                <a:cubicBezTo>
                  <a:pt x="307" y="598"/>
                  <a:pt x="298" y="607"/>
                  <a:pt x="298" y="617"/>
                </a:cubicBezTo>
                <a:cubicBezTo>
                  <a:pt x="298" y="681"/>
                  <a:pt x="298" y="681"/>
                  <a:pt x="298" y="681"/>
                </a:cubicBezTo>
                <a:cubicBezTo>
                  <a:pt x="298" y="692"/>
                  <a:pt x="307" y="701"/>
                  <a:pt x="318" y="701"/>
                </a:cubicBezTo>
                <a:cubicBezTo>
                  <a:pt x="329" y="701"/>
                  <a:pt x="337" y="692"/>
                  <a:pt x="337" y="681"/>
                </a:cubicBezTo>
                <a:cubicBezTo>
                  <a:pt x="337" y="617"/>
                  <a:pt x="337" y="617"/>
                  <a:pt x="337" y="617"/>
                </a:cubicBezTo>
                <a:cubicBezTo>
                  <a:pt x="338" y="606"/>
                  <a:pt x="329" y="598"/>
                  <a:pt x="318" y="598"/>
                </a:cubicBezTo>
                <a:close/>
                <a:moveTo>
                  <a:pt x="494" y="549"/>
                </a:moveTo>
                <a:cubicBezTo>
                  <a:pt x="490" y="545"/>
                  <a:pt x="485" y="543"/>
                  <a:pt x="480" y="543"/>
                </a:cubicBezTo>
                <a:cubicBezTo>
                  <a:pt x="475" y="543"/>
                  <a:pt x="470" y="545"/>
                  <a:pt x="466" y="549"/>
                </a:cubicBezTo>
                <a:cubicBezTo>
                  <a:pt x="462" y="553"/>
                  <a:pt x="460" y="558"/>
                  <a:pt x="460" y="563"/>
                </a:cubicBezTo>
                <a:cubicBezTo>
                  <a:pt x="460" y="568"/>
                  <a:pt x="462" y="573"/>
                  <a:pt x="466" y="577"/>
                </a:cubicBezTo>
                <a:cubicBezTo>
                  <a:pt x="511" y="622"/>
                  <a:pt x="511" y="622"/>
                  <a:pt x="511" y="622"/>
                </a:cubicBezTo>
                <a:cubicBezTo>
                  <a:pt x="515" y="626"/>
                  <a:pt x="520" y="628"/>
                  <a:pt x="525" y="628"/>
                </a:cubicBezTo>
                <a:cubicBezTo>
                  <a:pt x="530" y="628"/>
                  <a:pt x="535" y="626"/>
                  <a:pt x="539" y="622"/>
                </a:cubicBezTo>
                <a:cubicBezTo>
                  <a:pt x="547" y="615"/>
                  <a:pt x="547" y="602"/>
                  <a:pt x="539" y="594"/>
                </a:cubicBezTo>
                <a:lnTo>
                  <a:pt x="494" y="549"/>
                </a:lnTo>
                <a:close/>
                <a:moveTo>
                  <a:pt x="149" y="543"/>
                </a:moveTo>
                <a:cubicBezTo>
                  <a:pt x="144" y="543"/>
                  <a:pt x="139" y="545"/>
                  <a:pt x="135" y="549"/>
                </a:cubicBezTo>
                <a:cubicBezTo>
                  <a:pt x="90" y="594"/>
                  <a:pt x="90" y="594"/>
                  <a:pt x="90" y="594"/>
                </a:cubicBezTo>
                <a:cubicBezTo>
                  <a:pt x="86" y="598"/>
                  <a:pt x="84" y="603"/>
                  <a:pt x="84" y="608"/>
                </a:cubicBezTo>
                <a:cubicBezTo>
                  <a:pt x="84" y="613"/>
                  <a:pt x="86" y="618"/>
                  <a:pt x="90" y="622"/>
                </a:cubicBezTo>
                <a:cubicBezTo>
                  <a:pt x="94" y="626"/>
                  <a:pt x="99" y="628"/>
                  <a:pt x="104" y="628"/>
                </a:cubicBezTo>
                <a:cubicBezTo>
                  <a:pt x="109" y="628"/>
                  <a:pt x="114" y="626"/>
                  <a:pt x="118" y="622"/>
                </a:cubicBezTo>
                <a:cubicBezTo>
                  <a:pt x="163" y="577"/>
                  <a:pt x="163" y="577"/>
                  <a:pt x="163" y="577"/>
                </a:cubicBezTo>
                <a:cubicBezTo>
                  <a:pt x="171" y="570"/>
                  <a:pt x="171" y="557"/>
                  <a:pt x="163" y="549"/>
                </a:cubicBezTo>
                <a:cubicBezTo>
                  <a:pt x="159" y="545"/>
                  <a:pt x="154" y="543"/>
                  <a:pt x="149" y="543"/>
                </a:cubicBezTo>
                <a:close/>
                <a:moveTo>
                  <a:pt x="636" y="385"/>
                </a:moveTo>
                <a:cubicBezTo>
                  <a:pt x="635" y="305"/>
                  <a:pt x="603" y="229"/>
                  <a:pt x="548" y="172"/>
                </a:cubicBezTo>
                <a:cubicBezTo>
                  <a:pt x="494" y="114"/>
                  <a:pt x="420" y="79"/>
                  <a:pt x="341" y="73"/>
                </a:cubicBezTo>
                <a:cubicBezTo>
                  <a:pt x="339" y="73"/>
                  <a:pt x="338" y="71"/>
                  <a:pt x="338" y="69"/>
                </a:cubicBezTo>
                <a:cubicBezTo>
                  <a:pt x="338" y="20"/>
                  <a:pt x="338" y="20"/>
                  <a:pt x="338" y="20"/>
                </a:cubicBezTo>
                <a:cubicBezTo>
                  <a:pt x="338" y="9"/>
                  <a:pt x="329" y="0"/>
                  <a:pt x="318" y="0"/>
                </a:cubicBezTo>
                <a:cubicBezTo>
                  <a:pt x="307" y="0"/>
                  <a:pt x="298" y="9"/>
                  <a:pt x="298" y="20"/>
                </a:cubicBezTo>
                <a:cubicBezTo>
                  <a:pt x="298" y="69"/>
                  <a:pt x="298" y="69"/>
                  <a:pt x="298" y="69"/>
                </a:cubicBezTo>
                <a:cubicBezTo>
                  <a:pt x="298" y="71"/>
                  <a:pt x="296" y="73"/>
                  <a:pt x="294" y="73"/>
                </a:cubicBezTo>
                <a:cubicBezTo>
                  <a:pt x="216" y="79"/>
                  <a:pt x="142" y="114"/>
                  <a:pt x="87" y="172"/>
                </a:cubicBezTo>
                <a:cubicBezTo>
                  <a:pt x="32" y="229"/>
                  <a:pt x="1" y="305"/>
                  <a:pt x="0" y="385"/>
                </a:cubicBezTo>
                <a:cubicBezTo>
                  <a:pt x="0" y="385"/>
                  <a:pt x="0" y="385"/>
                  <a:pt x="0" y="385"/>
                </a:cubicBezTo>
                <a:cubicBezTo>
                  <a:pt x="0" y="434"/>
                  <a:pt x="0" y="434"/>
                  <a:pt x="0" y="434"/>
                </a:cubicBezTo>
                <a:cubicBezTo>
                  <a:pt x="156" y="434"/>
                  <a:pt x="156" y="434"/>
                  <a:pt x="156" y="434"/>
                </a:cubicBezTo>
                <a:cubicBezTo>
                  <a:pt x="158" y="434"/>
                  <a:pt x="159" y="435"/>
                  <a:pt x="160" y="437"/>
                </a:cubicBezTo>
                <a:cubicBezTo>
                  <a:pt x="178" y="509"/>
                  <a:pt x="244" y="560"/>
                  <a:pt x="318" y="560"/>
                </a:cubicBezTo>
                <a:cubicBezTo>
                  <a:pt x="393" y="560"/>
                  <a:pt x="458" y="509"/>
                  <a:pt x="476" y="437"/>
                </a:cubicBezTo>
                <a:cubicBezTo>
                  <a:pt x="477" y="435"/>
                  <a:pt x="478" y="434"/>
                  <a:pt x="480" y="434"/>
                </a:cubicBezTo>
                <a:cubicBezTo>
                  <a:pt x="636" y="434"/>
                  <a:pt x="636" y="434"/>
                  <a:pt x="636" y="434"/>
                </a:cubicBezTo>
                <a:cubicBezTo>
                  <a:pt x="636" y="385"/>
                  <a:pt x="636" y="385"/>
                  <a:pt x="636" y="385"/>
                </a:cubicBezTo>
                <a:cubicBezTo>
                  <a:pt x="636" y="385"/>
                  <a:pt x="636" y="385"/>
                  <a:pt x="636" y="385"/>
                </a:cubicBezTo>
                <a:close/>
                <a:moveTo>
                  <a:pt x="431" y="440"/>
                </a:moveTo>
                <a:cubicBezTo>
                  <a:pt x="413" y="486"/>
                  <a:pt x="368" y="518"/>
                  <a:pt x="318" y="518"/>
                </a:cubicBezTo>
                <a:cubicBezTo>
                  <a:pt x="268" y="518"/>
                  <a:pt x="222" y="486"/>
                  <a:pt x="204" y="440"/>
                </a:cubicBezTo>
                <a:cubicBezTo>
                  <a:pt x="204" y="439"/>
                  <a:pt x="204" y="437"/>
                  <a:pt x="205" y="436"/>
                </a:cubicBezTo>
                <a:cubicBezTo>
                  <a:pt x="206" y="435"/>
                  <a:pt x="207" y="434"/>
                  <a:pt x="208" y="434"/>
                </a:cubicBezTo>
                <a:cubicBezTo>
                  <a:pt x="428" y="434"/>
                  <a:pt x="428" y="434"/>
                  <a:pt x="428" y="434"/>
                </a:cubicBezTo>
                <a:cubicBezTo>
                  <a:pt x="429" y="434"/>
                  <a:pt x="430" y="435"/>
                  <a:pt x="431" y="436"/>
                </a:cubicBezTo>
                <a:cubicBezTo>
                  <a:pt x="431" y="437"/>
                  <a:pt x="432" y="438"/>
                  <a:pt x="431" y="440"/>
                </a:cubicBezTo>
                <a:close/>
                <a:moveTo>
                  <a:pt x="589" y="387"/>
                </a:moveTo>
                <a:cubicBezTo>
                  <a:pt x="588" y="388"/>
                  <a:pt x="587" y="389"/>
                  <a:pt x="586" y="389"/>
                </a:cubicBezTo>
                <a:cubicBezTo>
                  <a:pt x="50" y="389"/>
                  <a:pt x="50" y="389"/>
                  <a:pt x="50" y="389"/>
                </a:cubicBezTo>
                <a:cubicBezTo>
                  <a:pt x="48" y="389"/>
                  <a:pt x="48" y="388"/>
                  <a:pt x="47" y="387"/>
                </a:cubicBezTo>
                <a:cubicBezTo>
                  <a:pt x="46" y="387"/>
                  <a:pt x="46" y="386"/>
                  <a:pt x="46" y="385"/>
                </a:cubicBezTo>
                <a:cubicBezTo>
                  <a:pt x="47" y="313"/>
                  <a:pt x="76" y="247"/>
                  <a:pt x="127" y="196"/>
                </a:cubicBezTo>
                <a:cubicBezTo>
                  <a:pt x="179" y="146"/>
                  <a:pt x="246" y="119"/>
                  <a:pt x="318" y="119"/>
                </a:cubicBezTo>
                <a:cubicBezTo>
                  <a:pt x="390" y="119"/>
                  <a:pt x="457" y="146"/>
                  <a:pt x="508" y="196"/>
                </a:cubicBezTo>
                <a:cubicBezTo>
                  <a:pt x="559" y="246"/>
                  <a:pt x="589" y="313"/>
                  <a:pt x="590" y="385"/>
                </a:cubicBezTo>
                <a:cubicBezTo>
                  <a:pt x="590" y="385"/>
                  <a:pt x="589" y="387"/>
                  <a:pt x="589" y="387"/>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0" name="Freeform 13"/>
          <p:cNvSpPr>
            <a:spLocks noEditPoints="1"/>
          </p:cNvSpPr>
          <p:nvPr>
            <p:custDataLst>
              <p:tags r:id="rId8"/>
            </p:custDataLst>
          </p:nvPr>
        </p:nvSpPr>
        <p:spPr bwMode="auto">
          <a:xfrm>
            <a:off x="1519841" y="5064919"/>
            <a:ext cx="443828" cy="300306"/>
          </a:xfrm>
          <a:custGeom>
            <a:avLst/>
            <a:gdLst>
              <a:gd name="T0" fmla="*/ 142 w 705"/>
              <a:gd name="T1" fmla="*/ 313 h 476"/>
              <a:gd name="T2" fmla="*/ 124 w 705"/>
              <a:gd name="T3" fmla="*/ 306 h 476"/>
              <a:gd name="T4" fmla="*/ 124 w 705"/>
              <a:gd name="T5" fmla="*/ 271 h 476"/>
              <a:gd name="T6" fmla="*/ 354 w 705"/>
              <a:gd name="T7" fmla="*/ 174 h 476"/>
              <a:gd name="T8" fmla="*/ 580 w 705"/>
              <a:gd name="T9" fmla="*/ 267 h 476"/>
              <a:gd name="T10" fmla="*/ 580 w 705"/>
              <a:gd name="T11" fmla="*/ 303 h 476"/>
              <a:gd name="T12" fmla="*/ 545 w 705"/>
              <a:gd name="T13" fmla="*/ 303 h 476"/>
              <a:gd name="T14" fmla="*/ 354 w 705"/>
              <a:gd name="T15" fmla="*/ 224 h 476"/>
              <a:gd name="T16" fmla="*/ 160 w 705"/>
              <a:gd name="T17" fmla="*/ 306 h 476"/>
              <a:gd name="T18" fmla="*/ 142 w 705"/>
              <a:gd name="T19" fmla="*/ 313 h 476"/>
              <a:gd name="T20" fmla="*/ 27 w 705"/>
              <a:gd name="T21" fmla="*/ 186 h 476"/>
              <a:gd name="T22" fmla="*/ 10 w 705"/>
              <a:gd name="T23" fmla="*/ 179 h 476"/>
              <a:gd name="T24" fmla="*/ 10 w 705"/>
              <a:gd name="T25" fmla="*/ 144 h 476"/>
              <a:gd name="T26" fmla="*/ 354 w 705"/>
              <a:gd name="T27" fmla="*/ 0 h 476"/>
              <a:gd name="T28" fmla="*/ 695 w 705"/>
              <a:gd name="T29" fmla="*/ 140 h 476"/>
              <a:gd name="T30" fmla="*/ 695 w 705"/>
              <a:gd name="T31" fmla="*/ 176 h 476"/>
              <a:gd name="T32" fmla="*/ 660 w 705"/>
              <a:gd name="T33" fmla="*/ 176 h 476"/>
              <a:gd name="T34" fmla="*/ 354 w 705"/>
              <a:gd name="T35" fmla="*/ 50 h 476"/>
              <a:gd name="T36" fmla="*/ 45 w 705"/>
              <a:gd name="T37" fmla="*/ 179 h 476"/>
              <a:gd name="T38" fmla="*/ 27 w 705"/>
              <a:gd name="T39" fmla="*/ 186 h 476"/>
              <a:gd name="T40" fmla="*/ 351 w 705"/>
              <a:gd name="T41" fmla="*/ 476 h 476"/>
              <a:gd name="T42" fmla="*/ 334 w 705"/>
              <a:gd name="T43" fmla="*/ 469 h 476"/>
              <a:gd name="T44" fmla="*/ 259 w 705"/>
              <a:gd name="T45" fmla="*/ 400 h 476"/>
              <a:gd name="T46" fmla="*/ 257 w 705"/>
              <a:gd name="T47" fmla="*/ 365 h 476"/>
              <a:gd name="T48" fmla="*/ 351 w 705"/>
              <a:gd name="T49" fmla="*/ 322 h 476"/>
              <a:gd name="T50" fmla="*/ 447 w 705"/>
              <a:gd name="T51" fmla="*/ 369 h 476"/>
              <a:gd name="T52" fmla="*/ 444 w 705"/>
              <a:gd name="T53" fmla="*/ 403 h 476"/>
              <a:gd name="T54" fmla="*/ 367 w 705"/>
              <a:gd name="T55" fmla="*/ 469 h 476"/>
              <a:gd name="T56" fmla="*/ 351 w 705"/>
              <a:gd name="T57" fmla="*/ 476 h 476"/>
              <a:gd name="T58" fmla="*/ 314 w 705"/>
              <a:gd name="T59" fmla="*/ 382 h 476"/>
              <a:gd name="T60" fmla="*/ 351 w 705"/>
              <a:gd name="T61" fmla="*/ 417 h 476"/>
              <a:gd name="T62" fmla="*/ 390 w 705"/>
              <a:gd name="T63" fmla="*/ 384 h 476"/>
              <a:gd name="T64" fmla="*/ 314 w 705"/>
              <a:gd name="T65" fmla="*/ 382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05" h="476">
                <a:moveTo>
                  <a:pt x="142" y="313"/>
                </a:moveTo>
                <a:cubicBezTo>
                  <a:pt x="136" y="313"/>
                  <a:pt x="129" y="311"/>
                  <a:pt x="124" y="306"/>
                </a:cubicBezTo>
                <a:cubicBezTo>
                  <a:pt x="115" y="297"/>
                  <a:pt x="114" y="281"/>
                  <a:pt x="124" y="271"/>
                </a:cubicBezTo>
                <a:cubicBezTo>
                  <a:pt x="185" y="208"/>
                  <a:pt x="266" y="174"/>
                  <a:pt x="354" y="174"/>
                </a:cubicBezTo>
                <a:cubicBezTo>
                  <a:pt x="439" y="174"/>
                  <a:pt x="520" y="207"/>
                  <a:pt x="580" y="267"/>
                </a:cubicBezTo>
                <a:cubicBezTo>
                  <a:pt x="590" y="277"/>
                  <a:pt x="590" y="293"/>
                  <a:pt x="580" y="303"/>
                </a:cubicBezTo>
                <a:cubicBezTo>
                  <a:pt x="571" y="313"/>
                  <a:pt x="555" y="313"/>
                  <a:pt x="545" y="303"/>
                </a:cubicBezTo>
                <a:cubicBezTo>
                  <a:pt x="494" y="252"/>
                  <a:pt x="426" y="224"/>
                  <a:pt x="354" y="224"/>
                </a:cubicBezTo>
                <a:cubicBezTo>
                  <a:pt x="280" y="224"/>
                  <a:pt x="211" y="253"/>
                  <a:pt x="160" y="306"/>
                </a:cubicBezTo>
                <a:cubicBezTo>
                  <a:pt x="155" y="311"/>
                  <a:pt x="148" y="313"/>
                  <a:pt x="142" y="313"/>
                </a:cubicBezTo>
                <a:close/>
                <a:moveTo>
                  <a:pt x="27" y="186"/>
                </a:moveTo>
                <a:cubicBezTo>
                  <a:pt x="21" y="186"/>
                  <a:pt x="15" y="184"/>
                  <a:pt x="10" y="179"/>
                </a:cubicBezTo>
                <a:cubicBezTo>
                  <a:pt x="0" y="169"/>
                  <a:pt x="0" y="153"/>
                  <a:pt x="10" y="144"/>
                </a:cubicBezTo>
                <a:cubicBezTo>
                  <a:pt x="101" y="51"/>
                  <a:pt x="224" y="0"/>
                  <a:pt x="354" y="0"/>
                </a:cubicBezTo>
                <a:cubicBezTo>
                  <a:pt x="482" y="0"/>
                  <a:pt x="603" y="50"/>
                  <a:pt x="695" y="140"/>
                </a:cubicBezTo>
                <a:cubicBezTo>
                  <a:pt x="705" y="150"/>
                  <a:pt x="705" y="166"/>
                  <a:pt x="695" y="176"/>
                </a:cubicBezTo>
                <a:cubicBezTo>
                  <a:pt x="685" y="186"/>
                  <a:pt x="670" y="186"/>
                  <a:pt x="660" y="176"/>
                </a:cubicBezTo>
                <a:cubicBezTo>
                  <a:pt x="578" y="95"/>
                  <a:pt x="469" y="50"/>
                  <a:pt x="354" y="50"/>
                </a:cubicBezTo>
                <a:cubicBezTo>
                  <a:pt x="237" y="50"/>
                  <a:pt x="127" y="96"/>
                  <a:pt x="45" y="179"/>
                </a:cubicBezTo>
                <a:cubicBezTo>
                  <a:pt x="40" y="184"/>
                  <a:pt x="34" y="186"/>
                  <a:pt x="27" y="186"/>
                </a:cubicBezTo>
                <a:close/>
                <a:moveTo>
                  <a:pt x="351" y="476"/>
                </a:moveTo>
                <a:cubicBezTo>
                  <a:pt x="344" y="476"/>
                  <a:pt x="338" y="473"/>
                  <a:pt x="334" y="469"/>
                </a:cubicBezTo>
                <a:cubicBezTo>
                  <a:pt x="259" y="400"/>
                  <a:pt x="259" y="400"/>
                  <a:pt x="259" y="400"/>
                </a:cubicBezTo>
                <a:cubicBezTo>
                  <a:pt x="249" y="391"/>
                  <a:pt x="248" y="375"/>
                  <a:pt x="257" y="365"/>
                </a:cubicBezTo>
                <a:cubicBezTo>
                  <a:pt x="281" y="338"/>
                  <a:pt x="315" y="322"/>
                  <a:pt x="351" y="322"/>
                </a:cubicBezTo>
                <a:cubicBezTo>
                  <a:pt x="388" y="322"/>
                  <a:pt x="423" y="339"/>
                  <a:pt x="447" y="369"/>
                </a:cubicBezTo>
                <a:cubicBezTo>
                  <a:pt x="455" y="379"/>
                  <a:pt x="454" y="394"/>
                  <a:pt x="444" y="403"/>
                </a:cubicBezTo>
                <a:cubicBezTo>
                  <a:pt x="367" y="469"/>
                  <a:pt x="367" y="469"/>
                  <a:pt x="367" y="469"/>
                </a:cubicBezTo>
                <a:cubicBezTo>
                  <a:pt x="362" y="474"/>
                  <a:pt x="356" y="476"/>
                  <a:pt x="351" y="476"/>
                </a:cubicBezTo>
                <a:close/>
                <a:moveTo>
                  <a:pt x="314" y="382"/>
                </a:moveTo>
                <a:cubicBezTo>
                  <a:pt x="351" y="417"/>
                  <a:pt x="351" y="417"/>
                  <a:pt x="351" y="417"/>
                </a:cubicBezTo>
                <a:cubicBezTo>
                  <a:pt x="390" y="384"/>
                  <a:pt x="390" y="384"/>
                  <a:pt x="390" y="384"/>
                </a:cubicBezTo>
                <a:cubicBezTo>
                  <a:pt x="367" y="369"/>
                  <a:pt x="337" y="369"/>
                  <a:pt x="314" y="382"/>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sp>
        <p:nvSpPr>
          <p:cNvPr id="41" name="矩形 40"/>
          <p:cNvSpPr/>
          <p:nvPr>
            <p:custDataLst>
              <p:tags r:id="rId9"/>
            </p:custDataLst>
          </p:nvPr>
        </p:nvSpPr>
        <p:spPr>
          <a:xfrm>
            <a:off x="2536190" y="2378075"/>
            <a:ext cx="5602605" cy="2249170"/>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 Stratified 5-fold cross validation</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Out-of-fold evaluation for fair comparison</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Metrics:</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Accuracy</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Precision</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Recall</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F1-score</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ROC-AUC</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 PR-AUC</a:t>
            </a:r>
            <a:endParaRPr lang="en-US" altLang="zh-CN" sz="1200" dirty="0">
              <a:solidFill>
                <a:schemeClr val="tx1">
                  <a:lumMod val="50000"/>
                  <a:lumOff val="50000"/>
                </a:schemeClr>
              </a:solidFill>
            </a:endParaRPr>
          </a:p>
        </p:txBody>
      </p:sp>
      <p:sp>
        <p:nvSpPr>
          <p:cNvPr id="43" name="矩形 42"/>
          <p:cNvSpPr/>
          <p:nvPr>
            <p:custDataLst>
              <p:tags r:id="rId10"/>
            </p:custDataLst>
          </p:nvPr>
        </p:nvSpPr>
        <p:spPr>
          <a:xfrm>
            <a:off x="2536415" y="4990739"/>
            <a:ext cx="4957832" cy="810260"/>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Because churn data are imbalanced, accuracy alone is not sufficient.</a:t>
            </a:r>
            <a:endParaRPr lang="en-US" altLang="zh-CN" sz="1200" dirty="0">
              <a:solidFill>
                <a:schemeClr val="tx1">
                  <a:lumMod val="50000"/>
                  <a:lumOff val="50000"/>
                </a:schemeClr>
              </a:solidFill>
            </a:endParaRPr>
          </a:p>
          <a:p>
            <a:pPr>
              <a:lnSpc>
                <a:spcPct val="130000"/>
              </a:lnSpc>
            </a:pPr>
            <a:endParaRPr lang="en-US" altLang="zh-CN" sz="1200" dirty="0">
              <a:solidFill>
                <a:schemeClr val="tx1">
                  <a:lumMod val="50000"/>
                  <a:lumOff val="50000"/>
                </a:schemeClr>
              </a:solidFill>
            </a:endParaRPr>
          </a:p>
        </p:txBody>
      </p:sp>
      <p:sp>
        <p:nvSpPr>
          <p:cNvPr id="21" name="[动画大师]_Oval 7"/>
          <p:cNvSpPr/>
          <p:nvPr>
            <p:custDataLst>
              <p:tags r:id="rId11"/>
            </p:custDataLst>
          </p:nvPr>
        </p:nvSpPr>
        <p:spPr>
          <a:xfrm>
            <a:off x="9074525" y="5874562"/>
            <a:ext cx="108000" cy="1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椭圆 21"/>
          <p:cNvSpPr/>
          <p:nvPr>
            <p:custDataLst>
              <p:tags r:id="rId12"/>
            </p:custDataLst>
          </p:nvPr>
        </p:nvSpPr>
        <p:spPr>
          <a:xfrm>
            <a:off x="9323772" y="5874562"/>
            <a:ext cx="108000" cy="10800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3" name="椭圆 22"/>
          <p:cNvSpPr/>
          <p:nvPr>
            <p:custDataLst>
              <p:tags r:id="rId13"/>
            </p:custDataLst>
          </p:nvPr>
        </p:nvSpPr>
        <p:spPr>
          <a:xfrm>
            <a:off x="9573020" y="5874562"/>
            <a:ext cx="108000" cy="1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63" presetClass="path" presetSubtype="0" decel="50000" fill="hold" grpId="1" nodeType="withEffect">
                                  <p:stCondLst>
                                    <p:cond delay="0"/>
                                  </p:stCondLst>
                                  <p:childTnLst>
                                    <p:animMotion origin="layout" path="M -0.01563 -3.7037E-6 L 0.1108 -3.7037E-6 " pathEditMode="relative" rAng="0" ptsTypes="AA">
                                      <p:cBhvr>
                                        <p:cTn id="9" dur="750" spd="-100000" fill="hold"/>
                                        <p:tgtEl>
                                          <p:spTgt spid="7"/>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3 -3.7037E-6 L 3.33333E-6 -3.7037E-6 " pathEditMode="relative" rAng="0" ptsTypes="AA">
                                      <p:cBhvr>
                                        <p:cTn id="11" dur="750" fill="hold"/>
                                        <p:tgtEl>
                                          <p:spTgt spid="7"/>
                                        </p:tgtEl>
                                        <p:attrNameLst>
                                          <p:attrName>ppt_x</p:attrName>
                                          <p:attrName>ppt_y</p:attrName>
                                        </p:attrNameLst>
                                      </p:cBhvr>
                                      <p:rCtr x="781" y="0"/>
                                    </p:animMotion>
                                  </p:childTnLst>
                                </p:cTn>
                              </p:par>
                              <p:par>
                                <p:cTn id="12" presetID="22" presetClass="entr" presetSubtype="8"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1250"/>
                                        <p:tgtEl>
                                          <p:spTgt spid="8"/>
                                        </p:tgtEl>
                                      </p:cBhvr>
                                    </p:animEffect>
                                  </p:childTnLst>
                                </p:cTn>
                              </p:par>
                              <p:par>
                                <p:cTn id="15" presetID="63" presetClass="path" presetSubtype="0" decel="50000" fill="hold" nodeType="withEffect">
                                  <p:stCondLst>
                                    <p:cond delay="0"/>
                                  </p:stCondLst>
                                  <p:childTnLst>
                                    <p:animMotion origin="layout" path="M -0.01563 -3.7037E-6 L 0.1108 -3.7037E-6 " pathEditMode="relative" rAng="0" ptsTypes="AA">
                                      <p:cBhvr>
                                        <p:cTn id="16" dur="750" spd="-100000" fill="hold"/>
                                        <p:tgtEl>
                                          <p:spTgt spid="8"/>
                                        </p:tgtEl>
                                        <p:attrNameLst>
                                          <p:attrName>ppt_x</p:attrName>
                                          <p:attrName>ppt_y</p:attrName>
                                        </p:attrNameLst>
                                      </p:cBhvr>
                                      <p:rCtr x="6315" y="0"/>
                                    </p:animMotion>
                                  </p:childTnLst>
                                </p:cTn>
                              </p:par>
                              <p:par>
                                <p:cTn id="17" presetID="35" presetClass="path" presetSubtype="0" accel="50000" decel="50000" fill="hold" nodeType="withEffect">
                                  <p:stCondLst>
                                    <p:cond delay="750"/>
                                  </p:stCondLst>
                                  <p:childTnLst>
                                    <p:animMotion origin="layout" path="M -0.01563 -3.7037E-6 L 3.33333E-6 -3.7037E-6 " pathEditMode="relative" rAng="0" ptsTypes="AA">
                                      <p:cBhvr>
                                        <p:cTn id="18" dur="750" fill="hold"/>
                                        <p:tgtEl>
                                          <p:spTgt spid="8"/>
                                        </p:tgtEl>
                                        <p:attrNameLst>
                                          <p:attrName>ppt_x</p:attrName>
                                          <p:attrName>ppt_y</p:attrName>
                                        </p:attrNameLst>
                                      </p:cBhvr>
                                      <p:rCtr x="781" y="0"/>
                                    </p:animMotion>
                                  </p:childTnLst>
                                </p:cTn>
                              </p:par>
                              <p:par>
                                <p:cTn id="19" presetID="10"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750"/>
                                        <p:tgtEl>
                                          <p:spTgt spid="4"/>
                                        </p:tgtEl>
                                      </p:cBhvr>
                                    </p:animEffect>
                                  </p:childTnLst>
                                </p:cTn>
                              </p:par>
                              <p:par>
                                <p:cTn id="22" presetID="64" presetClass="path" presetSubtype="0" decel="30000" fill="hold" nodeType="withEffect">
                                  <p:stCondLst>
                                    <p:cond delay="0"/>
                                  </p:stCondLst>
                                  <p:childTnLst>
                                    <p:animMotion origin="layout" path="M -4.58333E-6 0.03889 L -4.58333E-6 -0.14815 " pathEditMode="relative" rAng="0" ptsTypes="AA">
                                      <p:cBhvr>
                                        <p:cTn id="23" dur="750" spd="-100000" fill="hold"/>
                                        <p:tgtEl>
                                          <p:spTgt spid="4"/>
                                        </p:tgtEl>
                                        <p:attrNameLst>
                                          <p:attrName>ppt_x</p:attrName>
                                          <p:attrName>ppt_y</p:attrName>
                                        </p:attrNameLst>
                                      </p:cBhvr>
                                      <p:rCtr x="0" y="-9352"/>
                                    </p:animMotion>
                                  </p:childTnLst>
                                </p:cTn>
                              </p:par>
                              <p:par>
                                <p:cTn id="24" presetID="64" presetClass="path" presetSubtype="0" accel="30000" decel="30000" fill="hold" nodeType="withEffect">
                                  <p:stCondLst>
                                    <p:cond delay="750"/>
                                  </p:stCondLst>
                                  <p:childTnLst>
                                    <p:animMotion origin="layout" path="M -4.58333E-6 0.03843 L -4.58333E-6 3.7037E-7 " pathEditMode="relative" rAng="0" ptsTypes="AA">
                                      <p:cBhvr>
                                        <p:cTn id="25" dur="750" fill="hold"/>
                                        <p:tgtEl>
                                          <p:spTgt spid="4"/>
                                        </p:tgtEl>
                                        <p:attrNameLst>
                                          <p:attrName>ppt_x</p:attrName>
                                          <p:attrName>ppt_y</p:attrName>
                                        </p:attrNameLst>
                                      </p:cBhvr>
                                      <p:rCtr x="0" y="-1921"/>
                                    </p:animMotion>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par>
                                <p:cTn id="29" presetID="63" presetClass="path" presetSubtype="0" decel="30000" fill="hold" grpId="1" nodeType="withEffect">
                                  <p:stCondLst>
                                    <p:cond delay="0"/>
                                  </p:stCondLst>
                                  <p:childTnLst>
                                    <p:animMotion origin="layout" path="M -0.161157 0.070072 L 0 0 E" pathEditMode="relative" ptsTypes="">
                                      <p:cBhvr>
                                        <p:cTn id="30" dur="1000" fill="hold"/>
                                        <p:tgtEl>
                                          <p:spTgt spid="5"/>
                                        </p:tgtEl>
                                        <p:attrNameLst>
                                          <p:attrName>ppt_x</p:attrName>
                                          <p:attrName>ppt_y</p:attrName>
                                        </p:attrNameLst>
                                      </p:cBhvr>
                                    </p:animMotion>
                                  </p:childTnLst>
                                </p:cTn>
                              </p:par>
                              <p:par>
                                <p:cTn id="31" presetID="6" presetClass="emph" presetSubtype="0" decel="30000" fill="hold" grpId="2" nodeType="withEffect">
                                  <p:stCondLst>
                                    <p:cond delay="0"/>
                                  </p:stCondLst>
                                  <p:childTnLst>
                                    <p:animScale>
                                      <p:cBhvr>
                                        <p:cTn id="32" dur="1000" fill="hold"/>
                                        <p:tgtEl>
                                          <p:spTgt spid="5"/>
                                        </p:tgtEl>
                                      </p:cBhvr>
                                      <p:by x="150000" y="150000"/>
                                      <p:from x="46287" y="46287"/>
                                      <p:to x="100000" y="100000"/>
                                    </p:animScale>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childTnLst>
                                </p:cTn>
                              </p:par>
                              <p:par>
                                <p:cTn id="36" presetID="63" presetClass="path" presetSubtype="0" decel="30000" fill="hold" grpId="1" nodeType="withEffect">
                                  <p:stCondLst>
                                    <p:cond delay="0"/>
                                  </p:stCondLst>
                                  <p:childTnLst>
                                    <p:animMotion origin="layout" path="M -0.201786 0.070087 L 0 0 E" pathEditMode="relative" ptsTypes="">
                                      <p:cBhvr>
                                        <p:cTn id="37" dur="1000" fill="hold"/>
                                        <p:tgtEl>
                                          <p:spTgt spid="10"/>
                                        </p:tgtEl>
                                        <p:attrNameLst>
                                          <p:attrName>ppt_x</p:attrName>
                                          <p:attrName>ppt_y</p:attrName>
                                        </p:attrNameLst>
                                      </p:cBhvr>
                                    </p:animMotion>
                                  </p:childTnLst>
                                </p:cTn>
                              </p:par>
                              <p:par>
                                <p:cTn id="38" presetID="6" presetClass="emph" presetSubtype="0" decel="30000" fill="hold" grpId="2" nodeType="withEffect">
                                  <p:stCondLst>
                                    <p:cond delay="0"/>
                                  </p:stCondLst>
                                  <p:childTnLst>
                                    <p:animScale>
                                      <p:cBhvr>
                                        <p:cTn id="39" dur="1000" fill="hold"/>
                                        <p:tgtEl>
                                          <p:spTgt spid="10"/>
                                        </p:tgtEl>
                                      </p:cBhvr>
                                      <p:by x="150000" y="150000"/>
                                      <p:from x="46276" y="46276"/>
                                      <p:to x="100000" y="100000"/>
                                    </p:animScale>
                                  </p:childTnLst>
                                </p:cTn>
                              </p:par>
                              <p:par>
                                <p:cTn id="40" presetID="31" presetClass="entr" presetSubtype="0" fill="hold" grpId="0" nodeType="withEffect">
                                  <p:stCondLst>
                                    <p:cond delay="750"/>
                                  </p:stCondLst>
                                  <p:childTnLst>
                                    <p:set>
                                      <p:cBhvr>
                                        <p:cTn id="41" dur="1" fill="hold">
                                          <p:stCondLst>
                                            <p:cond delay="0"/>
                                          </p:stCondLst>
                                        </p:cTn>
                                        <p:tgtEl>
                                          <p:spTgt spid="33"/>
                                        </p:tgtEl>
                                        <p:attrNameLst>
                                          <p:attrName>style.visibility</p:attrName>
                                        </p:attrNameLst>
                                      </p:cBhvr>
                                      <p:to>
                                        <p:strVal val="visible"/>
                                      </p:to>
                                    </p:set>
                                    <p:anim calcmode="lin" valueType="num">
                                      <p:cBhvr>
                                        <p:cTn id="42" dur="750" fill="hold"/>
                                        <p:tgtEl>
                                          <p:spTgt spid="33"/>
                                        </p:tgtEl>
                                        <p:attrNameLst>
                                          <p:attrName>ppt_w</p:attrName>
                                        </p:attrNameLst>
                                      </p:cBhvr>
                                      <p:tavLst>
                                        <p:tav tm="0">
                                          <p:val>
                                            <p:fltVal val="0"/>
                                          </p:val>
                                        </p:tav>
                                        <p:tav tm="100000">
                                          <p:val>
                                            <p:strVal val="#ppt_w"/>
                                          </p:val>
                                        </p:tav>
                                      </p:tavLst>
                                    </p:anim>
                                    <p:anim calcmode="lin" valueType="num">
                                      <p:cBhvr>
                                        <p:cTn id="43" dur="750" fill="hold"/>
                                        <p:tgtEl>
                                          <p:spTgt spid="33"/>
                                        </p:tgtEl>
                                        <p:attrNameLst>
                                          <p:attrName>ppt_h</p:attrName>
                                        </p:attrNameLst>
                                      </p:cBhvr>
                                      <p:tavLst>
                                        <p:tav tm="0">
                                          <p:val>
                                            <p:fltVal val="0"/>
                                          </p:val>
                                        </p:tav>
                                        <p:tav tm="100000">
                                          <p:val>
                                            <p:strVal val="#ppt_h"/>
                                          </p:val>
                                        </p:tav>
                                      </p:tavLst>
                                    </p:anim>
                                    <p:anim calcmode="lin" valueType="num">
                                      <p:cBhvr>
                                        <p:cTn id="44" dur="750" fill="hold"/>
                                        <p:tgtEl>
                                          <p:spTgt spid="33"/>
                                        </p:tgtEl>
                                        <p:attrNameLst>
                                          <p:attrName>style.rotation</p:attrName>
                                        </p:attrNameLst>
                                      </p:cBhvr>
                                      <p:tavLst>
                                        <p:tav tm="0">
                                          <p:val>
                                            <p:fltVal val="90"/>
                                          </p:val>
                                        </p:tav>
                                        <p:tav tm="100000">
                                          <p:val>
                                            <p:fltVal val="0"/>
                                          </p:val>
                                        </p:tav>
                                      </p:tavLst>
                                    </p:anim>
                                    <p:animEffect transition="in" filter="fade">
                                      <p:cBhvr>
                                        <p:cTn id="45" dur="750"/>
                                        <p:tgtEl>
                                          <p:spTgt spid="33"/>
                                        </p:tgtEl>
                                      </p:cBhvr>
                                    </p:animEffect>
                                  </p:childTnLst>
                                </p:cTn>
                              </p:par>
                              <p:par>
                                <p:cTn id="46" presetID="31" presetClass="entr" presetSubtype="0" fill="hold" grpId="0" nodeType="withEffect">
                                  <p:stCondLst>
                                    <p:cond delay="750"/>
                                  </p:stCondLst>
                                  <p:childTnLst>
                                    <p:set>
                                      <p:cBhvr>
                                        <p:cTn id="47" dur="1" fill="hold">
                                          <p:stCondLst>
                                            <p:cond delay="0"/>
                                          </p:stCondLst>
                                        </p:cTn>
                                        <p:tgtEl>
                                          <p:spTgt spid="40"/>
                                        </p:tgtEl>
                                        <p:attrNameLst>
                                          <p:attrName>style.visibility</p:attrName>
                                        </p:attrNameLst>
                                      </p:cBhvr>
                                      <p:to>
                                        <p:strVal val="visible"/>
                                      </p:to>
                                    </p:set>
                                    <p:anim calcmode="lin" valueType="num">
                                      <p:cBhvr>
                                        <p:cTn id="48" dur="750" fill="hold"/>
                                        <p:tgtEl>
                                          <p:spTgt spid="40"/>
                                        </p:tgtEl>
                                        <p:attrNameLst>
                                          <p:attrName>ppt_w</p:attrName>
                                        </p:attrNameLst>
                                      </p:cBhvr>
                                      <p:tavLst>
                                        <p:tav tm="0">
                                          <p:val>
                                            <p:fltVal val="0"/>
                                          </p:val>
                                        </p:tav>
                                        <p:tav tm="100000">
                                          <p:val>
                                            <p:strVal val="#ppt_w"/>
                                          </p:val>
                                        </p:tav>
                                      </p:tavLst>
                                    </p:anim>
                                    <p:anim calcmode="lin" valueType="num">
                                      <p:cBhvr>
                                        <p:cTn id="49" dur="750" fill="hold"/>
                                        <p:tgtEl>
                                          <p:spTgt spid="40"/>
                                        </p:tgtEl>
                                        <p:attrNameLst>
                                          <p:attrName>ppt_h</p:attrName>
                                        </p:attrNameLst>
                                      </p:cBhvr>
                                      <p:tavLst>
                                        <p:tav tm="0">
                                          <p:val>
                                            <p:fltVal val="0"/>
                                          </p:val>
                                        </p:tav>
                                        <p:tav tm="100000">
                                          <p:val>
                                            <p:strVal val="#ppt_h"/>
                                          </p:val>
                                        </p:tav>
                                      </p:tavLst>
                                    </p:anim>
                                    <p:anim calcmode="lin" valueType="num">
                                      <p:cBhvr>
                                        <p:cTn id="50" dur="750" fill="hold"/>
                                        <p:tgtEl>
                                          <p:spTgt spid="40"/>
                                        </p:tgtEl>
                                        <p:attrNameLst>
                                          <p:attrName>style.rotation</p:attrName>
                                        </p:attrNameLst>
                                      </p:cBhvr>
                                      <p:tavLst>
                                        <p:tav tm="0">
                                          <p:val>
                                            <p:fltVal val="90"/>
                                          </p:val>
                                        </p:tav>
                                        <p:tav tm="100000">
                                          <p:val>
                                            <p:fltVal val="0"/>
                                          </p:val>
                                        </p:tav>
                                      </p:tavLst>
                                    </p:anim>
                                    <p:animEffect transition="in" filter="fade">
                                      <p:cBhvr>
                                        <p:cTn id="51" dur="750"/>
                                        <p:tgtEl>
                                          <p:spTgt spid="40"/>
                                        </p:tgtEl>
                                      </p:cBhvr>
                                    </p:animEffect>
                                  </p:childTnLst>
                                </p:cTn>
                              </p:par>
                              <p:par>
                                <p:cTn id="52" presetID="53" presetClass="entr" presetSubtype="16" fill="hold" grpId="0" nodeType="withEffect">
                                  <p:stCondLst>
                                    <p:cond delay="750"/>
                                  </p:stCondLst>
                                  <p:childTnLst>
                                    <p:set>
                                      <p:cBhvr>
                                        <p:cTn id="53" dur="1" fill="hold">
                                          <p:stCondLst>
                                            <p:cond delay="0"/>
                                          </p:stCondLst>
                                        </p:cTn>
                                        <p:tgtEl>
                                          <p:spTgt spid="13"/>
                                        </p:tgtEl>
                                        <p:attrNameLst>
                                          <p:attrName>style.visibility</p:attrName>
                                        </p:attrNameLst>
                                      </p:cBhvr>
                                      <p:to>
                                        <p:strVal val="visible"/>
                                      </p:to>
                                    </p:set>
                                    <p:anim calcmode="lin" valueType="num">
                                      <p:cBhvr>
                                        <p:cTn id="54" dur="750" fill="hold"/>
                                        <p:tgtEl>
                                          <p:spTgt spid="13"/>
                                        </p:tgtEl>
                                        <p:attrNameLst>
                                          <p:attrName>ppt_w</p:attrName>
                                        </p:attrNameLst>
                                      </p:cBhvr>
                                      <p:tavLst>
                                        <p:tav tm="0">
                                          <p:val>
                                            <p:fltVal val="0"/>
                                          </p:val>
                                        </p:tav>
                                        <p:tav tm="100000">
                                          <p:val>
                                            <p:strVal val="#ppt_w"/>
                                          </p:val>
                                        </p:tav>
                                      </p:tavLst>
                                    </p:anim>
                                    <p:anim calcmode="lin" valueType="num">
                                      <p:cBhvr>
                                        <p:cTn id="55" dur="750" fill="hold"/>
                                        <p:tgtEl>
                                          <p:spTgt spid="13"/>
                                        </p:tgtEl>
                                        <p:attrNameLst>
                                          <p:attrName>ppt_h</p:attrName>
                                        </p:attrNameLst>
                                      </p:cBhvr>
                                      <p:tavLst>
                                        <p:tav tm="0">
                                          <p:val>
                                            <p:fltVal val="0"/>
                                          </p:val>
                                        </p:tav>
                                        <p:tav tm="100000">
                                          <p:val>
                                            <p:strVal val="#ppt_h"/>
                                          </p:val>
                                        </p:tav>
                                      </p:tavLst>
                                    </p:anim>
                                    <p:animEffect transition="in" filter="fade">
                                      <p:cBhvr>
                                        <p:cTn id="56" dur="750"/>
                                        <p:tgtEl>
                                          <p:spTgt spid="13"/>
                                        </p:tgtEl>
                                      </p:cBhvr>
                                    </p:animEffect>
                                  </p:childTnLst>
                                </p:cTn>
                              </p:par>
                              <p:par>
                                <p:cTn id="57" presetID="53" presetClass="entr" presetSubtype="16" fill="hold" grpId="0" nodeType="withEffect">
                                  <p:stCondLst>
                                    <p:cond delay="750"/>
                                  </p:stCondLst>
                                  <p:childTnLst>
                                    <p:set>
                                      <p:cBhvr>
                                        <p:cTn id="58" dur="1" fill="hold">
                                          <p:stCondLst>
                                            <p:cond delay="0"/>
                                          </p:stCondLst>
                                        </p:cTn>
                                        <p:tgtEl>
                                          <p:spTgt spid="28"/>
                                        </p:tgtEl>
                                        <p:attrNameLst>
                                          <p:attrName>style.visibility</p:attrName>
                                        </p:attrNameLst>
                                      </p:cBhvr>
                                      <p:to>
                                        <p:strVal val="visible"/>
                                      </p:to>
                                    </p:set>
                                    <p:anim calcmode="lin" valueType="num">
                                      <p:cBhvr>
                                        <p:cTn id="59" dur="750" fill="hold"/>
                                        <p:tgtEl>
                                          <p:spTgt spid="28"/>
                                        </p:tgtEl>
                                        <p:attrNameLst>
                                          <p:attrName>ppt_w</p:attrName>
                                        </p:attrNameLst>
                                      </p:cBhvr>
                                      <p:tavLst>
                                        <p:tav tm="0">
                                          <p:val>
                                            <p:fltVal val="0"/>
                                          </p:val>
                                        </p:tav>
                                        <p:tav tm="100000">
                                          <p:val>
                                            <p:strVal val="#ppt_w"/>
                                          </p:val>
                                        </p:tav>
                                      </p:tavLst>
                                    </p:anim>
                                    <p:anim calcmode="lin" valueType="num">
                                      <p:cBhvr>
                                        <p:cTn id="60" dur="750" fill="hold"/>
                                        <p:tgtEl>
                                          <p:spTgt spid="28"/>
                                        </p:tgtEl>
                                        <p:attrNameLst>
                                          <p:attrName>ppt_h</p:attrName>
                                        </p:attrNameLst>
                                      </p:cBhvr>
                                      <p:tavLst>
                                        <p:tav tm="0">
                                          <p:val>
                                            <p:fltVal val="0"/>
                                          </p:val>
                                        </p:tav>
                                        <p:tav tm="100000">
                                          <p:val>
                                            <p:strVal val="#ppt_h"/>
                                          </p:val>
                                        </p:tav>
                                      </p:tavLst>
                                    </p:anim>
                                    <p:animEffect transition="in" filter="fade">
                                      <p:cBhvr>
                                        <p:cTn id="61" dur="750"/>
                                        <p:tgtEl>
                                          <p:spTgt spid="28"/>
                                        </p:tgtEl>
                                      </p:cBhvr>
                                    </p:animEffect>
                                  </p:childTnLst>
                                </p:cTn>
                              </p:par>
                              <p:par>
                                <p:cTn id="62" presetID="10" presetClass="entr" presetSubtype="0" fill="hold" grpId="0" nodeType="withEffect">
                                  <p:stCondLst>
                                    <p:cond delay="175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750"/>
                                        <p:tgtEl>
                                          <p:spTgt spid="41"/>
                                        </p:tgtEl>
                                      </p:cBhvr>
                                    </p:animEffect>
                                  </p:childTnLst>
                                </p:cTn>
                              </p:par>
                              <p:par>
                                <p:cTn id="65" presetID="10" presetClass="entr" presetSubtype="0" fill="hold" grpId="0" nodeType="withEffect">
                                  <p:stCondLst>
                                    <p:cond delay="175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750"/>
                                        <p:tgtEl>
                                          <p:spTgt spid="43"/>
                                        </p:tgtEl>
                                      </p:cBhvr>
                                    </p:animEffect>
                                  </p:childTnLst>
                                </p:cTn>
                              </p:par>
                              <p:par>
                                <p:cTn id="68" presetID="10" presetClass="entr" presetSubtype="0" repeatCount="indefinite" fill="hold" grpId="0" nodeType="withEffect">
                                  <p:stCondLst>
                                    <p:cond delay="2100"/>
                                  </p:stCondLst>
                                  <p:childTnLst>
                                    <p:set>
                                      <p:cBhvr>
                                        <p:cTn id="69" dur="1" fill="hold">
                                          <p:stCondLst>
                                            <p:cond delay="0"/>
                                          </p:stCondLst>
                                        </p:cTn>
                                        <p:tgtEl>
                                          <p:spTgt spid="21"/>
                                        </p:tgtEl>
                                        <p:attrNameLst>
                                          <p:attrName>style.visibility</p:attrName>
                                        </p:attrNameLst>
                                      </p:cBhvr>
                                      <p:to>
                                        <p:strVal val="visible"/>
                                      </p:to>
                                    </p:set>
                                    <p:animMotion origin="layout" path="M 0 7.40741E-7 L 0 -0.03079 " pathEditMode="relative">
                                      <p:cBhvr additive="base">
                                        <p:cTn id="70" dur="750" autoRev="1" fill="hold">
                                          <p:stCondLst>
                                            <p:cond delay="0"/>
                                          </p:stCondLst>
                                        </p:cTn>
                                        <p:tgtEl>
                                          <p:spTgt spid="21"/>
                                        </p:tgtEl>
                                        <p:attrNameLst>
                                          <p:attrName>ppt_x</p:attrName>
                                          <p:attrName>ppt_y</p:attrName>
                                        </p:attrNameLst>
                                      </p:cBhvr>
                                    </p:animMotion>
                                    <p:set>
                                      <p:cBhvr additive="base">
                                        <p:cTn id="71" dur="750" fill="hold">
                                          <p:stCondLst>
                                            <p:cond delay="1500"/>
                                          </p:stCondLst>
                                        </p:cTn>
                                        <p:tgtEl>
                                          <p:spTgt spid="21"/>
                                        </p:tgtEl>
                                        <p:attrNameLst>
                                          <p:attrName>style.visibility</p:attrName>
                                        </p:attrNameLst>
                                      </p:cBhvr>
                                      <p:to>
                                        <p:strVal val="visible"/>
                                      </p:to>
                                    </p:set>
                                  </p:childTnLst>
                                </p:cTn>
                              </p:par>
                              <p:par>
                                <p:cTn id="72" presetID="10" presetClass="entr" presetSubtype="0" repeatCount="indefinite" fill="hold" grpId="0" nodeType="withEffect">
                                  <p:stCondLst>
                                    <p:cond delay="2250"/>
                                  </p:stCondLst>
                                  <p:childTnLst>
                                    <p:set>
                                      <p:cBhvr>
                                        <p:cTn id="73" dur="1" fill="hold">
                                          <p:stCondLst>
                                            <p:cond delay="0"/>
                                          </p:stCondLst>
                                        </p:cTn>
                                        <p:tgtEl>
                                          <p:spTgt spid="22"/>
                                        </p:tgtEl>
                                        <p:attrNameLst>
                                          <p:attrName>style.visibility</p:attrName>
                                        </p:attrNameLst>
                                      </p:cBhvr>
                                      <p:to>
                                        <p:strVal val="visible"/>
                                      </p:to>
                                    </p:set>
                                    <p:animMotion origin="layout" path="M 0 7.40741E-7 L 0 -0.03079 " pathEditMode="relative">
                                      <p:cBhvr additive="base">
                                        <p:cTn id="74" dur="750" autoRev="1" fill="hold">
                                          <p:stCondLst>
                                            <p:cond delay="0"/>
                                          </p:stCondLst>
                                        </p:cTn>
                                        <p:tgtEl>
                                          <p:spTgt spid="22"/>
                                        </p:tgtEl>
                                        <p:attrNameLst>
                                          <p:attrName>ppt_x</p:attrName>
                                          <p:attrName>ppt_y</p:attrName>
                                        </p:attrNameLst>
                                      </p:cBhvr>
                                    </p:animMotion>
                                    <p:set>
                                      <p:cBhvr additive="base">
                                        <p:cTn id="75" dur="750" fill="hold">
                                          <p:stCondLst>
                                            <p:cond delay="1500"/>
                                          </p:stCondLst>
                                        </p:cTn>
                                        <p:tgtEl>
                                          <p:spTgt spid="22"/>
                                        </p:tgtEl>
                                        <p:attrNameLst>
                                          <p:attrName>style.visibility</p:attrName>
                                        </p:attrNameLst>
                                      </p:cBhvr>
                                      <p:to>
                                        <p:strVal val="visible"/>
                                      </p:to>
                                    </p:set>
                                  </p:childTnLst>
                                </p:cTn>
                              </p:par>
                              <p:par>
                                <p:cTn id="76" presetID="10" presetClass="entr" presetSubtype="0" repeatCount="indefinite" fill="hold" grpId="0" nodeType="withEffect">
                                  <p:stCondLst>
                                    <p:cond delay="2400"/>
                                  </p:stCondLst>
                                  <p:childTnLst>
                                    <p:set>
                                      <p:cBhvr>
                                        <p:cTn id="77" dur="1" fill="hold">
                                          <p:stCondLst>
                                            <p:cond delay="0"/>
                                          </p:stCondLst>
                                        </p:cTn>
                                        <p:tgtEl>
                                          <p:spTgt spid="23"/>
                                        </p:tgtEl>
                                        <p:attrNameLst>
                                          <p:attrName>style.visibility</p:attrName>
                                        </p:attrNameLst>
                                      </p:cBhvr>
                                      <p:to>
                                        <p:strVal val="visible"/>
                                      </p:to>
                                    </p:set>
                                    <p:animMotion origin="layout" path="M 0 7.40741E-7 L 0 -0.03079 " pathEditMode="relative">
                                      <p:cBhvr additive="base">
                                        <p:cTn id="78" dur="750" autoRev="1" fill="hold">
                                          <p:stCondLst>
                                            <p:cond delay="0"/>
                                          </p:stCondLst>
                                        </p:cTn>
                                        <p:tgtEl>
                                          <p:spTgt spid="23"/>
                                        </p:tgtEl>
                                        <p:attrNameLst>
                                          <p:attrName>ppt_x</p:attrName>
                                          <p:attrName>ppt_y</p:attrName>
                                        </p:attrNameLst>
                                      </p:cBhvr>
                                    </p:animMotion>
                                    <p:set>
                                      <p:cBhvr additive="base">
                                        <p:cTn id="79" dur="750" fill="hold">
                                          <p:stCondLst>
                                            <p:cond delay="150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bldLvl="0" animBg="1"/>
      <p:bldP spid="5" grpId="2" bldLvl="0" animBg="1"/>
      <p:bldP spid="7" grpId="0"/>
      <p:bldP spid="7" grpId="1"/>
      <p:bldP spid="7" grpId="2"/>
      <p:bldP spid="10" grpId="0" bldLvl="0" animBg="1"/>
      <p:bldP spid="10" grpId="1" bldLvl="0" animBg="1"/>
      <p:bldP spid="10" grpId="2" bldLvl="0" animBg="1"/>
      <p:bldP spid="13" grpId="0" bldLvl="0" animBg="1"/>
      <p:bldP spid="28" grpId="0" bldLvl="0" animBg="1"/>
      <p:bldP spid="33" grpId="0" bldLvl="0" animBg="1"/>
      <p:bldP spid="40" grpId="0" bldLvl="0" animBg="1"/>
      <p:bldP spid="41" grpId="0"/>
      <p:bldP spid="43" grpId="0"/>
      <p:bldP spid="21" grpId="0" bldLvl="0" animBg="1"/>
      <p:bldP spid="22" grpId="0" bldLvl="0" animBg="1"/>
      <p:bldP spid="2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3868" y="711200"/>
            <a:ext cx="2844800" cy="54483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3" name="AutoShape 3"/>
          <p:cNvSpPr/>
          <p:nvPr/>
        </p:nvSpPr>
        <p:spPr>
          <a:xfrm>
            <a:off x="-2133600" y="7112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4" name="AutoShape 4"/>
          <p:cNvSpPr/>
          <p:nvPr/>
        </p:nvSpPr>
        <p:spPr>
          <a:xfrm>
            <a:off x="7112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5" name="AutoShape 5"/>
          <p:cNvSpPr/>
          <p:nvPr/>
        </p:nvSpPr>
        <p:spPr>
          <a:xfrm>
            <a:off x="-21336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cxnSp>
        <p:nvCxnSpPr>
          <p:cNvPr id="6" name="Connector 6"/>
          <p:cNvCxnSpPr/>
          <p:nvPr/>
        </p:nvCxnSpPr>
        <p:spPr>
          <a:xfrm>
            <a:off x="876300" y="1574800"/>
            <a:ext cx="2514632" cy="12700"/>
          </a:xfrm>
          <a:prstGeom prst="line">
            <a:avLst/>
          </a:prstGeom>
          <a:solidFill>
            <a:srgbClr val="DEE0E3">
              <a:alpha val="100000"/>
            </a:srgbClr>
          </a:solidFill>
          <a:ln w="12700" cap="rnd" cmpd="sng">
            <a:gradFill rotWithShape="1">
              <a:gsLst>
                <a:gs pos="0">
                  <a:srgbClr val="D7DCE7">
                    <a:alpha val="53000"/>
                  </a:srgbClr>
                </a:gs>
                <a:gs pos="50000">
                  <a:srgbClr val="D7DCE7">
                    <a:alpha val="100000"/>
                  </a:srgbClr>
                </a:gs>
                <a:gs pos="100000">
                  <a:srgbClr val="D7DCE7">
                    <a:alpha val="53000"/>
                  </a:srgbClr>
                </a:gs>
              </a:gsLst>
              <a:lin ang="0"/>
            </a:gradFill>
            <a:prstDash val="solid"/>
            <a:miter lim="10000000"/>
            <a:headEnd type="none" w="med" len="med"/>
            <a:tailEnd type="none" w="med" len="med"/>
          </a:ln>
        </p:spPr>
      </p:cxnSp>
      <p:sp>
        <p:nvSpPr>
          <p:cNvPr id="7" name="AutoShape 7"/>
          <p:cNvSpPr/>
          <p:nvPr/>
        </p:nvSpPr>
        <p:spPr>
          <a:xfrm>
            <a:off x="1181100" y="2095500"/>
            <a:ext cx="1905000" cy="26797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200" cap="none" spc="0" normalizeH="0" baseline="0" noProof="0" dirty="0">
                <a:ln>
                  <a:noFill/>
                </a:ln>
                <a:solidFill>
                  <a:srgbClr val="485575"/>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04</a:t>
            </a: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8" name="AutoShape 8"/>
          <p:cNvSpPr/>
          <p:nvPr/>
        </p:nvSpPr>
        <p:spPr>
          <a:xfrm>
            <a:off x="18288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9" name="AutoShape 9"/>
          <p:cNvSpPr/>
          <p:nvPr/>
        </p:nvSpPr>
        <p:spPr>
          <a:xfrm>
            <a:off x="2082800" y="5232400"/>
            <a:ext cx="101600" cy="101600"/>
          </a:xfrm>
          <a:prstGeom prst="ellipse">
            <a:avLst/>
          </a:prstGeom>
          <a:solidFill>
            <a:srgbClr val="8895B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0" name="AutoShape 10"/>
          <p:cNvSpPr/>
          <p:nvPr/>
        </p:nvSpPr>
        <p:spPr>
          <a:xfrm>
            <a:off x="23241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1" name="AutoShape 11"/>
          <p:cNvSpPr/>
          <p:nvPr/>
        </p:nvSpPr>
        <p:spPr>
          <a:xfrm>
            <a:off x="3797300" y="1219200"/>
            <a:ext cx="7696200" cy="49276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2" name="AutoShape 12"/>
          <p:cNvSpPr/>
          <p:nvPr/>
        </p:nvSpPr>
        <p:spPr>
          <a:xfrm>
            <a:off x="11493500" y="7112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3" name="AutoShape 13"/>
          <p:cNvSpPr/>
          <p:nvPr/>
        </p:nvSpPr>
        <p:spPr>
          <a:xfrm>
            <a:off x="37973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4" name="AutoShape 14"/>
          <p:cNvSpPr/>
          <p:nvPr/>
        </p:nvSpPr>
        <p:spPr>
          <a:xfrm>
            <a:off x="114935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7" name="AutoShape 17"/>
          <p:cNvSpPr/>
          <p:nvPr/>
        </p:nvSpPr>
        <p:spPr>
          <a:xfrm>
            <a:off x="4152900" y="3155950"/>
            <a:ext cx="6413500" cy="1689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8" name="AutoShape 18"/>
          <p:cNvSpPr/>
          <p:nvPr/>
        </p:nvSpPr>
        <p:spPr>
          <a:xfrm>
            <a:off x="4241800" y="4178300"/>
            <a:ext cx="57023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33000"/>
              </a:lnSpc>
              <a:spcBef>
                <a:spcPts val="0"/>
              </a:spcBef>
              <a:spcAft>
                <a:spcPts val="0"/>
              </a:spcAft>
              <a:buClrTx/>
              <a:buSzTx/>
              <a:buFontTx/>
              <a:buNone/>
              <a:defRPr/>
            </a:pPr>
            <a:r>
              <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rPr>
              <a:t>Cao Yi</a:t>
            </a:r>
            <a:r>
              <a:rPr lang="en-US" sz="2400" b="1" dirty="0" err="1">
                <a:solidFill>
                  <a:srgbClr val="485575">
                    <a:lumMod val="75000"/>
                  </a:srgbClr>
                </a:solidFill>
                <a:latin typeface="华文细黑" panose="02010600040101010101" charset="-122"/>
                <a:ea typeface="华文细黑" panose="02010600040101010101" charset="-122"/>
              </a:rPr>
              <a:t>qian</a:t>
            </a:r>
            <a:endPar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endParaRPr>
          </a:p>
        </p:txBody>
      </p:sp>
      <p:sp>
        <p:nvSpPr>
          <p:cNvPr id="19" name="AutoShape 19"/>
          <p:cNvSpPr/>
          <p:nvPr/>
        </p:nvSpPr>
        <p:spPr>
          <a:xfrm>
            <a:off x="4419632" y="673100"/>
            <a:ext cx="5511800" cy="838200"/>
          </a:xfrm>
          <a:prstGeom prst="roundRect">
            <a:avLst>
              <a:gd name="adj" fmla="val 0"/>
            </a:avLst>
          </a:prstGeom>
          <a:blipFill rotWithShape="1">
            <a:blip r:embed="rId1"/>
            <a:tile tx="0" ty="0" sx="100000" sy="100000" flip="none" algn="tl"/>
          </a:blip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0" name="AutoShape 20"/>
          <p:cNvSpPr/>
          <p:nvPr/>
        </p:nvSpPr>
        <p:spPr>
          <a:xfrm>
            <a:off x="4419632" y="1511300"/>
            <a:ext cx="5511800" cy="101600"/>
          </a:xfrm>
          <a:prstGeom prst="roundRect">
            <a:avLst>
              <a:gd name="adj" fmla="val 0"/>
            </a:avLst>
          </a:prstGeom>
          <a:solidFill>
            <a:srgbClr val="F2D4AA">
              <a:alpha val="100000"/>
            </a:srgbClr>
          </a:solid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1" name="AutoShape 21"/>
          <p:cNvSpPr/>
          <p:nvPr/>
        </p:nvSpPr>
        <p:spPr>
          <a:xfrm>
            <a:off x="4508532" y="698500"/>
            <a:ext cx="5537200" cy="7112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w="12700">
                  <a:solidFill>
                    <a:srgbClr val="FFFFFF">
                      <a:alpha val="100000"/>
                    </a:srgbClr>
                  </a:solidFill>
                </a:ln>
                <a:solidFill>
                  <a:srgbClr val="FFFFFF"/>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AI3013 Machine Learning Course Project</a:t>
            </a:r>
            <a:endParaRPr kumimoji="0" lang="en-US" sz="11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6" name="文本框 15"/>
          <p:cNvSpPr txBox="1"/>
          <p:nvPr/>
        </p:nvSpPr>
        <p:spPr>
          <a:xfrm>
            <a:off x="4314613" y="2878667"/>
            <a:ext cx="4158827" cy="584775"/>
          </a:xfrm>
          <a:prstGeom prst="rect">
            <a:avLst/>
          </a:prstGeom>
          <a:noFill/>
        </p:spPr>
        <p:txBody>
          <a:bodyPr wrap="square" rtlCol="0">
            <a:spAutoFit/>
          </a:bodyPr>
          <a:lstStyle/>
          <a:p>
            <a:r>
              <a:rPr lang="en-US" altLang="zh-CN" sz="3200" dirty="0"/>
              <a:t>Experimental results</a:t>
            </a:r>
            <a:endParaRPr lang="zh-CN" alt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椭圆 48"/>
          <p:cNvSpPr/>
          <p:nvPr/>
        </p:nvSpPr>
        <p:spPr>
          <a:xfrm>
            <a:off x="6688693" y="1028700"/>
            <a:ext cx="4807744" cy="4807744"/>
          </a:xfrm>
          <a:prstGeom prst="ellipse">
            <a:avLst/>
          </a:prstGeom>
          <a:solidFill>
            <a:schemeClr val="bg2">
              <a:alpha val="4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368299" y="1803400"/>
            <a:ext cx="11455402" cy="3334544"/>
          </a:xfrm>
          <a:prstGeom prst="rect">
            <a:avLst/>
          </a:prstGeom>
          <a:gradFill>
            <a:gsLst>
              <a:gs pos="31000">
                <a:schemeClr val="bg1"/>
              </a:gs>
              <a:gs pos="100000">
                <a:schemeClr val="bg1">
                  <a:alpha val="66000"/>
                </a:schemeClr>
              </a:gs>
            </a:gsLst>
            <a:lin ang="0" scaled="1"/>
          </a:gra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738613" y="1111225"/>
            <a:ext cx="3576687" cy="201104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Overall Model Performance</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52" name="直接连接符 51"/>
          <p:cNvCxnSpPr/>
          <p:nvPr/>
        </p:nvCxnSpPr>
        <p:spPr>
          <a:xfrm>
            <a:off x="864961" y="2483908"/>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矩形 52"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645931" y="3986161"/>
            <a:ext cx="2997064" cy="576398"/>
          </a:xfrm>
          <a:prstGeom prst="rect">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sz="2400" dirty="0">
              <a:solidFill>
                <a:schemeClr val="accent2"/>
              </a:solidFill>
            </a:endParaRPr>
          </a:p>
          <a:p>
            <a:pPr algn="ctr"/>
            <a:r>
              <a:rPr lang="en-US" altLang="zh-CN" sz="2400" dirty="0">
                <a:solidFill>
                  <a:schemeClr val="accent2"/>
                </a:solidFill>
              </a:rPr>
              <a:t>Best Overall</a:t>
            </a:r>
            <a:endParaRPr lang="en-US" altLang="zh-CN" sz="2400" dirty="0">
              <a:solidFill>
                <a:schemeClr val="accent2"/>
              </a:solidFill>
            </a:endParaRPr>
          </a:p>
          <a:p>
            <a:pPr algn="ctr"/>
            <a:endParaRPr lang="en-US" altLang="zh-CN" sz="2400" dirty="0">
              <a:solidFill>
                <a:schemeClr val="accent2"/>
              </a:solidFill>
            </a:endParaRPr>
          </a:p>
        </p:txBody>
      </p:sp>
      <p:sp>
        <p:nvSpPr>
          <p:cNvPr id="54" name="矩形 53"/>
          <p:cNvSpPr/>
          <p:nvPr/>
        </p:nvSpPr>
        <p:spPr>
          <a:xfrm>
            <a:off x="851008" y="5138089"/>
            <a:ext cx="5697968" cy="810260"/>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 Gaussian Naive Bayes achieved the highest F1-score.</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Logistic Regression achieved the highest ROC-AUC.</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Decision Tree achieved competitive but slightly less stable performance.</a:t>
            </a:r>
            <a:endParaRPr lang="en-US" altLang="zh-CN" sz="1200" dirty="0">
              <a:solidFill>
                <a:schemeClr val="tx1">
                  <a:lumMod val="50000"/>
                  <a:lumOff val="50000"/>
                </a:schemeClr>
              </a:solidFill>
            </a:endParaRPr>
          </a:p>
        </p:txBody>
      </p:sp>
      <p:pic>
        <p:nvPicPr>
          <p:cNvPr id="3" name="图片 2" descr="oof_performance_summary"/>
          <p:cNvPicPr>
            <a:picLocks noChangeAspect="1"/>
          </p:cNvPicPr>
          <p:nvPr/>
        </p:nvPicPr>
        <p:blipFill>
          <a:blip r:embed="rId2"/>
          <a:stretch>
            <a:fillRect/>
          </a:stretch>
        </p:blipFill>
        <p:spPr>
          <a:xfrm>
            <a:off x="3832225" y="1028700"/>
            <a:ext cx="8002905" cy="40062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childTnLst>
                                </p:cTn>
                              </p:par>
                              <p:par>
                                <p:cTn id="8" presetID="63" presetClass="path" presetSubtype="0" decel="31000" fill="hold" grpId="1" nodeType="withEffect">
                                  <p:stCondLst>
                                    <p:cond delay="0"/>
                                  </p:stCondLst>
                                  <p:childTnLst>
                                    <p:animMotion origin="layout" path="M -0.341667 0.080688 L 0 0 E" pathEditMode="relative" ptsTypes="">
                                      <p:cBhvr>
                                        <p:cTn id="9" dur="1000" fill="hold"/>
                                        <p:tgtEl>
                                          <p:spTgt spid="44"/>
                                        </p:tgtEl>
                                        <p:attrNameLst>
                                          <p:attrName>ppt_x</p:attrName>
                                          <p:attrName>ppt_y</p:attrName>
                                        </p:attrNameLst>
                                      </p:cBhvr>
                                    </p:animMotion>
                                  </p:childTnLst>
                                </p:cTn>
                              </p:par>
                              <p:par>
                                <p:cTn id="10" presetID="6" presetClass="emph" presetSubtype="0" decel="31000" fill="hold" grpId="2" nodeType="withEffect">
                                  <p:stCondLst>
                                    <p:cond delay="0"/>
                                  </p:stCondLst>
                                  <p:childTnLst>
                                    <p:animScale>
                                      <p:cBhvr>
                                        <p:cTn id="11" dur="1000" fill="hold"/>
                                        <p:tgtEl>
                                          <p:spTgt spid="44"/>
                                        </p:tgtEl>
                                      </p:cBhvr>
                                      <p:by x="150000" y="150000"/>
                                      <p:from x="13447" y="60422"/>
                                      <p:to x="100000" y="100000"/>
                                    </p:animScale>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750"/>
                                        <p:tgtEl>
                                          <p:spTgt spid="49"/>
                                        </p:tgtEl>
                                      </p:cBhvr>
                                    </p:animEffect>
                                  </p:childTnLst>
                                </p:cTn>
                              </p:par>
                              <p:par>
                                <p:cTn id="17" presetID="63" presetClass="path" presetSubtype="0" decel="50000" fill="hold" grpId="1" nodeType="withEffect">
                                  <p:stCondLst>
                                    <p:cond delay="0"/>
                                  </p:stCondLst>
                                  <p:childTnLst>
                                    <p:animMotion origin="layout" path="M -0.01562 3.7037E-7 L 0.11081 3.7037E-7 " pathEditMode="relative" rAng="0" ptsTypes="AA">
                                      <p:cBhvr>
                                        <p:cTn id="18" dur="750" spd="-100000" fill="hold"/>
                                        <p:tgtEl>
                                          <p:spTgt spid="49"/>
                                        </p:tgtEl>
                                        <p:attrNameLst>
                                          <p:attrName>ppt_x</p:attrName>
                                          <p:attrName>ppt_y</p:attrName>
                                        </p:attrNameLst>
                                      </p:cBhvr>
                                      <p:rCtr x="6315" y="0"/>
                                    </p:animMotion>
                                  </p:childTnLst>
                                </p:cTn>
                              </p:par>
                              <p:par>
                                <p:cTn id="19" presetID="35" presetClass="path" presetSubtype="0" accel="50000" decel="50000" fill="hold" grpId="2" nodeType="withEffect">
                                  <p:stCondLst>
                                    <p:cond delay="750"/>
                                  </p:stCondLst>
                                  <p:childTnLst>
                                    <p:animMotion origin="layout" path="M -0.01562 3.7037E-7 L -2.29167E-6 3.7037E-7 " pathEditMode="relative" rAng="0" ptsTypes="AA">
                                      <p:cBhvr>
                                        <p:cTn id="20" dur="750" fill="hold"/>
                                        <p:tgtEl>
                                          <p:spTgt spid="49"/>
                                        </p:tgtEl>
                                        <p:attrNameLst>
                                          <p:attrName>ppt_x</p:attrName>
                                          <p:attrName>ppt_y</p:attrName>
                                        </p:attrNameLst>
                                      </p:cBhvr>
                                      <p:rCtr x="781" y="0"/>
                                    </p:animMotion>
                                  </p:childTnLst>
                                </p:cTn>
                              </p:par>
                              <p:par>
                                <p:cTn id="21" presetID="10"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750"/>
                                        <p:tgtEl>
                                          <p:spTgt spid="51"/>
                                        </p:tgtEl>
                                      </p:cBhvr>
                                    </p:animEffect>
                                  </p:childTnLst>
                                </p:cTn>
                              </p:par>
                              <p:par>
                                <p:cTn id="24" presetID="64" presetClass="path" presetSubtype="0" decel="30000" fill="hold" grpId="1" nodeType="withEffect">
                                  <p:stCondLst>
                                    <p:cond delay="0"/>
                                  </p:stCondLst>
                                  <p:childTnLst>
                                    <p:animMotion origin="layout" path="M -4.58333E-6 0.03889 L -4.58333E-6 -0.14815 " pathEditMode="relative" rAng="0" ptsTypes="AA">
                                      <p:cBhvr>
                                        <p:cTn id="25" dur="750" spd="-100000" fill="hold"/>
                                        <p:tgtEl>
                                          <p:spTgt spid="51"/>
                                        </p:tgtEl>
                                        <p:attrNameLst>
                                          <p:attrName>ppt_x</p:attrName>
                                          <p:attrName>ppt_y</p:attrName>
                                        </p:attrNameLst>
                                      </p:cBhvr>
                                      <p:rCtr x="0" y="-9352"/>
                                    </p:animMotion>
                                  </p:childTnLst>
                                </p:cTn>
                              </p:par>
                              <p:par>
                                <p:cTn id="26" presetID="64" presetClass="path" presetSubtype="0" accel="30000" decel="30000" fill="hold" grpId="2" nodeType="withEffect">
                                  <p:stCondLst>
                                    <p:cond delay="750"/>
                                  </p:stCondLst>
                                  <p:childTnLst>
                                    <p:animMotion origin="layout" path="M -4.58333E-6 0.03843 L -4.58333E-6 3.7037E-7 " pathEditMode="relative" rAng="0" ptsTypes="AA">
                                      <p:cBhvr>
                                        <p:cTn id="27" dur="750" fill="hold"/>
                                        <p:tgtEl>
                                          <p:spTgt spid="51"/>
                                        </p:tgtEl>
                                        <p:attrNameLst>
                                          <p:attrName>ppt_x</p:attrName>
                                          <p:attrName>ppt_y</p:attrName>
                                        </p:attrNameLst>
                                      </p:cBhvr>
                                      <p:rCtr x="0" y="-1921"/>
                                    </p:animMotion>
                                  </p:childTnLst>
                                </p:cTn>
                              </p:par>
                              <p:par>
                                <p:cTn id="28" presetID="10" presetClass="entr" presetSubtype="0" fill="hold" nodeType="with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750"/>
                                        <p:tgtEl>
                                          <p:spTgt spid="52"/>
                                        </p:tgtEl>
                                      </p:cBhvr>
                                    </p:animEffect>
                                  </p:childTnLst>
                                </p:cTn>
                              </p:par>
                              <p:par>
                                <p:cTn id="31" presetID="64" presetClass="path" presetSubtype="0" decel="30000" fill="hold" nodeType="withEffect">
                                  <p:stCondLst>
                                    <p:cond delay="0"/>
                                  </p:stCondLst>
                                  <p:childTnLst>
                                    <p:animMotion origin="layout" path="M -4.58333E-6 0.03889 L -4.58333E-6 -0.14815 " pathEditMode="relative" rAng="0" ptsTypes="AA">
                                      <p:cBhvr>
                                        <p:cTn id="32" dur="750" spd="-100000" fill="hold"/>
                                        <p:tgtEl>
                                          <p:spTgt spid="52"/>
                                        </p:tgtEl>
                                        <p:attrNameLst>
                                          <p:attrName>ppt_x</p:attrName>
                                          <p:attrName>ppt_y</p:attrName>
                                        </p:attrNameLst>
                                      </p:cBhvr>
                                      <p:rCtr x="0" y="-9352"/>
                                    </p:animMotion>
                                  </p:childTnLst>
                                </p:cTn>
                              </p:par>
                              <p:par>
                                <p:cTn id="33" presetID="64" presetClass="path" presetSubtype="0" accel="30000" decel="30000" fill="hold" nodeType="withEffect">
                                  <p:stCondLst>
                                    <p:cond delay="750"/>
                                  </p:stCondLst>
                                  <p:childTnLst>
                                    <p:animMotion origin="layout" path="M -4.58333E-6 0.03843 L -4.58333E-6 3.7037E-7 " pathEditMode="relative" rAng="0" ptsTypes="AA">
                                      <p:cBhvr>
                                        <p:cTn id="34" dur="750" fill="hold"/>
                                        <p:tgtEl>
                                          <p:spTgt spid="52"/>
                                        </p:tgtEl>
                                        <p:attrNameLst>
                                          <p:attrName>ppt_x</p:attrName>
                                          <p:attrName>ppt_y</p:attrName>
                                        </p:attrNameLst>
                                      </p:cBhvr>
                                      <p:rCtr x="0" y="-1921"/>
                                    </p:animMotion>
                                  </p:childTnLst>
                                </p:cTn>
                              </p:par>
                              <p:par>
                                <p:cTn id="35" presetID="10" presetClass="entr" presetSubtype="0" fill="hold" grpId="0" nodeType="withEffect">
                                  <p:stCondLst>
                                    <p:cond delay="125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750"/>
                                        <p:tgtEl>
                                          <p:spTgt spid="53"/>
                                        </p:tgtEl>
                                      </p:cBhvr>
                                    </p:animEffect>
                                  </p:childTnLst>
                                </p:cTn>
                              </p:par>
                              <p:par>
                                <p:cTn id="38" presetID="63" presetClass="path" presetSubtype="0" decel="50000" fill="hold" grpId="1" nodeType="withEffect">
                                  <p:stCondLst>
                                    <p:cond delay="1250"/>
                                  </p:stCondLst>
                                  <p:childTnLst>
                                    <p:animMotion origin="layout" path="M 2.29167E-6 3.7037E-6 L 0.04453 3.7037E-6 " pathEditMode="relative" rAng="0" ptsTypes="AA">
                                      <p:cBhvr>
                                        <p:cTn id="39" dur="750" spd="-100000" fill="hold"/>
                                        <p:tgtEl>
                                          <p:spTgt spid="53"/>
                                        </p:tgtEl>
                                        <p:attrNameLst>
                                          <p:attrName>ppt_x</p:attrName>
                                          <p:attrName>ppt_y</p:attrName>
                                        </p:attrNameLst>
                                      </p:cBhvr>
                                      <p:rCtr x="2227" y="0"/>
                                    </p:animMotion>
                                  </p:childTnLst>
                                </p:cTn>
                              </p:par>
                              <p:par>
                                <p:cTn id="40" presetID="10" presetClass="entr" presetSubtype="0" fill="hold" grpId="0" nodeType="withEffect">
                                  <p:stCondLst>
                                    <p:cond delay="175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7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49" grpId="1" bldLvl="0" animBg="1"/>
      <p:bldP spid="49" grpId="2" bldLvl="0" animBg="1"/>
      <p:bldP spid="44" grpId="0" bldLvl="0" animBg="1"/>
      <p:bldP spid="44" grpId="1" bldLvl="0" animBg="1"/>
      <p:bldP spid="44" grpId="2" bldLvl="0" animBg="1"/>
      <p:bldP spid="51" grpId="0"/>
      <p:bldP spid="51" grpId="1"/>
      <p:bldP spid="51" grpId="2"/>
      <p:bldP spid="53" grpId="0" bldLvl="0" animBg="1"/>
      <p:bldP spid="53" grpId="1" bldLvl="0" animBg="1"/>
      <p:bldP spid="5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721279" y="706666"/>
            <a:ext cx="2084160" cy="2084160"/>
          </a:xfrm>
          <a:prstGeom prst="rect">
            <a:avLst/>
          </a:prstGeom>
          <a:solidFill>
            <a:schemeClr val="bg2">
              <a:alpha val="4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24205" y="614680"/>
            <a:ext cx="5190490" cy="201104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ROC      and </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Precision-Recall Analysis</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a:p>
            <a:pPr>
              <a:lnSpc>
                <a:spcPct val="130000"/>
              </a:lnSpc>
            </a:pP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15" name="直接连接符 14"/>
          <p:cNvCxnSpPr/>
          <p:nvPr/>
        </p:nvCxnSpPr>
        <p:spPr>
          <a:xfrm>
            <a:off x="721278" y="1971434"/>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图片 2" descr="roc_pr_curves"/>
          <p:cNvPicPr>
            <a:picLocks noChangeAspect="1"/>
          </p:cNvPicPr>
          <p:nvPr/>
        </p:nvPicPr>
        <p:blipFill>
          <a:blip r:embed="rId1"/>
          <a:stretch>
            <a:fillRect/>
          </a:stretch>
        </p:blipFill>
        <p:spPr>
          <a:xfrm>
            <a:off x="721360" y="1971675"/>
            <a:ext cx="10838815" cy="44316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childTnLst>
                                </p:cTn>
                              </p:par>
                              <p:par>
                                <p:cTn id="8" presetID="63" presetClass="path" presetSubtype="0" decel="50000" fill="hold" grpId="1" nodeType="withEffect">
                                  <p:stCondLst>
                                    <p:cond delay="0"/>
                                  </p:stCondLst>
                                  <p:childTnLst>
                                    <p:animMotion origin="layout" path="M -0.01563 -3.7037E-6 L 0.1108 -3.7037E-6 " pathEditMode="relative" rAng="0" ptsTypes="AA">
                                      <p:cBhvr>
                                        <p:cTn id="9" dur="750" spd="-100000" fill="hold"/>
                                        <p:tgtEl>
                                          <p:spTgt spid="14"/>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3 -3.7037E-6 L 3.33333E-6 -3.7037E-6 " pathEditMode="relative" rAng="0" ptsTypes="AA">
                                      <p:cBhvr>
                                        <p:cTn id="11" dur="750" fill="hold"/>
                                        <p:tgtEl>
                                          <p:spTgt spid="14"/>
                                        </p:tgtEl>
                                        <p:attrNameLst>
                                          <p:attrName>ppt_x</p:attrName>
                                          <p:attrName>ppt_y</p:attrName>
                                        </p:attrNameLst>
                                      </p:cBhvr>
                                      <p:rCtr x="781" y="0"/>
                                    </p:animMotion>
                                  </p:childTnLst>
                                </p:cTn>
                              </p:par>
                              <p:par>
                                <p:cTn id="12" presetID="22" presetClass="entr" presetSubtype="8"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1250"/>
                                        <p:tgtEl>
                                          <p:spTgt spid="15"/>
                                        </p:tgtEl>
                                      </p:cBhvr>
                                    </p:animEffect>
                                  </p:childTnLst>
                                </p:cTn>
                              </p:par>
                              <p:par>
                                <p:cTn id="15" presetID="63" presetClass="path" presetSubtype="0" decel="50000" fill="hold" nodeType="withEffect">
                                  <p:stCondLst>
                                    <p:cond delay="0"/>
                                  </p:stCondLst>
                                  <p:childTnLst>
                                    <p:animMotion origin="layout" path="M -0.01563 -3.7037E-6 L 0.1108 -3.7037E-6 " pathEditMode="relative" rAng="0" ptsTypes="AA">
                                      <p:cBhvr>
                                        <p:cTn id="16" dur="750" spd="-100000" fill="hold"/>
                                        <p:tgtEl>
                                          <p:spTgt spid="15"/>
                                        </p:tgtEl>
                                        <p:attrNameLst>
                                          <p:attrName>ppt_x</p:attrName>
                                          <p:attrName>ppt_y</p:attrName>
                                        </p:attrNameLst>
                                      </p:cBhvr>
                                      <p:rCtr x="6315" y="0"/>
                                    </p:animMotion>
                                  </p:childTnLst>
                                </p:cTn>
                              </p:par>
                              <p:par>
                                <p:cTn id="17" presetID="35" presetClass="path" presetSubtype="0" accel="50000" decel="50000" fill="hold" nodeType="withEffect">
                                  <p:stCondLst>
                                    <p:cond delay="750"/>
                                  </p:stCondLst>
                                  <p:childTnLst>
                                    <p:animMotion origin="layout" path="M -0.01563 -3.7037E-6 L 3.33333E-6 -3.7037E-6 " pathEditMode="relative" rAng="0" ptsTypes="AA">
                                      <p:cBhvr>
                                        <p:cTn id="18" dur="750" fill="hold"/>
                                        <p:tgtEl>
                                          <p:spTgt spid="1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childTnLst>
                                </p:cTn>
                              </p:par>
                              <p:par>
                                <p:cTn id="22" presetID="63" presetClass="path" presetSubtype="0" decel="50000" fill="hold" grpId="1" nodeType="withEffect">
                                  <p:stCondLst>
                                    <p:cond delay="0"/>
                                  </p:stCondLst>
                                  <p:childTnLst>
                                    <p:animMotion origin="layout" path="M -0.05791 -0.10295 L 0 0 E" pathEditMode="relative" ptsTypes="">
                                      <p:cBhvr>
                                        <p:cTn id="23" dur="1000" fill="hold"/>
                                        <p:tgtEl>
                                          <p:spTgt spid="16"/>
                                        </p:tgtEl>
                                        <p:attrNameLst>
                                          <p:attrName>ppt_x</p:attrName>
                                          <p:attrName>ppt_y</p:attrName>
                                        </p:attrNameLst>
                                      </p:cBhvr>
                                    </p:animMotion>
                                  </p:childTnLst>
                                </p:cTn>
                              </p:par>
                              <p:par>
                                <p:cTn id="24" presetID="6" presetClass="emph" presetSubtype="0" decel="50000" fill="hold" grpId="2" nodeType="withEffect">
                                  <p:stCondLst>
                                    <p:cond delay="0"/>
                                  </p:stCondLst>
                                  <p:childTnLst>
                                    <p:animScale>
                                      <p:cBhvr>
                                        <p:cTn id="25" dur="1000" fill="hold"/>
                                        <p:tgtEl>
                                          <p:spTgt spid="16"/>
                                        </p:tgtEl>
                                      </p:cBhvr>
                                      <p:by x="150000" y="150000"/>
                                      <p:from x="32248" y="32248"/>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bldLvl="0" animBg="1"/>
      <p:bldP spid="16" grpId="2" bldLvl="0" animBg="1"/>
      <p:bldP spid="14" grpId="0"/>
      <p:bldP spid="14" grpId="1"/>
      <p:bldP spid="14" grpId="2"/>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椭圆 25"/>
          <p:cNvSpPr/>
          <p:nvPr/>
        </p:nvSpPr>
        <p:spPr>
          <a:xfrm>
            <a:off x="3825422" y="1158422"/>
            <a:ext cx="4541157" cy="4541157"/>
          </a:xfrm>
          <a:prstGeom prst="ellipse">
            <a:avLst/>
          </a:prstGeom>
          <a:solidFill>
            <a:schemeClr val="bg2">
              <a:alpha val="4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413375" y="2819400"/>
            <a:ext cx="8455025" cy="2451100"/>
            <a:chOff x="5413375" y="2819400"/>
            <a:chExt cx="8455025" cy="2451100"/>
          </a:xfrm>
        </p:grpSpPr>
        <p:sp>
          <p:nvSpPr>
            <p:cNvPr id="6" name="平行四边形 5"/>
            <p:cNvSpPr/>
            <p:nvPr/>
          </p:nvSpPr>
          <p:spPr>
            <a:xfrm>
              <a:off x="5867400" y="2819400"/>
              <a:ext cx="8001000" cy="2451100"/>
            </a:xfrm>
            <a:prstGeom prst="parallelogram">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5413375" y="2819400"/>
              <a:ext cx="1645104" cy="2451100"/>
            </a:xfrm>
            <a:custGeom>
              <a:avLst/>
              <a:gdLst>
                <a:gd name="connsiteX0" fmla="*/ 612775 w 1645104"/>
                <a:gd name="connsiteY0" fmla="*/ 0 h 2451100"/>
                <a:gd name="connsiteX1" fmla="*/ 1645104 w 1645104"/>
                <a:gd name="connsiteY1" fmla="*/ 0 h 2451100"/>
                <a:gd name="connsiteX2" fmla="*/ 1032329 w 1645104"/>
                <a:gd name="connsiteY2" fmla="*/ 2451100 h 2451100"/>
                <a:gd name="connsiteX3" fmla="*/ 0 w 1645104"/>
                <a:gd name="connsiteY3" fmla="*/ 2451100 h 2451100"/>
              </a:gdLst>
              <a:ahLst/>
              <a:cxnLst>
                <a:cxn ang="0">
                  <a:pos x="connsiteX0" y="connsiteY0"/>
                </a:cxn>
                <a:cxn ang="0">
                  <a:pos x="connsiteX1" y="connsiteY1"/>
                </a:cxn>
                <a:cxn ang="0">
                  <a:pos x="connsiteX2" y="connsiteY2"/>
                </a:cxn>
                <a:cxn ang="0">
                  <a:pos x="connsiteX3" y="connsiteY3"/>
                </a:cxn>
              </a:cxnLst>
              <a:rect l="l" t="t" r="r" b="b"/>
              <a:pathLst>
                <a:path w="1645104" h="2451100">
                  <a:moveTo>
                    <a:pt x="612775" y="0"/>
                  </a:moveTo>
                  <a:lnTo>
                    <a:pt x="1645104" y="0"/>
                  </a:lnTo>
                  <a:lnTo>
                    <a:pt x="1032329" y="2451100"/>
                  </a:lnTo>
                  <a:lnTo>
                    <a:pt x="0" y="2451100"/>
                  </a:lnTo>
                  <a:close/>
                </a:path>
              </a:pathLst>
            </a:custGeom>
            <a:blipFill dpi="0" rotWithShape="1">
              <a:blip r:embed="rId1"/>
              <a:srcRect/>
              <a:tile tx="0" ty="0" sx="100000" sy="100000" flip="none" algn="tl"/>
            </a:blip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 name="组合 1"/>
          <p:cNvGrpSpPr/>
          <p:nvPr/>
        </p:nvGrpSpPr>
        <p:grpSpPr>
          <a:xfrm>
            <a:off x="-1068070" y="1587500"/>
            <a:ext cx="8001000" cy="2451100"/>
            <a:chOff x="-1676400" y="1587500"/>
            <a:chExt cx="8001000" cy="2451100"/>
          </a:xfrm>
        </p:grpSpPr>
        <p:sp>
          <p:nvSpPr>
            <p:cNvPr id="7" name="平行四边形 6"/>
            <p:cNvSpPr/>
            <p:nvPr/>
          </p:nvSpPr>
          <p:spPr>
            <a:xfrm>
              <a:off x="-1676400" y="1587500"/>
              <a:ext cx="8001000" cy="2451100"/>
            </a:xfrm>
            <a:prstGeom prst="parallelogram">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sp>
          <p:nvSpPr>
            <p:cNvPr id="13" name="任意多边形 12"/>
            <p:cNvSpPr/>
            <p:nvPr/>
          </p:nvSpPr>
          <p:spPr>
            <a:xfrm>
              <a:off x="4679496" y="1587500"/>
              <a:ext cx="1645104" cy="2451100"/>
            </a:xfrm>
            <a:custGeom>
              <a:avLst/>
              <a:gdLst>
                <a:gd name="connsiteX0" fmla="*/ 612775 w 1645104"/>
                <a:gd name="connsiteY0" fmla="*/ 0 h 2451100"/>
                <a:gd name="connsiteX1" fmla="*/ 1645104 w 1645104"/>
                <a:gd name="connsiteY1" fmla="*/ 0 h 2451100"/>
                <a:gd name="connsiteX2" fmla="*/ 1032329 w 1645104"/>
                <a:gd name="connsiteY2" fmla="*/ 2451100 h 2451100"/>
                <a:gd name="connsiteX3" fmla="*/ 0 w 1645104"/>
                <a:gd name="connsiteY3" fmla="*/ 2451100 h 2451100"/>
              </a:gdLst>
              <a:ahLst/>
              <a:cxnLst>
                <a:cxn ang="0">
                  <a:pos x="connsiteX0" y="connsiteY0"/>
                </a:cxn>
                <a:cxn ang="0">
                  <a:pos x="connsiteX1" y="connsiteY1"/>
                </a:cxn>
                <a:cxn ang="0">
                  <a:pos x="connsiteX2" y="connsiteY2"/>
                </a:cxn>
                <a:cxn ang="0">
                  <a:pos x="connsiteX3" y="connsiteY3"/>
                </a:cxn>
              </a:cxnLst>
              <a:rect l="l" t="t" r="r" b="b"/>
              <a:pathLst>
                <a:path w="1645104" h="2451100">
                  <a:moveTo>
                    <a:pt x="612775" y="0"/>
                  </a:moveTo>
                  <a:lnTo>
                    <a:pt x="1645104" y="0"/>
                  </a:lnTo>
                  <a:lnTo>
                    <a:pt x="1032329" y="2451100"/>
                  </a:lnTo>
                  <a:lnTo>
                    <a:pt x="0" y="2451100"/>
                  </a:lnTo>
                  <a:close/>
                </a:path>
              </a:pathLst>
            </a:custGeom>
            <a:blipFill dpi="0" rotWithShape="1">
              <a:blip r:embed="rId1"/>
              <a:srcRect/>
              <a:tile tx="0" ty="0" sx="100000" sy="100000" flip="none" algn="tl"/>
            </a:blip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8" name="矩形 17"/>
          <p:cNvSpPr/>
          <p:nvPr/>
        </p:nvSpPr>
        <p:spPr>
          <a:xfrm>
            <a:off x="1117488" y="4515353"/>
            <a:ext cx="4031727" cy="1290320"/>
          </a:xfrm>
          <a:prstGeom prst="rect">
            <a:avLst/>
          </a:prstGeom>
        </p:spPr>
        <p:txBody>
          <a:bodyPr wrap="square">
            <a:spAutoFit/>
          </a:bodyPr>
          <a:lstStyle/>
          <a:p>
            <a:pPr algn="l">
              <a:lnSpc>
                <a:spcPct val="130000"/>
              </a:lnSpc>
            </a:pPr>
            <a:r>
              <a:rPr lang="en-US" altLang="zh-CN" sz="1200" b="1" dirty="0">
                <a:solidFill>
                  <a:schemeClr val="tx1">
                    <a:lumMod val="50000"/>
                    <a:lumOff val="50000"/>
                  </a:schemeClr>
                </a:solidFill>
              </a:rPr>
              <a:t>• Gaussian Naive Bayes is the fastest model.</a:t>
            </a:r>
            <a:endParaRPr lang="en-US" altLang="zh-CN" sz="1200" b="1" dirty="0">
              <a:solidFill>
                <a:schemeClr val="tx1">
                  <a:lumMod val="50000"/>
                  <a:lumOff val="50000"/>
                </a:schemeClr>
              </a:solidFill>
            </a:endParaRPr>
          </a:p>
          <a:p>
            <a:pPr algn="l">
              <a:lnSpc>
                <a:spcPct val="130000"/>
              </a:lnSpc>
            </a:pPr>
            <a:r>
              <a:rPr lang="en-US" altLang="zh-CN" sz="1200" b="1" dirty="0">
                <a:solidFill>
                  <a:schemeClr val="tx1">
                    <a:lumMod val="50000"/>
                    <a:lumOff val="50000"/>
                  </a:schemeClr>
                </a:solidFill>
              </a:rPr>
              <a:t>• Logistic Regression has the smallest generalization gap.</a:t>
            </a:r>
            <a:endParaRPr lang="en-US" altLang="zh-CN" sz="1200" b="1" dirty="0">
              <a:solidFill>
                <a:schemeClr val="tx1">
                  <a:lumMod val="50000"/>
                  <a:lumOff val="50000"/>
                </a:schemeClr>
              </a:solidFill>
            </a:endParaRPr>
          </a:p>
          <a:p>
            <a:pPr algn="l">
              <a:lnSpc>
                <a:spcPct val="130000"/>
              </a:lnSpc>
            </a:pPr>
            <a:r>
              <a:rPr lang="en-US" altLang="zh-CN" sz="1200" b="1" dirty="0">
                <a:solidFill>
                  <a:schemeClr val="tx1">
                    <a:lumMod val="50000"/>
                    <a:lumOff val="50000"/>
                  </a:schemeClr>
                </a:solidFill>
              </a:rPr>
              <a:t>• Decision Tree captures nonlinearity but shows higher overfitting risk.</a:t>
            </a:r>
            <a:endParaRPr lang="en-US" altLang="zh-CN" sz="1200" b="1" dirty="0">
              <a:solidFill>
                <a:schemeClr val="tx1">
                  <a:lumMod val="50000"/>
                  <a:lumOff val="50000"/>
                </a:schemeClr>
              </a:solidFill>
            </a:endParaRPr>
          </a:p>
        </p:txBody>
      </p:sp>
      <p:sp>
        <p:nvSpPr>
          <p:cNvPr id="20" name="矩形 19"/>
          <p:cNvSpPr/>
          <p:nvPr/>
        </p:nvSpPr>
        <p:spPr>
          <a:xfrm>
            <a:off x="12192000" y="1262743"/>
            <a:ext cx="2177143" cy="526868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2177143" y="1262743"/>
            <a:ext cx="2177143" cy="526868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6932641" y="1284007"/>
            <a:ext cx="4577442" cy="137096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Efficiency and Generalization</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28" name="直接连接符 27"/>
          <p:cNvCxnSpPr/>
          <p:nvPr/>
        </p:nvCxnSpPr>
        <p:spPr>
          <a:xfrm>
            <a:off x="7058831" y="2640704"/>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图片 4" descr="complexity_comparison"/>
          <p:cNvPicPr>
            <a:picLocks noChangeAspect="1"/>
          </p:cNvPicPr>
          <p:nvPr/>
        </p:nvPicPr>
        <p:blipFill>
          <a:blip r:embed="rId2"/>
          <a:stretch>
            <a:fillRect/>
          </a:stretch>
        </p:blipFill>
        <p:spPr>
          <a:xfrm>
            <a:off x="74295" y="1158240"/>
            <a:ext cx="5718175" cy="2096770"/>
          </a:xfrm>
          <a:prstGeom prst="rect">
            <a:avLst/>
          </a:prstGeom>
        </p:spPr>
      </p:pic>
      <p:pic>
        <p:nvPicPr>
          <p:cNvPr id="9" name="图片 8" descr="generalization_gap_analysis"/>
          <p:cNvPicPr>
            <a:picLocks noChangeAspect="1"/>
          </p:cNvPicPr>
          <p:nvPr/>
        </p:nvPicPr>
        <p:blipFill>
          <a:blip r:embed="rId3"/>
          <a:stretch>
            <a:fillRect/>
          </a:stretch>
        </p:blipFill>
        <p:spPr>
          <a:xfrm>
            <a:off x="6638290" y="3255010"/>
            <a:ext cx="5166360" cy="3164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63" presetClass="path" presetSubtype="0" decel="50000" fill="hold" nodeType="withEffect">
                                  <p:stCondLst>
                                    <p:cond delay="0"/>
                                  </p:stCondLst>
                                  <p:childTnLst>
                                    <p:animMotion origin="layout" path="M 0.00886 -0.06274 L -0.02461 0.17361 " pathEditMode="relative" rAng="0" ptsTypes="AA">
                                      <p:cBhvr>
                                        <p:cTn id="9" dur="750" spd="-100000" fill="hold"/>
                                        <p:tgtEl>
                                          <p:spTgt spid="2"/>
                                        </p:tgtEl>
                                        <p:attrNameLst>
                                          <p:attrName>ppt_x</p:attrName>
                                          <p:attrName>ppt_y</p:attrName>
                                        </p:attrNameLst>
                                      </p:cBhvr>
                                      <p:rCtr x="-1680" y="11806"/>
                                    </p:animMotion>
                                  </p:childTnLst>
                                </p:cTn>
                              </p:par>
                              <p:par>
                                <p:cTn id="10" presetID="35" presetClass="path" presetSubtype="0" accel="50000" decel="50000" fill="hold" nodeType="withEffect">
                                  <p:stCondLst>
                                    <p:cond delay="750"/>
                                  </p:stCondLst>
                                  <p:childTnLst>
                                    <p:animMotion origin="layout" path="M 0.0086 -0.06181 L 5E-6 4.81481E-6 " pathEditMode="relative" rAng="0" ptsTypes="AA">
                                      <p:cBhvr>
                                        <p:cTn id="11" dur="750" fill="hold"/>
                                        <p:tgtEl>
                                          <p:spTgt spid="2"/>
                                        </p:tgtEl>
                                        <p:attrNameLst>
                                          <p:attrName>ppt_x</p:attrName>
                                          <p:attrName>ppt_y</p:attrName>
                                        </p:attrNameLst>
                                      </p:cBhvr>
                                      <p:rCtr x="-430" y="3079"/>
                                    </p:animMotion>
                                  </p:childTnLst>
                                </p:cTn>
                              </p:par>
                              <p:par>
                                <p:cTn id="12" presetID="10" presetClass="entr" presetSubtype="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750"/>
                                        <p:tgtEl>
                                          <p:spTgt spid="3"/>
                                        </p:tgtEl>
                                      </p:cBhvr>
                                    </p:animEffect>
                                  </p:childTnLst>
                                </p:cTn>
                              </p:par>
                              <p:par>
                                <p:cTn id="15" presetID="63" presetClass="path" presetSubtype="0" decel="50000" fill="hold" nodeType="withEffect">
                                  <p:stCondLst>
                                    <p:cond delay="0"/>
                                  </p:stCondLst>
                                  <p:childTnLst>
                                    <p:animMotion origin="layout" path="M -0.00742 0.05209 L 0.02318 -0.16388 " pathEditMode="relative" rAng="0" ptsTypes="AA">
                                      <p:cBhvr>
                                        <p:cTn id="16" dur="750" spd="-100000" fill="hold"/>
                                        <p:tgtEl>
                                          <p:spTgt spid="3"/>
                                        </p:tgtEl>
                                        <p:attrNameLst>
                                          <p:attrName>ppt_x</p:attrName>
                                          <p:attrName>ppt_y</p:attrName>
                                        </p:attrNameLst>
                                      </p:cBhvr>
                                      <p:rCtr x="1523" y="-10810"/>
                                    </p:animMotion>
                                  </p:childTnLst>
                                </p:cTn>
                              </p:par>
                              <p:par>
                                <p:cTn id="17" presetID="35" presetClass="path" presetSubtype="0" accel="50000" decel="50000" fill="hold" nodeType="withEffect">
                                  <p:stCondLst>
                                    <p:cond delay="750"/>
                                  </p:stCondLst>
                                  <p:childTnLst>
                                    <p:animMotion origin="layout" path="M -0.00703 0.05139 L 5E-6 -4.81481E-6 " pathEditMode="relative" rAng="0" ptsTypes="AA">
                                      <p:cBhvr>
                                        <p:cTn id="18" dur="750" fill="hold"/>
                                        <p:tgtEl>
                                          <p:spTgt spid="3"/>
                                        </p:tgtEl>
                                        <p:attrNameLst>
                                          <p:attrName>ppt_x</p:attrName>
                                          <p:attrName>ppt_y</p:attrName>
                                        </p:attrNameLst>
                                      </p:cBhvr>
                                      <p:rCtr x="352" y="-2569"/>
                                    </p:animMotion>
                                  </p:childTnLst>
                                </p:cTn>
                              </p:par>
                              <p:par>
                                <p:cTn id="19" presetID="53" presetClass="entr" presetSubtype="16" fill="hold" grpId="0" nodeType="withEffect">
                                  <p:stCondLst>
                                    <p:cond delay="500"/>
                                  </p:stCondLst>
                                  <p:childTnLst>
                                    <p:set>
                                      <p:cBhvr>
                                        <p:cTn id="20" dur="1" fill="hold">
                                          <p:stCondLst>
                                            <p:cond delay="0"/>
                                          </p:stCondLst>
                                        </p:cTn>
                                        <p:tgtEl>
                                          <p:spTgt spid="26"/>
                                        </p:tgtEl>
                                        <p:attrNameLst>
                                          <p:attrName>style.visibility</p:attrName>
                                        </p:attrNameLst>
                                      </p:cBhvr>
                                      <p:to>
                                        <p:strVal val="visible"/>
                                      </p:to>
                                    </p:set>
                                    <p:anim calcmode="lin" valueType="num">
                                      <p:cBhvr>
                                        <p:cTn id="21" dur="750" fill="hold"/>
                                        <p:tgtEl>
                                          <p:spTgt spid="26"/>
                                        </p:tgtEl>
                                        <p:attrNameLst>
                                          <p:attrName>ppt_w</p:attrName>
                                        </p:attrNameLst>
                                      </p:cBhvr>
                                      <p:tavLst>
                                        <p:tav tm="0">
                                          <p:val>
                                            <p:fltVal val="0"/>
                                          </p:val>
                                        </p:tav>
                                        <p:tav tm="100000">
                                          <p:val>
                                            <p:strVal val="#ppt_w"/>
                                          </p:val>
                                        </p:tav>
                                      </p:tavLst>
                                    </p:anim>
                                    <p:anim calcmode="lin" valueType="num">
                                      <p:cBhvr>
                                        <p:cTn id="22" dur="750" fill="hold"/>
                                        <p:tgtEl>
                                          <p:spTgt spid="26"/>
                                        </p:tgtEl>
                                        <p:attrNameLst>
                                          <p:attrName>ppt_h</p:attrName>
                                        </p:attrNameLst>
                                      </p:cBhvr>
                                      <p:tavLst>
                                        <p:tav tm="0">
                                          <p:val>
                                            <p:fltVal val="0"/>
                                          </p:val>
                                        </p:tav>
                                        <p:tav tm="100000">
                                          <p:val>
                                            <p:strVal val="#ppt_h"/>
                                          </p:val>
                                        </p:tav>
                                      </p:tavLst>
                                    </p:anim>
                                    <p:animEffect transition="in" filter="fade">
                                      <p:cBhvr>
                                        <p:cTn id="23" dur="7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750"/>
                                        <p:tgtEl>
                                          <p:spTgt spid="27"/>
                                        </p:tgtEl>
                                      </p:cBhvr>
                                    </p:animEffect>
                                  </p:childTnLst>
                                </p:cTn>
                              </p:par>
                              <p:par>
                                <p:cTn id="27" presetID="63" presetClass="path" presetSubtype="0" decel="50000" fill="hold" grpId="1" nodeType="withEffect">
                                  <p:stCondLst>
                                    <p:cond delay="0"/>
                                  </p:stCondLst>
                                  <p:childTnLst>
                                    <p:animMotion origin="layout" path="M -0.01563 -3.7037E-6 L 0.1108 -3.7037E-6 " pathEditMode="relative" rAng="0" ptsTypes="AA">
                                      <p:cBhvr>
                                        <p:cTn id="28" dur="750" spd="-100000" fill="hold"/>
                                        <p:tgtEl>
                                          <p:spTgt spid="27"/>
                                        </p:tgtEl>
                                        <p:attrNameLst>
                                          <p:attrName>ppt_x</p:attrName>
                                          <p:attrName>ppt_y</p:attrName>
                                        </p:attrNameLst>
                                      </p:cBhvr>
                                      <p:rCtr x="6315" y="0"/>
                                    </p:animMotion>
                                  </p:childTnLst>
                                </p:cTn>
                              </p:par>
                              <p:par>
                                <p:cTn id="29" presetID="35" presetClass="path" presetSubtype="0" accel="50000" decel="50000" fill="hold" grpId="2" nodeType="withEffect">
                                  <p:stCondLst>
                                    <p:cond delay="750"/>
                                  </p:stCondLst>
                                  <p:childTnLst>
                                    <p:animMotion origin="layout" path="M -0.01563 -3.7037E-6 L 3.33333E-6 -3.7037E-6 " pathEditMode="relative" rAng="0" ptsTypes="AA">
                                      <p:cBhvr>
                                        <p:cTn id="30" dur="750" fill="hold"/>
                                        <p:tgtEl>
                                          <p:spTgt spid="27"/>
                                        </p:tgtEl>
                                        <p:attrNameLst>
                                          <p:attrName>ppt_x</p:attrName>
                                          <p:attrName>ppt_y</p:attrName>
                                        </p:attrNameLst>
                                      </p:cBhvr>
                                      <p:rCtr x="781" y="0"/>
                                    </p:animMotion>
                                  </p:childTnLst>
                                </p:cTn>
                              </p:par>
                              <p:par>
                                <p:cTn id="31" presetID="22" presetClass="entr" presetSubtype="2"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wipe(right)">
                                      <p:cBhvr>
                                        <p:cTn id="33" dur="1500"/>
                                        <p:tgtEl>
                                          <p:spTgt spid="28"/>
                                        </p:tgtEl>
                                      </p:cBhvr>
                                    </p:animEffect>
                                  </p:childTnLst>
                                </p:cTn>
                              </p:par>
                              <p:par>
                                <p:cTn id="34" presetID="63" presetClass="path" presetSubtype="0" decel="50000" fill="hold" nodeType="withEffect">
                                  <p:stCondLst>
                                    <p:cond delay="0"/>
                                  </p:stCondLst>
                                  <p:childTnLst>
                                    <p:animMotion origin="layout" path="M -0.01563 -3.7037E-6 L 0.1108 -3.7037E-6 " pathEditMode="relative" rAng="0" ptsTypes="AA">
                                      <p:cBhvr>
                                        <p:cTn id="35" dur="750" spd="-100000" fill="hold"/>
                                        <p:tgtEl>
                                          <p:spTgt spid="28"/>
                                        </p:tgtEl>
                                        <p:attrNameLst>
                                          <p:attrName>ppt_x</p:attrName>
                                          <p:attrName>ppt_y</p:attrName>
                                        </p:attrNameLst>
                                      </p:cBhvr>
                                      <p:rCtr x="6315" y="0"/>
                                    </p:animMotion>
                                  </p:childTnLst>
                                </p:cTn>
                              </p:par>
                              <p:par>
                                <p:cTn id="36" presetID="35" presetClass="path" presetSubtype="0" accel="50000" decel="50000" fill="hold" nodeType="withEffect">
                                  <p:stCondLst>
                                    <p:cond delay="750"/>
                                  </p:stCondLst>
                                  <p:childTnLst>
                                    <p:animMotion origin="layout" path="M -0.01563 -3.7037E-6 L 3.33333E-6 -3.7037E-6 " pathEditMode="relative" rAng="0" ptsTypes="AA">
                                      <p:cBhvr>
                                        <p:cTn id="37" dur="750" fill="hold"/>
                                        <p:tgtEl>
                                          <p:spTgt spid="28"/>
                                        </p:tgtEl>
                                        <p:attrNameLst>
                                          <p:attrName>ppt_x</p:attrName>
                                          <p:attrName>ppt_y</p:attrName>
                                        </p:attrNameLst>
                                      </p:cBhvr>
                                      <p:rCtr x="781" y="0"/>
                                    </p:animMotion>
                                  </p:childTnLst>
                                </p:cTn>
                              </p:par>
                              <p:par>
                                <p:cTn id="38" presetID="10" presetClass="entr" presetSubtype="0" fill="hold" grpId="0" nodeType="withEffect">
                                  <p:stCondLst>
                                    <p:cond delay="125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8" grpId="0"/>
      <p:bldP spid="27" grpId="0"/>
      <p:bldP spid="27" grpId="1"/>
      <p:bldP spid="27" grpId="2"/>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3868" y="711200"/>
            <a:ext cx="2844800" cy="54483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3" name="AutoShape 3"/>
          <p:cNvSpPr/>
          <p:nvPr/>
        </p:nvSpPr>
        <p:spPr>
          <a:xfrm>
            <a:off x="-2133600" y="7112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4" name="AutoShape 4"/>
          <p:cNvSpPr/>
          <p:nvPr/>
        </p:nvSpPr>
        <p:spPr>
          <a:xfrm>
            <a:off x="7112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5" name="AutoShape 5"/>
          <p:cNvSpPr/>
          <p:nvPr/>
        </p:nvSpPr>
        <p:spPr>
          <a:xfrm>
            <a:off x="-21336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cxnSp>
        <p:nvCxnSpPr>
          <p:cNvPr id="6" name="Connector 6"/>
          <p:cNvCxnSpPr/>
          <p:nvPr/>
        </p:nvCxnSpPr>
        <p:spPr>
          <a:xfrm>
            <a:off x="876300" y="1574800"/>
            <a:ext cx="2514632" cy="12700"/>
          </a:xfrm>
          <a:prstGeom prst="line">
            <a:avLst/>
          </a:prstGeom>
          <a:solidFill>
            <a:srgbClr val="DEE0E3">
              <a:alpha val="100000"/>
            </a:srgbClr>
          </a:solidFill>
          <a:ln w="12700" cap="rnd" cmpd="sng">
            <a:gradFill rotWithShape="1">
              <a:gsLst>
                <a:gs pos="0">
                  <a:srgbClr val="D7DCE7">
                    <a:alpha val="53000"/>
                  </a:srgbClr>
                </a:gs>
                <a:gs pos="50000">
                  <a:srgbClr val="D7DCE7">
                    <a:alpha val="100000"/>
                  </a:srgbClr>
                </a:gs>
                <a:gs pos="100000">
                  <a:srgbClr val="D7DCE7">
                    <a:alpha val="53000"/>
                  </a:srgbClr>
                </a:gs>
              </a:gsLst>
              <a:lin ang="0"/>
            </a:gradFill>
            <a:prstDash val="solid"/>
            <a:miter lim="10000000"/>
            <a:headEnd type="none" w="med" len="med"/>
            <a:tailEnd type="none" w="med" len="med"/>
          </a:ln>
        </p:spPr>
      </p:cxnSp>
      <p:sp>
        <p:nvSpPr>
          <p:cNvPr id="7" name="AutoShape 7"/>
          <p:cNvSpPr/>
          <p:nvPr/>
        </p:nvSpPr>
        <p:spPr>
          <a:xfrm>
            <a:off x="1181100" y="2095500"/>
            <a:ext cx="1905000" cy="26797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200" cap="none" spc="0" normalizeH="0" baseline="0" noProof="0" dirty="0">
                <a:ln>
                  <a:noFill/>
                </a:ln>
                <a:solidFill>
                  <a:srgbClr val="485575"/>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0</a:t>
            </a:r>
            <a:r>
              <a:rPr lang="en-US" sz="9600" b="1" dirty="0">
                <a:solidFill>
                  <a:srgbClr val="485575"/>
                </a:solidFill>
                <a:latin typeface="华文细黑" panose="02010600040101010101" charset="-122"/>
                <a:ea typeface="华文细黑" panose="02010600040101010101" charset="-122"/>
                <a:cs typeface="华文细黑" panose="02010600040101010101" charset="-122"/>
                <a:sym typeface="华文细黑" panose="02010600040101010101" charset="-122"/>
              </a:rPr>
              <a:t>5</a:t>
            </a: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8" name="AutoShape 8"/>
          <p:cNvSpPr/>
          <p:nvPr/>
        </p:nvSpPr>
        <p:spPr>
          <a:xfrm>
            <a:off x="18288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9" name="AutoShape 9"/>
          <p:cNvSpPr/>
          <p:nvPr/>
        </p:nvSpPr>
        <p:spPr>
          <a:xfrm>
            <a:off x="2082800" y="5232400"/>
            <a:ext cx="101600" cy="101600"/>
          </a:xfrm>
          <a:prstGeom prst="ellipse">
            <a:avLst/>
          </a:prstGeom>
          <a:solidFill>
            <a:srgbClr val="8895B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0" name="AutoShape 10"/>
          <p:cNvSpPr/>
          <p:nvPr/>
        </p:nvSpPr>
        <p:spPr>
          <a:xfrm>
            <a:off x="23241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1" name="AutoShape 11"/>
          <p:cNvSpPr/>
          <p:nvPr/>
        </p:nvSpPr>
        <p:spPr>
          <a:xfrm>
            <a:off x="3771932" y="1231900"/>
            <a:ext cx="7696200" cy="49276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2" name="AutoShape 12"/>
          <p:cNvSpPr/>
          <p:nvPr/>
        </p:nvSpPr>
        <p:spPr>
          <a:xfrm>
            <a:off x="11493500" y="7112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3" name="AutoShape 13"/>
          <p:cNvSpPr/>
          <p:nvPr/>
        </p:nvSpPr>
        <p:spPr>
          <a:xfrm>
            <a:off x="37973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4" name="AutoShape 14"/>
          <p:cNvSpPr/>
          <p:nvPr/>
        </p:nvSpPr>
        <p:spPr>
          <a:xfrm>
            <a:off x="114935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7" name="AutoShape 17"/>
          <p:cNvSpPr/>
          <p:nvPr/>
        </p:nvSpPr>
        <p:spPr>
          <a:xfrm>
            <a:off x="4152900" y="3155950"/>
            <a:ext cx="6413500" cy="1689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8" name="AutoShape 18"/>
          <p:cNvSpPr/>
          <p:nvPr/>
        </p:nvSpPr>
        <p:spPr>
          <a:xfrm>
            <a:off x="4241800" y="4178300"/>
            <a:ext cx="57023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33000"/>
              </a:lnSpc>
              <a:spcBef>
                <a:spcPts val="0"/>
              </a:spcBef>
              <a:spcAft>
                <a:spcPts val="0"/>
              </a:spcAft>
              <a:buClrTx/>
              <a:buSzTx/>
              <a:buFontTx/>
              <a:buNone/>
              <a:defRPr/>
            </a:pPr>
            <a:r>
              <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rPr>
              <a:t>Cao Yi</a:t>
            </a:r>
            <a:r>
              <a:rPr lang="en-US" sz="2400" b="1" dirty="0" err="1">
                <a:solidFill>
                  <a:srgbClr val="485575">
                    <a:lumMod val="75000"/>
                  </a:srgbClr>
                </a:solidFill>
                <a:latin typeface="华文细黑" panose="02010600040101010101" charset="-122"/>
                <a:ea typeface="华文细黑" panose="02010600040101010101" charset="-122"/>
              </a:rPr>
              <a:t>qian</a:t>
            </a:r>
            <a:endPar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endParaRPr>
          </a:p>
        </p:txBody>
      </p:sp>
      <p:sp>
        <p:nvSpPr>
          <p:cNvPr id="19" name="AutoShape 19"/>
          <p:cNvSpPr/>
          <p:nvPr/>
        </p:nvSpPr>
        <p:spPr>
          <a:xfrm>
            <a:off x="4419632" y="673100"/>
            <a:ext cx="5511800" cy="838200"/>
          </a:xfrm>
          <a:prstGeom prst="roundRect">
            <a:avLst>
              <a:gd name="adj" fmla="val 0"/>
            </a:avLst>
          </a:prstGeom>
          <a:blipFill rotWithShape="1">
            <a:blip r:embed="rId1"/>
            <a:tile tx="0" ty="0" sx="100000" sy="100000" flip="none" algn="tl"/>
          </a:blip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0" name="AutoShape 20"/>
          <p:cNvSpPr/>
          <p:nvPr/>
        </p:nvSpPr>
        <p:spPr>
          <a:xfrm>
            <a:off x="4419632" y="1511300"/>
            <a:ext cx="5511800" cy="101600"/>
          </a:xfrm>
          <a:prstGeom prst="roundRect">
            <a:avLst>
              <a:gd name="adj" fmla="val 0"/>
            </a:avLst>
          </a:prstGeom>
          <a:solidFill>
            <a:srgbClr val="F2D4AA">
              <a:alpha val="100000"/>
            </a:srgbClr>
          </a:solid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1" name="AutoShape 21"/>
          <p:cNvSpPr/>
          <p:nvPr/>
        </p:nvSpPr>
        <p:spPr>
          <a:xfrm>
            <a:off x="4508532" y="698500"/>
            <a:ext cx="5537200" cy="7112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w="12700">
                  <a:solidFill>
                    <a:srgbClr val="FFFFFF">
                      <a:alpha val="100000"/>
                    </a:srgbClr>
                  </a:solidFill>
                </a:ln>
                <a:solidFill>
                  <a:srgbClr val="FFFFFF"/>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AI3013 Machine Learning Course Project</a:t>
            </a:r>
            <a:endParaRPr kumimoji="0" lang="en-US" sz="11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6" name="文本框 15"/>
          <p:cNvSpPr txBox="1"/>
          <p:nvPr/>
        </p:nvSpPr>
        <p:spPr>
          <a:xfrm>
            <a:off x="4272312" y="3013922"/>
            <a:ext cx="4993608" cy="1077218"/>
          </a:xfrm>
          <a:prstGeom prst="rect">
            <a:avLst/>
          </a:prstGeom>
          <a:noFill/>
        </p:spPr>
        <p:txBody>
          <a:bodyPr wrap="square" rtlCol="0">
            <a:spAutoFit/>
          </a:bodyPr>
          <a:lstStyle/>
          <a:p>
            <a:r>
              <a:rPr lang="en-US" altLang="zh-CN" sz="3200" dirty="0">
                <a:gradFill>
                  <a:gsLst>
                    <a:gs pos="54000">
                      <a:schemeClr val="accent1"/>
                    </a:gs>
                    <a:gs pos="100000">
                      <a:schemeClr val="accent1">
                        <a:lumMod val="60000"/>
                        <a:lumOff val="40000"/>
                      </a:schemeClr>
                    </a:gs>
                  </a:gsLst>
                </a:gradFill>
              </a:rPr>
              <a:t>Sensitivity Analysis and Learning Curves</a:t>
            </a:r>
            <a:endParaRPr lang="zh-CN" alt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165929" y="627741"/>
            <a:ext cx="8376104" cy="1870754"/>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3535808" y="4124410"/>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914525" y="913765"/>
            <a:ext cx="6916420" cy="1373505"/>
          </a:xfrm>
          <a:prstGeom prst="rect">
            <a:avLst/>
          </a:prstGeom>
        </p:spPr>
        <p:txBody>
          <a:bodyPr wrap="square">
            <a:noAutofit/>
          </a:bodyPr>
          <a:lstStyle/>
          <a:p>
            <a:pPr>
              <a:lnSpc>
                <a:spcPct val="130000"/>
              </a:lnSpc>
            </a:pPr>
            <a:r>
              <a:rPr lang="en-US" altLang="zh-CN" sz="1600" dirty="0">
                <a:solidFill>
                  <a:schemeClr val="tx1">
                    <a:lumMod val="50000"/>
                    <a:lumOff val="50000"/>
                  </a:schemeClr>
                </a:solidFill>
              </a:rPr>
              <a:t>• Excessive L2 regularization reduces Logistic Regression flexibility.</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rPr>
              <a:t>• Increasing tree depth improves training F1 but may reduce validation F1.</a:t>
            </a:r>
            <a:endParaRPr lang="en-US" altLang="zh-CN" sz="1600" dirty="0">
              <a:solidFill>
                <a:schemeClr val="tx1">
                  <a:lumMod val="50000"/>
                  <a:lumOff val="50000"/>
                </a:schemeClr>
              </a:solidFill>
            </a:endParaRPr>
          </a:p>
          <a:p>
            <a:pPr>
              <a:lnSpc>
                <a:spcPct val="130000"/>
              </a:lnSpc>
            </a:pPr>
            <a:r>
              <a:rPr lang="en-US" altLang="zh-CN" sz="1600" dirty="0">
                <a:solidFill>
                  <a:schemeClr val="tx1">
                    <a:lumMod val="50000"/>
                    <a:lumOff val="50000"/>
                  </a:schemeClr>
                </a:solidFill>
              </a:rPr>
              <a:t>• Hyperparameter tuning helps control the bias-variance trade-off.</a:t>
            </a:r>
            <a:endParaRPr lang="en-US" altLang="zh-CN" sz="1600" dirty="0">
              <a:solidFill>
                <a:schemeClr val="tx1">
                  <a:lumMod val="50000"/>
                  <a:lumOff val="50000"/>
                </a:schemeClr>
              </a:solidFill>
            </a:endParaRPr>
          </a:p>
        </p:txBody>
      </p:sp>
      <p:sp>
        <p:nvSpPr>
          <p:cNvPr id="24" name="矩形 23"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1914502" y="410798"/>
            <a:ext cx="5313680" cy="1050290"/>
          </a:xfrm>
          <a:prstGeom prst="rect">
            <a:avLst/>
          </a:prstGeom>
        </p:spPr>
        <p:txBody>
          <a:bodyPr wrap="none">
            <a:spAutoFit/>
          </a:bodyPr>
          <a:lstStyle/>
          <a:p>
            <a:pPr algn="l">
              <a:lnSpc>
                <a:spcPct val="130000"/>
              </a:lnSpc>
            </a:pPr>
            <a:r>
              <a:rPr lang="en-US" altLang="zh-CN" sz="2400" dirty="0">
                <a:gradFill flip="none" rotWithShape="1">
                  <a:gsLst>
                    <a:gs pos="51000">
                      <a:schemeClr val="accent1"/>
                    </a:gs>
                    <a:gs pos="100000">
                      <a:schemeClr val="accent1">
                        <a:lumMod val="60000"/>
                        <a:lumOff val="40000"/>
                      </a:schemeClr>
                    </a:gs>
                  </a:gsLst>
                  <a:lin ang="0" scaled="1"/>
                  <a:tileRect/>
                </a:gradFill>
                <a:latin typeface="+mj-lt"/>
              </a:rPr>
              <a:t>Hyperparameter Sensitivity Analysis</a:t>
            </a:r>
            <a:endParaRPr lang="en-US" altLang="zh-CN" sz="2400" dirty="0">
              <a:gradFill flip="none" rotWithShape="1">
                <a:gsLst>
                  <a:gs pos="51000">
                    <a:schemeClr val="accent1"/>
                  </a:gs>
                  <a:gs pos="100000">
                    <a:schemeClr val="accent1">
                      <a:lumMod val="60000"/>
                      <a:lumOff val="40000"/>
                    </a:schemeClr>
                  </a:gs>
                </a:gsLst>
                <a:lin ang="0" scaled="1"/>
                <a:tileRect/>
              </a:gradFill>
              <a:latin typeface="+mj-lt"/>
            </a:endParaRPr>
          </a:p>
          <a:p>
            <a:pPr>
              <a:lnSpc>
                <a:spcPct val="130000"/>
              </a:lnSpc>
            </a:pPr>
            <a:endParaRPr lang="en-US" altLang="zh-CN" sz="2400" dirty="0">
              <a:gradFill flip="none" rotWithShape="1">
                <a:gsLst>
                  <a:gs pos="51000">
                    <a:schemeClr val="accent1"/>
                  </a:gs>
                  <a:gs pos="100000">
                    <a:schemeClr val="accent1">
                      <a:lumMod val="60000"/>
                      <a:lumOff val="40000"/>
                    </a:schemeClr>
                  </a:gs>
                </a:gsLst>
                <a:lin ang="0" scaled="1"/>
                <a:tileRect/>
              </a:gradFill>
              <a:latin typeface="+mj-lt"/>
            </a:endParaRPr>
          </a:p>
        </p:txBody>
      </p:sp>
      <p:sp>
        <p:nvSpPr>
          <p:cNvPr id="27" name="椭圆 26"/>
          <p:cNvSpPr/>
          <p:nvPr/>
        </p:nvSpPr>
        <p:spPr>
          <a:xfrm>
            <a:off x="888575" y="913830"/>
            <a:ext cx="782638" cy="782638"/>
          </a:xfrm>
          <a:prstGeom prst="ellipse">
            <a:avLst/>
          </a:prstGeom>
          <a:blipFill dpi="0" rotWithShape="1">
            <a:blip r:embed="rId1"/>
            <a:srcRect/>
            <a:tile tx="0" ty="0" sx="100000" sy="100000" flip="none" algn="tl"/>
          </a:blipFill>
          <a:ln>
            <a:noFill/>
          </a:ln>
          <a:effectLst>
            <a:outerShdw blurRad="266700" dist="139700" dir="2700000" algn="tl" rotWithShape="0">
              <a:schemeClr val="bg1">
                <a:lumMod val="5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5"/>
          <p:cNvSpPr>
            <a:spLocks noEditPoints="1"/>
          </p:cNvSpPr>
          <p:nvPr/>
        </p:nvSpPr>
        <p:spPr bwMode="auto">
          <a:xfrm>
            <a:off x="1086905" y="1150717"/>
            <a:ext cx="385978" cy="308864"/>
          </a:xfrm>
          <a:custGeom>
            <a:avLst/>
            <a:gdLst>
              <a:gd name="T0" fmla="*/ 782 w 798"/>
              <a:gd name="T1" fmla="*/ 96 h 638"/>
              <a:gd name="T2" fmla="*/ 599 w 798"/>
              <a:gd name="T3" fmla="*/ 96 h 638"/>
              <a:gd name="T4" fmla="*/ 540 w 798"/>
              <a:gd name="T5" fmla="*/ 7 h 638"/>
              <a:gd name="T6" fmla="*/ 527 w 798"/>
              <a:gd name="T7" fmla="*/ 0 h 638"/>
              <a:gd name="T8" fmla="*/ 271 w 798"/>
              <a:gd name="T9" fmla="*/ 0 h 638"/>
              <a:gd name="T10" fmla="*/ 258 w 798"/>
              <a:gd name="T11" fmla="*/ 7 h 638"/>
              <a:gd name="T12" fmla="*/ 199 w 798"/>
              <a:gd name="T13" fmla="*/ 96 h 638"/>
              <a:gd name="T14" fmla="*/ 16 w 798"/>
              <a:gd name="T15" fmla="*/ 96 h 638"/>
              <a:gd name="T16" fmla="*/ 0 w 798"/>
              <a:gd name="T17" fmla="*/ 112 h 638"/>
              <a:gd name="T18" fmla="*/ 0 w 798"/>
              <a:gd name="T19" fmla="*/ 622 h 638"/>
              <a:gd name="T20" fmla="*/ 16 w 798"/>
              <a:gd name="T21" fmla="*/ 638 h 638"/>
              <a:gd name="T22" fmla="*/ 782 w 798"/>
              <a:gd name="T23" fmla="*/ 638 h 638"/>
              <a:gd name="T24" fmla="*/ 798 w 798"/>
              <a:gd name="T25" fmla="*/ 622 h 638"/>
              <a:gd name="T26" fmla="*/ 798 w 798"/>
              <a:gd name="T27" fmla="*/ 112 h 638"/>
              <a:gd name="T28" fmla="*/ 782 w 798"/>
              <a:gd name="T29" fmla="*/ 96 h 638"/>
              <a:gd name="T30" fmla="*/ 766 w 798"/>
              <a:gd name="T31" fmla="*/ 606 h 638"/>
              <a:gd name="T32" fmla="*/ 32 w 798"/>
              <a:gd name="T33" fmla="*/ 606 h 638"/>
              <a:gd name="T34" fmla="*/ 32 w 798"/>
              <a:gd name="T35" fmla="*/ 128 h 638"/>
              <a:gd name="T36" fmla="*/ 208 w 798"/>
              <a:gd name="T37" fmla="*/ 128 h 638"/>
              <a:gd name="T38" fmla="*/ 221 w 798"/>
              <a:gd name="T39" fmla="*/ 121 h 638"/>
              <a:gd name="T40" fmla="*/ 280 w 798"/>
              <a:gd name="T41" fmla="*/ 32 h 638"/>
              <a:gd name="T42" fmla="*/ 518 w 798"/>
              <a:gd name="T43" fmla="*/ 32 h 638"/>
              <a:gd name="T44" fmla="*/ 577 w 798"/>
              <a:gd name="T45" fmla="*/ 121 h 638"/>
              <a:gd name="T46" fmla="*/ 590 w 798"/>
              <a:gd name="T47" fmla="*/ 128 h 638"/>
              <a:gd name="T48" fmla="*/ 766 w 798"/>
              <a:gd name="T49" fmla="*/ 128 h 638"/>
              <a:gd name="T50" fmla="*/ 766 w 798"/>
              <a:gd name="T51" fmla="*/ 606 h 638"/>
              <a:gd name="T52" fmla="*/ 606 w 798"/>
              <a:gd name="T53" fmla="*/ 351 h 638"/>
              <a:gd name="T54" fmla="*/ 604 w 798"/>
              <a:gd name="T55" fmla="*/ 379 h 638"/>
              <a:gd name="T56" fmla="*/ 586 w 798"/>
              <a:gd name="T57" fmla="*/ 393 h 638"/>
              <a:gd name="T58" fmla="*/ 573 w 798"/>
              <a:gd name="T59" fmla="*/ 375 h 638"/>
              <a:gd name="T60" fmla="*/ 574 w 798"/>
              <a:gd name="T61" fmla="*/ 351 h 638"/>
              <a:gd name="T62" fmla="*/ 523 w 798"/>
              <a:gd name="T63" fmla="*/ 227 h 638"/>
              <a:gd name="T64" fmla="*/ 399 w 798"/>
              <a:gd name="T65" fmla="*/ 175 h 638"/>
              <a:gd name="T66" fmla="*/ 275 w 798"/>
              <a:gd name="T67" fmla="*/ 227 h 638"/>
              <a:gd name="T68" fmla="*/ 224 w 798"/>
              <a:gd name="T69" fmla="*/ 351 h 638"/>
              <a:gd name="T70" fmla="*/ 275 w 798"/>
              <a:gd name="T71" fmla="*/ 475 h 638"/>
              <a:gd name="T72" fmla="*/ 399 w 798"/>
              <a:gd name="T73" fmla="*/ 526 h 638"/>
              <a:gd name="T74" fmla="*/ 517 w 798"/>
              <a:gd name="T75" fmla="*/ 480 h 638"/>
              <a:gd name="T76" fmla="*/ 540 w 798"/>
              <a:gd name="T77" fmla="*/ 481 h 638"/>
              <a:gd name="T78" fmla="*/ 539 w 798"/>
              <a:gd name="T79" fmla="*/ 504 h 638"/>
              <a:gd name="T80" fmla="*/ 399 w 798"/>
              <a:gd name="T81" fmla="*/ 558 h 638"/>
              <a:gd name="T82" fmla="*/ 252 w 798"/>
              <a:gd name="T83" fmla="*/ 497 h 638"/>
              <a:gd name="T84" fmla="*/ 192 w 798"/>
              <a:gd name="T85" fmla="*/ 351 h 638"/>
              <a:gd name="T86" fmla="*/ 252 w 798"/>
              <a:gd name="T87" fmla="*/ 204 h 638"/>
              <a:gd name="T88" fmla="*/ 399 w 798"/>
              <a:gd name="T89" fmla="*/ 144 h 638"/>
              <a:gd name="T90" fmla="*/ 546 w 798"/>
              <a:gd name="T91" fmla="*/ 204 h 638"/>
              <a:gd name="T92" fmla="*/ 606 w 798"/>
              <a:gd name="T93" fmla="*/ 351 h 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98" h="638">
                <a:moveTo>
                  <a:pt x="782" y="96"/>
                </a:moveTo>
                <a:cubicBezTo>
                  <a:pt x="599" y="96"/>
                  <a:pt x="599" y="96"/>
                  <a:pt x="599" y="96"/>
                </a:cubicBezTo>
                <a:cubicBezTo>
                  <a:pt x="540" y="7"/>
                  <a:pt x="540" y="7"/>
                  <a:pt x="540" y="7"/>
                </a:cubicBezTo>
                <a:cubicBezTo>
                  <a:pt x="537" y="3"/>
                  <a:pt x="532" y="0"/>
                  <a:pt x="527" y="0"/>
                </a:cubicBezTo>
                <a:cubicBezTo>
                  <a:pt x="271" y="0"/>
                  <a:pt x="271" y="0"/>
                  <a:pt x="271" y="0"/>
                </a:cubicBezTo>
                <a:cubicBezTo>
                  <a:pt x="266" y="0"/>
                  <a:pt x="261" y="3"/>
                  <a:pt x="258" y="7"/>
                </a:cubicBezTo>
                <a:cubicBezTo>
                  <a:pt x="199" y="96"/>
                  <a:pt x="199" y="96"/>
                  <a:pt x="199" y="96"/>
                </a:cubicBezTo>
                <a:cubicBezTo>
                  <a:pt x="16" y="96"/>
                  <a:pt x="16" y="96"/>
                  <a:pt x="16" y="96"/>
                </a:cubicBezTo>
                <a:cubicBezTo>
                  <a:pt x="8" y="96"/>
                  <a:pt x="0" y="103"/>
                  <a:pt x="0" y="112"/>
                </a:cubicBezTo>
                <a:cubicBezTo>
                  <a:pt x="0" y="622"/>
                  <a:pt x="0" y="622"/>
                  <a:pt x="0" y="622"/>
                </a:cubicBezTo>
                <a:cubicBezTo>
                  <a:pt x="0" y="631"/>
                  <a:pt x="8" y="638"/>
                  <a:pt x="16" y="638"/>
                </a:cubicBezTo>
                <a:cubicBezTo>
                  <a:pt x="782" y="638"/>
                  <a:pt x="782" y="638"/>
                  <a:pt x="782" y="638"/>
                </a:cubicBezTo>
                <a:cubicBezTo>
                  <a:pt x="790" y="638"/>
                  <a:pt x="798" y="631"/>
                  <a:pt x="798" y="622"/>
                </a:cubicBezTo>
                <a:cubicBezTo>
                  <a:pt x="798" y="112"/>
                  <a:pt x="798" y="112"/>
                  <a:pt x="798" y="112"/>
                </a:cubicBezTo>
                <a:cubicBezTo>
                  <a:pt x="798" y="103"/>
                  <a:pt x="790" y="96"/>
                  <a:pt x="782" y="96"/>
                </a:cubicBezTo>
                <a:close/>
                <a:moveTo>
                  <a:pt x="766" y="606"/>
                </a:moveTo>
                <a:cubicBezTo>
                  <a:pt x="32" y="606"/>
                  <a:pt x="32" y="606"/>
                  <a:pt x="32" y="606"/>
                </a:cubicBezTo>
                <a:cubicBezTo>
                  <a:pt x="32" y="128"/>
                  <a:pt x="32" y="128"/>
                  <a:pt x="32" y="128"/>
                </a:cubicBezTo>
                <a:cubicBezTo>
                  <a:pt x="208" y="128"/>
                  <a:pt x="208" y="128"/>
                  <a:pt x="208" y="128"/>
                </a:cubicBezTo>
                <a:cubicBezTo>
                  <a:pt x="213" y="128"/>
                  <a:pt x="218" y="125"/>
                  <a:pt x="221" y="121"/>
                </a:cubicBezTo>
                <a:cubicBezTo>
                  <a:pt x="280" y="32"/>
                  <a:pt x="280" y="32"/>
                  <a:pt x="280" y="32"/>
                </a:cubicBezTo>
                <a:cubicBezTo>
                  <a:pt x="518" y="32"/>
                  <a:pt x="518" y="32"/>
                  <a:pt x="518" y="32"/>
                </a:cubicBezTo>
                <a:cubicBezTo>
                  <a:pt x="577" y="121"/>
                  <a:pt x="577" y="121"/>
                  <a:pt x="577" y="121"/>
                </a:cubicBezTo>
                <a:cubicBezTo>
                  <a:pt x="580" y="125"/>
                  <a:pt x="585" y="128"/>
                  <a:pt x="590" y="128"/>
                </a:cubicBezTo>
                <a:cubicBezTo>
                  <a:pt x="766" y="128"/>
                  <a:pt x="766" y="128"/>
                  <a:pt x="766" y="128"/>
                </a:cubicBezTo>
                <a:cubicBezTo>
                  <a:pt x="766" y="606"/>
                  <a:pt x="766" y="606"/>
                  <a:pt x="766" y="606"/>
                </a:cubicBezTo>
                <a:close/>
                <a:moveTo>
                  <a:pt x="606" y="351"/>
                </a:moveTo>
                <a:cubicBezTo>
                  <a:pt x="606" y="360"/>
                  <a:pt x="606" y="370"/>
                  <a:pt x="604" y="379"/>
                </a:cubicBezTo>
                <a:cubicBezTo>
                  <a:pt x="603" y="388"/>
                  <a:pt x="595" y="394"/>
                  <a:pt x="586" y="393"/>
                </a:cubicBezTo>
                <a:cubicBezTo>
                  <a:pt x="578" y="391"/>
                  <a:pt x="572" y="383"/>
                  <a:pt x="573" y="375"/>
                </a:cubicBezTo>
                <a:cubicBezTo>
                  <a:pt x="574" y="367"/>
                  <a:pt x="574" y="359"/>
                  <a:pt x="574" y="351"/>
                </a:cubicBezTo>
                <a:cubicBezTo>
                  <a:pt x="574" y="304"/>
                  <a:pt x="556" y="260"/>
                  <a:pt x="523" y="227"/>
                </a:cubicBezTo>
                <a:cubicBezTo>
                  <a:pt x="490" y="194"/>
                  <a:pt x="446" y="175"/>
                  <a:pt x="399" y="175"/>
                </a:cubicBezTo>
                <a:cubicBezTo>
                  <a:pt x="352" y="175"/>
                  <a:pt x="308" y="194"/>
                  <a:pt x="275" y="227"/>
                </a:cubicBezTo>
                <a:cubicBezTo>
                  <a:pt x="242" y="260"/>
                  <a:pt x="224" y="304"/>
                  <a:pt x="224" y="351"/>
                </a:cubicBezTo>
                <a:cubicBezTo>
                  <a:pt x="224" y="398"/>
                  <a:pt x="242" y="442"/>
                  <a:pt x="275" y="475"/>
                </a:cubicBezTo>
                <a:cubicBezTo>
                  <a:pt x="308" y="508"/>
                  <a:pt x="352" y="526"/>
                  <a:pt x="399" y="526"/>
                </a:cubicBezTo>
                <a:cubicBezTo>
                  <a:pt x="443" y="526"/>
                  <a:pt x="485" y="510"/>
                  <a:pt x="517" y="480"/>
                </a:cubicBezTo>
                <a:cubicBezTo>
                  <a:pt x="524" y="474"/>
                  <a:pt x="534" y="475"/>
                  <a:pt x="540" y="481"/>
                </a:cubicBezTo>
                <a:cubicBezTo>
                  <a:pt x="546" y="488"/>
                  <a:pt x="545" y="498"/>
                  <a:pt x="539" y="504"/>
                </a:cubicBezTo>
                <a:cubicBezTo>
                  <a:pt x="501" y="539"/>
                  <a:pt x="451" y="558"/>
                  <a:pt x="399" y="558"/>
                </a:cubicBezTo>
                <a:cubicBezTo>
                  <a:pt x="344" y="558"/>
                  <a:pt x="292" y="537"/>
                  <a:pt x="252" y="497"/>
                </a:cubicBezTo>
                <a:cubicBezTo>
                  <a:pt x="213" y="458"/>
                  <a:pt x="192" y="406"/>
                  <a:pt x="192" y="351"/>
                </a:cubicBezTo>
                <a:cubicBezTo>
                  <a:pt x="192" y="295"/>
                  <a:pt x="213" y="243"/>
                  <a:pt x="252" y="204"/>
                </a:cubicBezTo>
                <a:cubicBezTo>
                  <a:pt x="292" y="165"/>
                  <a:pt x="344" y="144"/>
                  <a:pt x="399" y="144"/>
                </a:cubicBezTo>
                <a:cubicBezTo>
                  <a:pt x="454" y="144"/>
                  <a:pt x="506" y="165"/>
                  <a:pt x="546" y="204"/>
                </a:cubicBezTo>
                <a:cubicBezTo>
                  <a:pt x="585" y="243"/>
                  <a:pt x="606" y="295"/>
                  <a:pt x="606" y="351"/>
                </a:cubicBezTo>
                <a:close/>
              </a:path>
            </a:pathLst>
          </a:custGeom>
          <a:solidFill>
            <a:schemeClr val="accent2"/>
          </a:solidFill>
          <a:ln>
            <a:noFill/>
          </a:ln>
        </p:spPr>
        <p:txBody>
          <a:bodyPr vert="horz" wrap="square" lIns="91440" tIns="45720" rIns="91440" bIns="45720" numCol="1" anchor="t" anchorCtr="0" compatLnSpc="1"/>
          <a:lstStyle/>
          <a:p>
            <a:endParaRPr lang="zh-CN" altLang="en-US"/>
          </a:p>
        </p:txBody>
      </p:sp>
      <p:pic>
        <p:nvPicPr>
          <p:cNvPr id="3" name="图片 2" descr="logit_hyperparameter_sensitivity"/>
          <p:cNvPicPr>
            <a:picLocks noChangeAspect="1"/>
          </p:cNvPicPr>
          <p:nvPr/>
        </p:nvPicPr>
        <p:blipFill>
          <a:blip r:embed="rId2"/>
          <a:stretch>
            <a:fillRect/>
          </a:stretch>
        </p:blipFill>
        <p:spPr>
          <a:xfrm>
            <a:off x="212090" y="2656205"/>
            <a:ext cx="5883910" cy="3326765"/>
          </a:xfrm>
          <a:prstGeom prst="rect">
            <a:avLst/>
          </a:prstGeom>
        </p:spPr>
      </p:pic>
      <p:pic>
        <p:nvPicPr>
          <p:cNvPr id="7" name="图片 6" descr="tree_hyperparameter_sensitivity"/>
          <p:cNvPicPr>
            <a:picLocks noChangeAspect="1"/>
          </p:cNvPicPr>
          <p:nvPr/>
        </p:nvPicPr>
        <p:blipFill>
          <a:blip r:embed="rId3"/>
          <a:stretch>
            <a:fillRect/>
          </a:stretch>
        </p:blipFill>
        <p:spPr>
          <a:xfrm>
            <a:off x="5922010" y="2656840"/>
            <a:ext cx="5863590" cy="33267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63" presetClass="path" presetSubtype="0" decel="50000" fill="hold" grpId="1" nodeType="withEffect">
                                  <p:stCondLst>
                                    <p:cond delay="0"/>
                                  </p:stCondLst>
                                  <p:childTnLst>
                                    <p:animMotion origin="layout" path="M 0.16719 -0.08982 L 5E-6 2.22222E-6 " pathEditMode="relative" rAng="0" ptsTypes="AA">
                                      <p:cBhvr>
                                        <p:cTn id="9" dur="1000" fill="hold"/>
                                        <p:tgtEl>
                                          <p:spTgt spid="6"/>
                                        </p:tgtEl>
                                        <p:attrNameLst>
                                          <p:attrName>ppt_x</p:attrName>
                                          <p:attrName>ppt_y</p:attrName>
                                        </p:attrNameLst>
                                      </p:cBhvr>
                                      <p:rCtr x="-8359" y="4491"/>
                                    </p:animMotion>
                                  </p:childTnLst>
                                </p:cTn>
                              </p:par>
                              <p:par>
                                <p:cTn id="10" presetID="6" presetClass="emph" presetSubtype="0" decel="50000" fill="hold" grpId="2" nodeType="withEffect">
                                  <p:stCondLst>
                                    <p:cond delay="0"/>
                                  </p:stCondLst>
                                  <p:childTnLst>
                                    <p:animScale>
                                      <p:cBhvr>
                                        <p:cTn id="11" dur="1000" fill="hold"/>
                                        <p:tgtEl>
                                          <p:spTgt spid="6"/>
                                        </p:tgtEl>
                                      </p:cBhvr>
                                      <p:by x="150000" y="150000"/>
                                      <p:from x="128782" y="128782"/>
                                      <p:to x="100000" y="100000"/>
                                    </p:animScale>
                                  </p:childTnLst>
                                </p:cTn>
                              </p:par>
                              <p:par>
                                <p:cTn id="12" presetID="10" presetClass="entr" presetSubtype="0" fill="hold" grpId="0" nodeType="withEffect">
                                  <p:stCondLst>
                                    <p:cond delay="750"/>
                                  </p:stCondLst>
                                  <p:childTnLst>
                                    <p:set>
                                      <p:cBhvr>
                                        <p:cTn id="13" dur="1" fill="hold">
                                          <p:stCondLst>
                                            <p:cond delay="0"/>
                                          </p:stCondLst>
                                        </p:cTn>
                                        <p:tgtEl>
                                          <p:spTgt spid="27"/>
                                        </p:tgtEl>
                                        <p:attrNameLst>
                                          <p:attrName>style.visibility</p:attrName>
                                        </p:attrNameLst>
                                      </p:cBhvr>
                                      <p:to>
                                        <p:strVal val="visible"/>
                                      </p:to>
                                    </p:set>
                                    <p:animEffect transition="in" filter="fade">
                                      <p:cBhvr>
                                        <p:cTn id="14" dur="750"/>
                                        <p:tgtEl>
                                          <p:spTgt spid="27"/>
                                        </p:tgtEl>
                                      </p:cBhvr>
                                    </p:animEffect>
                                  </p:childTnLst>
                                </p:cTn>
                              </p:par>
                              <p:par>
                                <p:cTn id="15" presetID="35" presetClass="path" presetSubtype="0" decel="33300" fill="hold" grpId="1" nodeType="withEffect">
                                  <p:stCondLst>
                                    <p:cond delay="750"/>
                                  </p:stCondLst>
                                  <p:childTnLst>
                                    <p:animMotion origin="layout" path="M 2.91667E-6 -3.7037E-7 L 2.91667E-6 -0.07778 " pathEditMode="relative" rAng="0" ptsTypes="AA">
                                      <p:cBhvr>
                                        <p:cTn id="16" dur="750" spd="-100000" fill="hold"/>
                                        <p:tgtEl>
                                          <p:spTgt spid="27"/>
                                        </p:tgtEl>
                                        <p:attrNameLst>
                                          <p:attrName>ppt_x</p:attrName>
                                          <p:attrName>ppt_y</p:attrName>
                                        </p:attrNameLst>
                                      </p:cBhvr>
                                      <p:rCtr x="0" y="-3889"/>
                                    </p:animMotion>
                                  </p:childTnLst>
                                </p:cTn>
                              </p:par>
                              <p:par>
                                <p:cTn id="17" presetID="10" presetClass="entr" presetSubtype="0" fill="hold" grpId="0" nodeType="withEffect">
                                  <p:stCondLst>
                                    <p:cond delay="75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750"/>
                                        <p:tgtEl>
                                          <p:spTgt spid="5"/>
                                        </p:tgtEl>
                                      </p:cBhvr>
                                    </p:animEffect>
                                  </p:childTnLst>
                                </p:cTn>
                              </p:par>
                              <p:par>
                                <p:cTn id="20" presetID="35" presetClass="path" presetSubtype="0" decel="33300" fill="hold" grpId="1" nodeType="withEffect">
                                  <p:stCondLst>
                                    <p:cond delay="750"/>
                                  </p:stCondLst>
                                  <p:childTnLst>
                                    <p:animMotion origin="layout" path="M 2.91667E-6 -3.7037E-7 L 2.91667E-6 -0.07778 " pathEditMode="relative" rAng="0" ptsTypes="AA">
                                      <p:cBhvr>
                                        <p:cTn id="21" dur="750" spd="-100000" fill="hold"/>
                                        <p:tgtEl>
                                          <p:spTgt spid="5"/>
                                        </p:tgtEl>
                                        <p:attrNameLst>
                                          <p:attrName>ppt_x</p:attrName>
                                          <p:attrName>ppt_y</p:attrName>
                                        </p:attrNameLst>
                                      </p:cBhvr>
                                      <p:rCtr x="0" y="-3889"/>
                                    </p:animMotion>
                                  </p:childTnLst>
                                </p:cTn>
                              </p:par>
                              <p:par>
                                <p:cTn id="22" presetID="10" presetClass="entr" presetSubtype="0" fill="hold" grpId="0" nodeType="withEffect">
                                  <p:stCondLst>
                                    <p:cond delay="125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750"/>
                                        <p:tgtEl>
                                          <p:spTgt spid="23"/>
                                        </p:tgtEl>
                                      </p:cBhvr>
                                    </p:animEffect>
                                  </p:childTnLst>
                                </p:cTn>
                              </p:par>
                              <p:par>
                                <p:cTn id="25" presetID="10" presetClass="entr" presetSubtype="0" fill="hold" grpId="0" nodeType="withEffect">
                                  <p:stCondLst>
                                    <p:cond delay="125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75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750"/>
                                        <p:tgtEl>
                                          <p:spTgt spid="14"/>
                                        </p:tgtEl>
                                      </p:cBhvr>
                                    </p:animEffect>
                                  </p:childTnLst>
                                </p:cTn>
                              </p:par>
                              <p:par>
                                <p:cTn id="31" presetID="63" presetClass="path" presetSubtype="0" decel="50000" fill="hold" nodeType="withEffect">
                                  <p:stCondLst>
                                    <p:cond delay="0"/>
                                  </p:stCondLst>
                                  <p:childTnLst>
                                    <p:animMotion origin="layout" path="M -0.01562 3.7037E-7 L 0.11081 3.7037E-7 " pathEditMode="relative" rAng="0" ptsTypes="AA">
                                      <p:cBhvr>
                                        <p:cTn id="32" dur="750" spd="-100000" fill="hold"/>
                                        <p:tgtEl>
                                          <p:spTgt spid="14"/>
                                        </p:tgtEl>
                                        <p:attrNameLst>
                                          <p:attrName>ppt_x</p:attrName>
                                          <p:attrName>ppt_y</p:attrName>
                                        </p:attrNameLst>
                                      </p:cBhvr>
                                      <p:rCtr x="6315" y="0"/>
                                    </p:animMotion>
                                  </p:childTnLst>
                                </p:cTn>
                              </p:par>
                              <p:par>
                                <p:cTn id="33" presetID="35" presetClass="path" presetSubtype="0" accel="50000" decel="50000" fill="hold" nodeType="withEffect">
                                  <p:stCondLst>
                                    <p:cond delay="750"/>
                                  </p:stCondLst>
                                  <p:childTnLst>
                                    <p:animMotion origin="layout" path="M -0.01562 3.7037E-7 L -2.29167E-6 3.7037E-7 " pathEditMode="relative" rAng="0" ptsTypes="AA">
                                      <p:cBhvr>
                                        <p:cTn id="34" dur="750" fill="hold"/>
                                        <p:tgtEl>
                                          <p:spTgt spid="14"/>
                                        </p:tgtEl>
                                        <p:attrNameLst>
                                          <p:attrName>ppt_x</p:attrName>
                                          <p:attrName>ppt_y</p:attrName>
                                        </p:attrNameLst>
                                      </p:cBhvr>
                                      <p:rCtr x="78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bldLvl="0" animBg="1"/>
      <p:bldP spid="6" grpId="2" bldLvl="0" animBg="1"/>
      <p:bldP spid="23" grpId="0"/>
      <p:bldP spid="24" grpId="0"/>
      <p:bldP spid="27" grpId="0" bldLvl="0" animBg="1"/>
      <p:bldP spid="27" grpId="1" bldLvl="0" animBg="1"/>
      <p:bldP spid="5" grpId="0" bldLvl="0" animBg="1"/>
      <p:bldP spid="5" grpId="1"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nvSpPr>
        <p:spPr>
          <a:xfrm>
            <a:off x="6827441" y="818722"/>
            <a:ext cx="4669234" cy="2464627"/>
          </a:xfrm>
          <a:custGeom>
            <a:avLst/>
            <a:gdLst>
              <a:gd name="connsiteX0" fmla="*/ 0 w 4669234"/>
              <a:gd name="connsiteY0" fmla="*/ 0 h 2464627"/>
              <a:gd name="connsiteX1" fmla="*/ 4669234 w 4669234"/>
              <a:gd name="connsiteY1" fmla="*/ 0 h 2464627"/>
              <a:gd name="connsiteX2" fmla="*/ 4669234 w 4669234"/>
              <a:gd name="connsiteY2" fmla="*/ 2464627 h 2464627"/>
              <a:gd name="connsiteX3" fmla="*/ 0 w 4669234"/>
              <a:gd name="connsiteY3" fmla="*/ 2464627 h 2464627"/>
            </a:gdLst>
            <a:ahLst/>
            <a:cxnLst>
              <a:cxn ang="0">
                <a:pos x="connsiteX0" y="connsiteY0"/>
              </a:cxn>
              <a:cxn ang="0">
                <a:pos x="connsiteX1" y="connsiteY1"/>
              </a:cxn>
              <a:cxn ang="0">
                <a:pos x="connsiteX2" y="connsiteY2"/>
              </a:cxn>
              <a:cxn ang="0">
                <a:pos x="connsiteX3" y="connsiteY3"/>
              </a:cxn>
            </a:cxnLst>
            <a:rect l="l" t="t" r="r" b="b"/>
            <a:pathLst>
              <a:path w="4669234" h="2464627">
                <a:moveTo>
                  <a:pt x="0" y="0"/>
                </a:moveTo>
                <a:lnTo>
                  <a:pt x="4669234" y="0"/>
                </a:lnTo>
                <a:lnTo>
                  <a:pt x="4669234" y="2464627"/>
                </a:lnTo>
                <a:lnTo>
                  <a:pt x="0" y="2464627"/>
                </a:lnTo>
                <a:close/>
              </a:path>
            </a:pathLst>
          </a:custGeom>
          <a:solidFill>
            <a:schemeClr val="bg1"/>
          </a:solidFill>
          <a:ln w="50800">
            <a:noFill/>
            <a:miter lim="800000"/>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threshold_analysis_comparison"/>
          <p:cNvPicPr>
            <a:picLocks noChangeAspect="1"/>
          </p:cNvPicPr>
          <p:nvPr/>
        </p:nvPicPr>
        <p:blipFill>
          <a:blip r:embed="rId1"/>
          <a:stretch>
            <a:fillRect/>
          </a:stretch>
        </p:blipFill>
        <p:spPr>
          <a:xfrm>
            <a:off x="219710" y="1211580"/>
            <a:ext cx="11753215" cy="48666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63" presetClass="path" presetSubtype="0" decel="50000" fill="hold" grpId="1" nodeType="withEffect">
                                  <p:stCondLst>
                                    <p:cond delay="0"/>
                                  </p:stCondLst>
                                  <p:childTnLst>
                                    <p:animMotion origin="layout" path="M -0.13633 0.12431 L -2.29167E-6 -4.07407E-6 " pathEditMode="relative" rAng="0" ptsTypes="AA">
                                      <p:cBhvr>
                                        <p:cTn id="9" dur="1000" fill="hold"/>
                                        <p:tgtEl>
                                          <p:spTgt spid="11"/>
                                        </p:tgtEl>
                                        <p:attrNameLst>
                                          <p:attrName>ppt_x</p:attrName>
                                          <p:attrName>ppt_y</p:attrName>
                                        </p:attrNameLst>
                                      </p:cBhvr>
                                      <p:rCtr x="6810" y="-6227"/>
                                    </p:animMotion>
                                  </p:childTnLst>
                                </p:cTn>
                              </p:par>
                              <p:par>
                                <p:cTn id="10" presetID="6" presetClass="emph" presetSubtype="0" decel="50000" fill="hold" grpId="2" nodeType="withEffect">
                                  <p:stCondLst>
                                    <p:cond delay="0"/>
                                  </p:stCondLst>
                                  <p:childTnLst>
                                    <p:animScale>
                                      <p:cBhvr>
                                        <p:cTn id="11" dur="1000" fill="hold"/>
                                        <p:tgtEl>
                                          <p:spTgt spid="11"/>
                                        </p:tgtEl>
                                      </p:cBhvr>
                                      <p:by x="150000" y="150000"/>
                                      <p:from x="133219" y="164652"/>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bldLvl="0" animBg="1"/>
      <p:bldP spid="11" grpId="2"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hidden="1"/>
          <p:cNvPicPr>
            <a:picLocks noChangeAspect="1"/>
          </p:cNvPicPr>
          <p:nvPr/>
        </p:nvPicPr>
        <p:blipFill>
          <a:blip r:embed="rId1" cstate="screen"/>
          <a:stretch>
            <a:fillRect/>
          </a:stretch>
        </p:blipFill>
        <p:spPr>
          <a:xfrm>
            <a:off x="-1" y="2082800"/>
            <a:ext cx="12192002" cy="8161588"/>
          </a:xfrm>
          <a:prstGeom prst="rect">
            <a:avLst/>
          </a:prstGeom>
        </p:spPr>
      </p:pic>
      <p:sp>
        <p:nvSpPr>
          <p:cNvPr id="2" name="矩形 1"/>
          <p:cNvSpPr/>
          <p:nvPr/>
        </p:nvSpPr>
        <p:spPr>
          <a:xfrm>
            <a:off x="3299139" y="1209417"/>
            <a:ext cx="1785559" cy="1785559"/>
          </a:xfrm>
          <a:prstGeom prst="rect">
            <a:avLst/>
          </a:prstGeom>
          <a:blipFill dpi="0" rotWithShape="1">
            <a:blip r:embed="rId2"/>
            <a:srcRect/>
            <a:tile tx="0" ty="0" sx="100000" sy="100000" flip="none" algn="tl"/>
          </a:blipFill>
          <a:ln>
            <a:noFill/>
          </a:ln>
          <a:effectLst>
            <a:outerShdw blurRad="457200" dist="279400" dir="2700000" sx="98000" sy="98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71521" y="3863024"/>
            <a:ext cx="1785559" cy="1785559"/>
          </a:xfrm>
          <a:prstGeom prst="rect">
            <a:avLst/>
          </a:prstGeom>
          <a:blipFill dpi="0" rotWithShape="1">
            <a:blip r:embed="rId2"/>
            <a:srcRect/>
            <a:tile tx="0" ty="0" sx="100000" sy="100000" flip="none" algn="tl"/>
          </a:blipFill>
          <a:ln>
            <a:noFill/>
          </a:ln>
          <a:effectLst>
            <a:outerShdw blurRad="457200" dist="279400" dir="2700000" sx="98000" sy="98000" algn="tl" rotWithShape="0">
              <a:schemeClr val="bg1">
                <a:lumMod val="6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2596697" y="3863024"/>
            <a:ext cx="1785559" cy="1785559"/>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631472" y="1209417"/>
            <a:ext cx="1785559" cy="1785559"/>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66806" y="1209417"/>
            <a:ext cx="1785559" cy="1785559"/>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183038" y="3863023"/>
            <a:ext cx="4703391" cy="1785559"/>
          </a:xfrm>
          <a:prstGeom prst="rect">
            <a:avLst/>
          </a:prstGeom>
          <a:solidFill>
            <a:schemeClr val="bg1"/>
          </a:solidFill>
          <a:ln>
            <a:noFill/>
          </a:ln>
          <a:effectLst>
            <a:outerShdw blurRad="596900" dist="342900" dir="2700000" algn="tl" rotWithShape="0">
              <a:schemeClr val="tx1">
                <a:lumMod val="75000"/>
                <a:lumOff val="2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 </a:t>
            </a:r>
            <a:endParaRPr lang="zh-CN" altLang="en-US" dirty="0"/>
          </a:p>
        </p:txBody>
      </p:sp>
      <p:cxnSp>
        <p:nvCxnSpPr>
          <p:cNvPr id="27" name="直接连接符 26"/>
          <p:cNvCxnSpPr/>
          <p:nvPr/>
        </p:nvCxnSpPr>
        <p:spPr>
          <a:xfrm>
            <a:off x="10961447" y="3643309"/>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183002" y="4358057"/>
            <a:ext cx="4957832" cy="1290320"/>
          </a:xfrm>
          <a:prstGeom prst="rect">
            <a:avLst/>
          </a:prstGeom>
        </p:spPr>
        <p:txBody>
          <a:bodyPr wrap="square">
            <a:spAutoFit/>
          </a:bodyPr>
          <a:lstStyle/>
          <a:p>
            <a:pPr>
              <a:lnSpc>
                <a:spcPct val="130000"/>
              </a:lnSpc>
            </a:pPr>
            <a:r>
              <a:rPr lang="en-US" altLang="zh-CN" sz="1200" dirty="0">
                <a:solidFill>
                  <a:schemeClr val="tx1">
                    <a:lumMod val="50000"/>
                    <a:lumOff val="50000"/>
                  </a:schemeClr>
                </a:solidFill>
              </a:rPr>
              <a:t>• Validation performance becomes more stable with more training data.</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Contract type, tenure, and internet service are highly informative.</a:t>
            </a:r>
            <a:endParaRPr lang="en-US" altLang="zh-CN" sz="1200" dirty="0">
              <a:solidFill>
                <a:schemeClr val="tx1">
                  <a:lumMod val="50000"/>
                  <a:lumOff val="50000"/>
                </a:schemeClr>
              </a:solidFill>
            </a:endParaRPr>
          </a:p>
          <a:p>
            <a:pPr>
              <a:lnSpc>
                <a:spcPct val="130000"/>
              </a:lnSpc>
            </a:pPr>
            <a:r>
              <a:rPr lang="en-US" altLang="zh-CN" sz="1200" dirty="0">
                <a:solidFill>
                  <a:schemeClr val="tx1">
                    <a:lumMod val="50000"/>
                    <a:lumOff val="50000"/>
                  </a:schemeClr>
                </a:solidFill>
              </a:rPr>
              <a:t>• Interpretability analysis reveals practical churn drivers.</a:t>
            </a:r>
            <a:endParaRPr lang="en-US" altLang="zh-CN" sz="1200" dirty="0">
              <a:solidFill>
                <a:schemeClr val="tx1">
                  <a:lumMod val="50000"/>
                  <a:lumOff val="50000"/>
                </a:schemeClr>
              </a:solidFill>
            </a:endParaRPr>
          </a:p>
        </p:txBody>
      </p:sp>
      <p:sp>
        <p:nvSpPr>
          <p:cNvPr id="36" name="矩形 35" descr="e7d195523061f1c0d3ba7f298e59d031c9c3f97027ed136f882110EF8F17BAD1F2C348D17C7856EF46CB4678CC9E44EE1ABA681E3133328A7B4D22AAF822B2429426B2355AA8CC4431B8568D2CF3B73AD4C547D4CDEA1609D165215A3CD52DCB23F0C3918FF78AC072214CC8F17660CBA040B5CEDFE54D6D1D099C80488DBF2AAA75BD30891A344B"/>
          <p:cNvSpPr/>
          <p:nvPr/>
        </p:nvSpPr>
        <p:spPr>
          <a:xfrm>
            <a:off x="2177922" y="3863498"/>
            <a:ext cx="4027805" cy="810260"/>
          </a:xfrm>
          <a:prstGeom prst="rect">
            <a:avLst/>
          </a:prstGeom>
        </p:spPr>
        <p:txBody>
          <a:bodyPr wrap="none">
            <a:spAutoFit/>
          </a:bodyPr>
          <a:lstStyle/>
          <a:p>
            <a:pPr algn="l">
              <a:lnSpc>
                <a:spcPct val="130000"/>
              </a:lnSpc>
            </a:pPr>
            <a:r>
              <a:rPr lang="en-US" altLang="zh-CN" dirty="0">
                <a:gradFill flip="none" rotWithShape="1">
                  <a:gsLst>
                    <a:gs pos="51000">
                      <a:schemeClr val="accent1"/>
                    </a:gs>
                    <a:gs pos="100000">
                      <a:schemeClr val="accent1">
                        <a:lumMod val="60000"/>
                        <a:lumOff val="40000"/>
                      </a:schemeClr>
                    </a:gs>
                  </a:gsLst>
                  <a:lin ang="0" scaled="1"/>
                  <a:tileRect/>
                </a:gradFill>
                <a:latin typeface="+mj-lt"/>
              </a:rPr>
              <a:t>Learning Curves and Interpretation</a:t>
            </a:r>
            <a:endParaRPr lang="en-US" altLang="zh-CN" dirty="0">
              <a:gradFill flip="none" rotWithShape="1">
                <a:gsLst>
                  <a:gs pos="51000">
                    <a:schemeClr val="accent1"/>
                  </a:gs>
                  <a:gs pos="100000">
                    <a:schemeClr val="accent1">
                      <a:lumMod val="60000"/>
                      <a:lumOff val="40000"/>
                    </a:schemeClr>
                  </a:gs>
                </a:gsLst>
                <a:lin ang="0" scaled="1"/>
                <a:tileRect/>
              </a:gradFill>
              <a:latin typeface="+mj-lt"/>
            </a:endParaRPr>
          </a:p>
          <a:p>
            <a:pPr>
              <a:lnSpc>
                <a:spcPct val="130000"/>
              </a:lnSpc>
            </a:pPr>
            <a:endParaRPr lang="en-US" altLang="zh-CN" dirty="0">
              <a:gradFill flip="none" rotWithShape="1">
                <a:gsLst>
                  <a:gs pos="51000">
                    <a:schemeClr val="accent1"/>
                  </a:gs>
                  <a:gs pos="100000">
                    <a:schemeClr val="accent1">
                      <a:lumMod val="60000"/>
                      <a:lumOff val="40000"/>
                    </a:schemeClr>
                  </a:gs>
                </a:gsLst>
                <a:lin ang="0" scaled="1"/>
                <a:tileRect/>
              </a:gradFill>
              <a:latin typeface="+mj-lt"/>
            </a:endParaRPr>
          </a:p>
        </p:txBody>
      </p:sp>
      <p:pic>
        <p:nvPicPr>
          <p:cNvPr id="6" name="图片 5" descr="learning_curves"/>
          <p:cNvPicPr>
            <a:picLocks noChangeAspect="1"/>
          </p:cNvPicPr>
          <p:nvPr/>
        </p:nvPicPr>
        <p:blipFill>
          <a:blip r:embed="rId3"/>
          <a:stretch>
            <a:fillRect/>
          </a:stretch>
        </p:blipFill>
        <p:spPr>
          <a:xfrm>
            <a:off x="1217747" y="441231"/>
            <a:ext cx="9481999" cy="33219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childTnLst>
                                </p:cTn>
                              </p:par>
                              <p:par>
                                <p:cTn id="8" presetID="63" presetClass="path" presetSubtype="0" decel="42000" fill="hold" grpId="1" nodeType="withEffect">
                                  <p:stCondLst>
                                    <p:cond delay="0"/>
                                  </p:stCondLst>
                                  <p:childTnLst>
                                    <p:animMotion origin="layout" path="M 0.190136 0.193468 L 0 0 E" pathEditMode="relative" ptsTypes="">
                                      <p:cBhvr>
                                        <p:cTn id="9" dur="1000" fill="hold"/>
                                        <p:tgtEl>
                                          <p:spTgt spid="25"/>
                                        </p:tgtEl>
                                        <p:attrNameLst>
                                          <p:attrName>ppt_x</p:attrName>
                                          <p:attrName>ppt_y</p:attrName>
                                        </p:attrNameLst>
                                      </p:cBhvr>
                                    </p:animMotion>
                                  </p:childTnLst>
                                </p:cTn>
                              </p:par>
                              <p:par>
                                <p:cTn id="10" presetID="6" presetClass="emph" presetSubtype="0" decel="42000" fill="hold" grpId="2" nodeType="withEffect">
                                  <p:stCondLst>
                                    <p:cond delay="0"/>
                                  </p:stCondLst>
                                  <p:childTnLst>
                                    <p:animScale>
                                      <p:cBhvr>
                                        <p:cTn id="11" dur="1000" fill="hold"/>
                                        <p:tgtEl>
                                          <p:spTgt spid="25"/>
                                        </p:tgtEl>
                                      </p:cBhvr>
                                      <p:by x="150000" y="150000"/>
                                      <p:from x="47719" y="47719"/>
                                      <p:to x="100000" y="100000"/>
                                    </p:animScale>
                                  </p:childTnLst>
                                </p:cTn>
                              </p:par>
                              <p:par>
                                <p:cTn id="12" presetID="10"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childTnLst>
                                </p:cTn>
                              </p:par>
                              <p:par>
                                <p:cTn id="15" presetID="63" presetClass="path" presetSubtype="0" decel="42000" fill="hold" grpId="1" nodeType="withEffect">
                                  <p:stCondLst>
                                    <p:cond delay="0"/>
                                  </p:stCondLst>
                                  <p:childTnLst>
                                    <p:animMotion origin="layout" path="M 0.00052 0.19722 L 5.55112E-17 -1.48148E-6 " pathEditMode="relative" rAng="0" ptsTypes="AA">
                                      <p:cBhvr>
                                        <p:cTn id="16" dur="1000" fill="hold"/>
                                        <p:tgtEl>
                                          <p:spTgt spid="2"/>
                                        </p:tgtEl>
                                        <p:attrNameLst>
                                          <p:attrName>ppt_x</p:attrName>
                                          <p:attrName>ppt_y</p:attrName>
                                        </p:attrNameLst>
                                      </p:cBhvr>
                                      <p:rCtr x="-26" y="-9861"/>
                                    </p:animMotion>
                                  </p:childTnLst>
                                </p:cTn>
                              </p:par>
                              <p:par>
                                <p:cTn id="17" presetID="6" presetClass="emph" presetSubtype="0" decel="42000" fill="hold" grpId="2" nodeType="withEffect">
                                  <p:stCondLst>
                                    <p:cond delay="0"/>
                                  </p:stCondLst>
                                  <p:childTnLst>
                                    <p:animScale>
                                      <p:cBhvr>
                                        <p:cTn id="18" dur="1000" fill="hold"/>
                                        <p:tgtEl>
                                          <p:spTgt spid="2"/>
                                        </p:tgtEl>
                                      </p:cBhvr>
                                      <p:by x="150000" y="150000"/>
                                      <p:from x="47719" y="47719"/>
                                      <p:to x="100000" y="100000"/>
                                    </p:animScale>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childTnLst>
                                </p:cTn>
                              </p:par>
                              <p:par>
                                <p:cTn id="22" presetID="63" presetClass="path" presetSubtype="0" decel="42000" fill="hold" grpId="1" nodeType="withEffect">
                                  <p:stCondLst>
                                    <p:cond delay="0"/>
                                  </p:stCondLst>
                                  <p:childTnLst>
                                    <p:animMotion origin="layout" path="M -0.19128 0.19259 L 3.95833E-6 -1.48148E-6 " pathEditMode="relative" rAng="0" ptsTypes="AA">
                                      <p:cBhvr>
                                        <p:cTn id="23" dur="1000" fill="hold"/>
                                        <p:tgtEl>
                                          <p:spTgt spid="24"/>
                                        </p:tgtEl>
                                        <p:attrNameLst>
                                          <p:attrName>ppt_x</p:attrName>
                                          <p:attrName>ppt_y</p:attrName>
                                        </p:attrNameLst>
                                      </p:cBhvr>
                                      <p:rCtr x="9557" y="-9630"/>
                                    </p:animMotion>
                                  </p:childTnLst>
                                </p:cTn>
                              </p:par>
                              <p:par>
                                <p:cTn id="24" presetID="6" presetClass="emph" presetSubtype="0" decel="42000" fill="hold" grpId="2" nodeType="withEffect">
                                  <p:stCondLst>
                                    <p:cond delay="0"/>
                                  </p:stCondLst>
                                  <p:childTnLst>
                                    <p:animScale>
                                      <p:cBhvr>
                                        <p:cTn id="25" dur="1000" fill="hold"/>
                                        <p:tgtEl>
                                          <p:spTgt spid="24"/>
                                        </p:tgtEl>
                                      </p:cBhvr>
                                      <p:by x="150000" y="150000"/>
                                      <p:from x="47719" y="47719"/>
                                      <p:to x="100000" y="100000"/>
                                    </p:animScale>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childTnLst>
                                </p:cTn>
                              </p:par>
                              <p:par>
                                <p:cTn id="29" presetID="63" presetClass="path" presetSubtype="0" decel="42000" fill="hold" grpId="1" nodeType="withEffect">
                                  <p:stCondLst>
                                    <p:cond delay="0"/>
                                  </p:stCondLst>
                                  <p:childTnLst>
                                    <p:animMotion origin="layout" path="M 0.00026 -0.19329 L 4.16667E-7 2.96296E-6 " pathEditMode="relative" rAng="0" ptsTypes="AA">
                                      <p:cBhvr>
                                        <p:cTn id="30" dur="1000" fill="hold"/>
                                        <p:tgtEl>
                                          <p:spTgt spid="22"/>
                                        </p:tgtEl>
                                        <p:attrNameLst>
                                          <p:attrName>ppt_x</p:attrName>
                                          <p:attrName>ppt_y</p:attrName>
                                        </p:attrNameLst>
                                      </p:cBhvr>
                                      <p:rCtr x="-13" y="9653"/>
                                    </p:animMotion>
                                  </p:childTnLst>
                                </p:cTn>
                              </p:par>
                              <p:par>
                                <p:cTn id="31" presetID="6" presetClass="emph" presetSubtype="0" decel="42000" fill="hold" grpId="2" nodeType="withEffect">
                                  <p:stCondLst>
                                    <p:cond delay="0"/>
                                  </p:stCondLst>
                                  <p:childTnLst>
                                    <p:animScale>
                                      <p:cBhvr>
                                        <p:cTn id="32" dur="1000" fill="hold"/>
                                        <p:tgtEl>
                                          <p:spTgt spid="22"/>
                                        </p:tgtEl>
                                      </p:cBhvr>
                                      <p:by x="150000" y="150000"/>
                                      <p:from x="47719" y="47719"/>
                                      <p:to x="100000" y="100000"/>
                                    </p:animScale>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childTnLst>
                                </p:cTn>
                              </p:par>
                              <p:par>
                                <p:cTn id="36" presetID="63" presetClass="path" presetSubtype="0" decel="42000" fill="hold" grpId="1" nodeType="withEffect">
                                  <p:stCondLst>
                                    <p:cond delay="0"/>
                                  </p:stCondLst>
                                  <p:childTnLst>
                                    <p:animMotion origin="layout" path="M 0.19141 -0.19329 L -2.91667E-6 2.96296E-6 " pathEditMode="relative" rAng="0" ptsTypes="AA">
                                      <p:cBhvr>
                                        <p:cTn id="37" dur="1000" fill="hold"/>
                                        <p:tgtEl>
                                          <p:spTgt spid="23"/>
                                        </p:tgtEl>
                                        <p:attrNameLst>
                                          <p:attrName>ppt_x</p:attrName>
                                          <p:attrName>ppt_y</p:attrName>
                                        </p:attrNameLst>
                                      </p:cBhvr>
                                      <p:rCtr x="-9570" y="9653"/>
                                    </p:animMotion>
                                  </p:childTnLst>
                                </p:cTn>
                              </p:par>
                              <p:par>
                                <p:cTn id="38" presetID="6" presetClass="emph" presetSubtype="0" decel="42000" fill="hold" grpId="2" nodeType="withEffect">
                                  <p:stCondLst>
                                    <p:cond delay="0"/>
                                  </p:stCondLst>
                                  <p:childTnLst>
                                    <p:animScale>
                                      <p:cBhvr>
                                        <p:cTn id="39" dur="1000" fill="hold"/>
                                        <p:tgtEl>
                                          <p:spTgt spid="23"/>
                                        </p:tgtEl>
                                      </p:cBhvr>
                                      <p:by x="150000" y="150000"/>
                                      <p:from x="47719" y="47719"/>
                                      <p:to x="100000" y="100000"/>
                                    </p:animScale>
                                  </p:childTnLst>
                                </p:cTn>
                              </p:par>
                              <p:par>
                                <p:cTn id="40" presetID="22" presetClass="entr" presetSubtype="8"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1500"/>
                                        <p:tgtEl>
                                          <p:spTgt spid="27"/>
                                        </p:tgtEl>
                                      </p:cBhvr>
                                    </p:animEffect>
                                  </p:childTnLst>
                                </p:cTn>
                              </p:par>
                              <p:par>
                                <p:cTn id="43" presetID="63" presetClass="path" presetSubtype="0" decel="50000" fill="hold" nodeType="withEffect">
                                  <p:stCondLst>
                                    <p:cond delay="0"/>
                                  </p:stCondLst>
                                  <p:childTnLst>
                                    <p:animMotion origin="layout" path="M 0.01523 3.7037E-7 L -0.10885 3.7037E-7 " pathEditMode="relative" rAng="0" ptsTypes="AA">
                                      <p:cBhvr>
                                        <p:cTn id="44" dur="750" spd="-100000" fill="hold"/>
                                        <p:tgtEl>
                                          <p:spTgt spid="27"/>
                                        </p:tgtEl>
                                        <p:attrNameLst>
                                          <p:attrName>ppt_x</p:attrName>
                                          <p:attrName>ppt_y</p:attrName>
                                        </p:attrNameLst>
                                      </p:cBhvr>
                                      <p:rCtr x="-6211" y="0"/>
                                    </p:animMotion>
                                  </p:childTnLst>
                                </p:cTn>
                              </p:par>
                              <p:par>
                                <p:cTn id="45" presetID="35" presetClass="path" presetSubtype="0" accel="50000" decel="50000" fill="hold" nodeType="withEffect">
                                  <p:stCondLst>
                                    <p:cond delay="750"/>
                                  </p:stCondLst>
                                  <p:childTnLst>
                                    <p:animMotion origin="layout" path="M 0.01601 3.7037E-7 L 8.33333E-7 3.7037E-7 " pathEditMode="relative" rAng="0" ptsTypes="AA">
                                      <p:cBhvr>
                                        <p:cTn id="46" dur="750" fill="hold"/>
                                        <p:tgtEl>
                                          <p:spTgt spid="27"/>
                                        </p:tgtEl>
                                        <p:attrNameLst>
                                          <p:attrName>ppt_x</p:attrName>
                                          <p:attrName>ppt_y</p:attrName>
                                        </p:attrNameLst>
                                      </p:cBhvr>
                                      <p:rCtr x="-807" y="0"/>
                                    </p:animMotion>
                                  </p:childTnLst>
                                </p:cTn>
                              </p:par>
                              <p:par>
                                <p:cTn id="47" presetID="10"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animEffect transition="in" filter="fade">
                                      <p:cBhvr>
                                        <p:cTn id="49" dur="750"/>
                                        <p:tgtEl>
                                          <p:spTgt spid="3"/>
                                        </p:tgtEl>
                                      </p:cBhvr>
                                    </p:animEffect>
                                  </p:childTnLst>
                                </p:cTn>
                              </p:par>
                              <p:par>
                                <p:cTn id="50" presetID="63" presetClass="path" presetSubtype="0" decel="50000" fill="hold" grpId="1" nodeType="withEffect">
                                  <p:stCondLst>
                                    <p:cond delay="0"/>
                                  </p:stCondLst>
                                  <p:childTnLst>
                                    <p:animMotion origin="layout" path="M -0.01563 -3.7037E-6 L 0.1108 -3.7037E-6 " pathEditMode="relative" rAng="0" ptsTypes="AA">
                                      <p:cBhvr>
                                        <p:cTn id="51" dur="750" spd="-100000" fill="hold"/>
                                        <p:tgtEl>
                                          <p:spTgt spid="3"/>
                                        </p:tgtEl>
                                        <p:attrNameLst>
                                          <p:attrName>ppt_x</p:attrName>
                                          <p:attrName>ppt_y</p:attrName>
                                        </p:attrNameLst>
                                      </p:cBhvr>
                                      <p:rCtr x="6315" y="0"/>
                                    </p:animMotion>
                                  </p:childTnLst>
                                </p:cTn>
                              </p:par>
                              <p:par>
                                <p:cTn id="52" presetID="35" presetClass="path" presetSubtype="0" accel="50000" decel="50000" fill="hold" grpId="2" nodeType="withEffect">
                                  <p:stCondLst>
                                    <p:cond delay="750"/>
                                  </p:stCondLst>
                                  <p:childTnLst>
                                    <p:animMotion origin="layout" path="M -0.01563 -3.7037E-6 L 3.33333E-6 -3.7037E-6 " pathEditMode="relative" rAng="0" ptsTypes="AA">
                                      <p:cBhvr>
                                        <p:cTn id="53" dur="750" fill="hold"/>
                                        <p:tgtEl>
                                          <p:spTgt spid="3"/>
                                        </p:tgtEl>
                                        <p:attrNameLst>
                                          <p:attrName>ppt_x</p:attrName>
                                          <p:attrName>ppt_y</p:attrName>
                                        </p:attrNameLst>
                                      </p:cBhvr>
                                      <p:rCtr x="781" y="0"/>
                                    </p:animMotion>
                                  </p:childTnLst>
                                </p:cTn>
                              </p:par>
                              <p:par>
                                <p:cTn id="54" presetID="22" presetClass="entr" presetSubtype="8" fill="hold" grpId="0" nodeType="withEffect">
                                  <p:stCondLst>
                                    <p:cond delay="1250"/>
                                  </p:stCondLst>
                                  <p:childTnLst>
                                    <p:set>
                                      <p:cBhvr>
                                        <p:cTn id="55" dur="1" fill="hold">
                                          <p:stCondLst>
                                            <p:cond delay="0"/>
                                          </p:stCondLst>
                                        </p:cTn>
                                        <p:tgtEl>
                                          <p:spTgt spid="36"/>
                                        </p:tgtEl>
                                        <p:attrNameLst>
                                          <p:attrName>style.visibility</p:attrName>
                                        </p:attrNameLst>
                                      </p:cBhvr>
                                      <p:to>
                                        <p:strVal val="visible"/>
                                      </p:to>
                                    </p:set>
                                    <p:animEffect transition="in" filter="wipe(left)">
                                      <p:cBhvr>
                                        <p:cTn id="56" dur="750"/>
                                        <p:tgtEl>
                                          <p:spTgt spid="36"/>
                                        </p:tgtEl>
                                      </p:cBhvr>
                                    </p:animEffect>
                                  </p:childTnLst>
                                </p:cTn>
                              </p:par>
                              <p:par>
                                <p:cTn id="57" presetID="10" presetClass="entr" presetSubtype="0" fill="hold" grpId="0" nodeType="withEffect">
                                  <p:stCondLst>
                                    <p:cond delay="150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7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P spid="2" grpId="2" bldLvl="0" animBg="1"/>
      <p:bldP spid="23" grpId="0" bldLvl="0" animBg="1"/>
      <p:bldP spid="23" grpId="1" bldLvl="0" animBg="1"/>
      <p:bldP spid="23" grpId="2" bldLvl="0" animBg="1"/>
      <p:bldP spid="22" grpId="0" bldLvl="0" animBg="1"/>
      <p:bldP spid="22" grpId="1" bldLvl="0" animBg="1"/>
      <p:bldP spid="22" grpId="2" bldLvl="0" animBg="1"/>
      <p:bldP spid="24" grpId="0" bldLvl="0" animBg="1"/>
      <p:bldP spid="24" grpId="1" bldLvl="0" animBg="1"/>
      <p:bldP spid="24" grpId="2" bldLvl="0" animBg="1"/>
      <p:bldP spid="25" grpId="0" bldLvl="0" animBg="1"/>
      <p:bldP spid="25" grpId="1" bldLvl="0" animBg="1"/>
      <p:bldP spid="25" grpId="2" bldLvl="0" animBg="1"/>
      <p:bldP spid="3" grpId="0" bldLvl="0" animBg="1"/>
      <p:bldP spid="3" grpId="1" bldLvl="0" animBg="1"/>
      <p:bldP spid="3" grpId="2" bldLvl="0" animBg="1"/>
      <p:bldP spid="35" grpId="0"/>
      <p:bldP spid="3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3868" y="711200"/>
            <a:ext cx="2844800" cy="54483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3" name="AutoShape 3"/>
          <p:cNvSpPr/>
          <p:nvPr/>
        </p:nvSpPr>
        <p:spPr>
          <a:xfrm>
            <a:off x="-2133600" y="7112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4" name="AutoShape 4"/>
          <p:cNvSpPr/>
          <p:nvPr/>
        </p:nvSpPr>
        <p:spPr>
          <a:xfrm>
            <a:off x="7112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5" name="AutoShape 5"/>
          <p:cNvSpPr/>
          <p:nvPr/>
        </p:nvSpPr>
        <p:spPr>
          <a:xfrm>
            <a:off x="-2133600" y="-4737100"/>
            <a:ext cx="2844800" cy="5448300"/>
          </a:xfrm>
          <a:prstGeom prst="roundRect">
            <a:avLst>
              <a:gd name="adj" fmla="val 0"/>
            </a:avLst>
          </a:prstGeom>
          <a:no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cxnSp>
        <p:nvCxnSpPr>
          <p:cNvPr id="6" name="Connector 6"/>
          <p:cNvCxnSpPr/>
          <p:nvPr/>
        </p:nvCxnSpPr>
        <p:spPr>
          <a:xfrm>
            <a:off x="876300" y="1574800"/>
            <a:ext cx="2514632" cy="12700"/>
          </a:xfrm>
          <a:prstGeom prst="line">
            <a:avLst/>
          </a:prstGeom>
          <a:solidFill>
            <a:srgbClr val="DEE0E3">
              <a:alpha val="100000"/>
            </a:srgbClr>
          </a:solidFill>
          <a:ln w="12700" cap="rnd" cmpd="sng">
            <a:gradFill rotWithShape="1">
              <a:gsLst>
                <a:gs pos="0">
                  <a:srgbClr val="D7DCE7">
                    <a:alpha val="53000"/>
                  </a:srgbClr>
                </a:gs>
                <a:gs pos="50000">
                  <a:srgbClr val="D7DCE7">
                    <a:alpha val="100000"/>
                  </a:srgbClr>
                </a:gs>
                <a:gs pos="100000">
                  <a:srgbClr val="D7DCE7">
                    <a:alpha val="53000"/>
                  </a:srgbClr>
                </a:gs>
              </a:gsLst>
              <a:lin ang="0"/>
            </a:gradFill>
            <a:prstDash val="solid"/>
            <a:miter lim="10000000"/>
            <a:headEnd type="none" w="med" len="med"/>
            <a:tailEnd type="none" w="med" len="med"/>
          </a:ln>
        </p:spPr>
      </p:cxnSp>
      <p:sp>
        <p:nvSpPr>
          <p:cNvPr id="7" name="AutoShape 7"/>
          <p:cNvSpPr/>
          <p:nvPr/>
        </p:nvSpPr>
        <p:spPr>
          <a:xfrm>
            <a:off x="1181100" y="2095500"/>
            <a:ext cx="1905000" cy="26797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9600" b="1" i="0" u="none" strike="noStrike" kern="1200" cap="none" spc="0" normalizeH="0" baseline="0" noProof="0" dirty="0">
                <a:ln>
                  <a:noFill/>
                </a:ln>
                <a:solidFill>
                  <a:srgbClr val="485575"/>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06</a:t>
            </a: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8" name="AutoShape 8"/>
          <p:cNvSpPr/>
          <p:nvPr/>
        </p:nvSpPr>
        <p:spPr>
          <a:xfrm>
            <a:off x="18288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9" name="AutoShape 9"/>
          <p:cNvSpPr/>
          <p:nvPr/>
        </p:nvSpPr>
        <p:spPr>
          <a:xfrm>
            <a:off x="2082800" y="5232400"/>
            <a:ext cx="101600" cy="101600"/>
          </a:xfrm>
          <a:prstGeom prst="ellipse">
            <a:avLst/>
          </a:prstGeom>
          <a:solidFill>
            <a:srgbClr val="8895B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0" name="AutoShape 10"/>
          <p:cNvSpPr/>
          <p:nvPr/>
        </p:nvSpPr>
        <p:spPr>
          <a:xfrm>
            <a:off x="2324100" y="5232400"/>
            <a:ext cx="101600" cy="101600"/>
          </a:xfrm>
          <a:prstGeom prst="ellipse">
            <a:avLst/>
          </a:prstGeom>
          <a:solidFill>
            <a:srgbClr val="D7DCE7">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1" name="AutoShape 11"/>
          <p:cNvSpPr/>
          <p:nvPr/>
        </p:nvSpPr>
        <p:spPr>
          <a:xfrm>
            <a:off x="3771932" y="1231900"/>
            <a:ext cx="7696200" cy="4927600"/>
          </a:xfrm>
          <a:prstGeom prst="roundRect">
            <a:avLst>
              <a:gd name="adj" fmla="val 0"/>
            </a:avLst>
          </a:prstGeom>
          <a:solidFill>
            <a:srgbClr val="FFFFFF">
              <a:alpha val="100000"/>
            </a:srgbClr>
          </a:solid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2" name="AutoShape 12"/>
          <p:cNvSpPr/>
          <p:nvPr/>
        </p:nvSpPr>
        <p:spPr>
          <a:xfrm>
            <a:off x="11493500" y="7112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3" name="AutoShape 13"/>
          <p:cNvSpPr/>
          <p:nvPr/>
        </p:nvSpPr>
        <p:spPr>
          <a:xfrm>
            <a:off x="37973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4" name="AutoShape 14"/>
          <p:cNvSpPr/>
          <p:nvPr/>
        </p:nvSpPr>
        <p:spPr>
          <a:xfrm>
            <a:off x="11493500" y="5626100"/>
            <a:ext cx="7696200" cy="4927600"/>
          </a:xfrm>
          <a:prstGeom prst="roundRect">
            <a:avLst>
              <a:gd name="adj" fmla="val 0"/>
            </a:avLst>
          </a:prstGeom>
          <a:noFill/>
          <a:ln w="25400" cap="flat" cmpd="sng">
            <a:noFill/>
            <a:prstDash val="solid"/>
            <a:round/>
          </a:ln>
          <a:effectLst>
            <a:outerShdw blurRad="660400" dist="393700" dir="2700000" algn="tl" rotWithShape="0">
              <a:srgbClr val="404040">
                <a:alpha val="11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7" name="AutoShape 17"/>
          <p:cNvSpPr/>
          <p:nvPr/>
        </p:nvSpPr>
        <p:spPr>
          <a:xfrm>
            <a:off x="4152900" y="3155950"/>
            <a:ext cx="6413500" cy="16891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17000"/>
              </a:lnSpc>
              <a:spcBef>
                <a:spcPts val="0"/>
              </a:spcBef>
              <a:spcAft>
                <a:spcPts val="0"/>
              </a:spcAft>
              <a:buClrTx/>
              <a:buSzTx/>
              <a:buFontTx/>
              <a:buNone/>
              <a:defRPr/>
            </a:pPr>
            <a:endParaRPr kumimoji="0" lang="en-US" sz="1100" b="0" i="0" u="none" strike="noStrike" kern="1200" cap="none" spc="0" normalizeH="0" baseline="0" noProof="0" dirty="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8" name="AutoShape 18"/>
          <p:cNvSpPr/>
          <p:nvPr/>
        </p:nvSpPr>
        <p:spPr>
          <a:xfrm>
            <a:off x="4241800" y="4178300"/>
            <a:ext cx="57023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marR="0" lvl="0" indent="0" algn="l" defTabSz="914400" rtl="0" eaLnBrk="1" fontAlgn="auto" latinLnBrk="0" hangingPunct="1">
              <a:lnSpc>
                <a:spcPct val="133000"/>
              </a:lnSpc>
              <a:spcBef>
                <a:spcPts val="0"/>
              </a:spcBef>
              <a:spcAft>
                <a:spcPts val="0"/>
              </a:spcAft>
              <a:buClrTx/>
              <a:buSzTx/>
              <a:buFontTx/>
              <a:buNone/>
              <a:defRPr/>
            </a:pPr>
            <a:r>
              <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rPr>
              <a:t>Cao Yi</a:t>
            </a:r>
            <a:r>
              <a:rPr lang="en-US" sz="2400" b="1" dirty="0" err="1">
                <a:solidFill>
                  <a:srgbClr val="485575">
                    <a:lumMod val="75000"/>
                  </a:srgbClr>
                </a:solidFill>
                <a:latin typeface="华文细黑" panose="02010600040101010101" charset="-122"/>
                <a:ea typeface="华文细黑" panose="02010600040101010101" charset="-122"/>
              </a:rPr>
              <a:t>qian</a:t>
            </a:r>
            <a:endParaRPr kumimoji="0" lang="en-US" sz="2400" b="1" i="0" u="none" strike="noStrike" kern="1200" cap="none" spc="0" normalizeH="0" baseline="0" noProof="0" dirty="0">
              <a:ln>
                <a:noFill/>
              </a:ln>
              <a:solidFill>
                <a:srgbClr val="485575">
                  <a:lumMod val="75000"/>
                </a:srgbClr>
              </a:solidFill>
              <a:effectLst/>
              <a:uLnTx/>
              <a:uFillTx/>
              <a:latin typeface="华文细黑" panose="02010600040101010101" charset="-122"/>
              <a:ea typeface="华文细黑" panose="02010600040101010101" charset="-122"/>
              <a:cs typeface="+mn-cs"/>
            </a:endParaRPr>
          </a:p>
        </p:txBody>
      </p:sp>
      <p:sp>
        <p:nvSpPr>
          <p:cNvPr id="19" name="AutoShape 19"/>
          <p:cNvSpPr/>
          <p:nvPr/>
        </p:nvSpPr>
        <p:spPr>
          <a:xfrm>
            <a:off x="4419632" y="673100"/>
            <a:ext cx="5511800" cy="838200"/>
          </a:xfrm>
          <a:prstGeom prst="roundRect">
            <a:avLst>
              <a:gd name="adj" fmla="val 0"/>
            </a:avLst>
          </a:prstGeom>
          <a:blipFill rotWithShape="1">
            <a:blip r:embed="rId1"/>
            <a:tile tx="0" ty="0" sx="100000" sy="100000" flip="none" algn="tl"/>
          </a:blip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0" name="AutoShape 20"/>
          <p:cNvSpPr/>
          <p:nvPr/>
        </p:nvSpPr>
        <p:spPr>
          <a:xfrm>
            <a:off x="4419632" y="1511300"/>
            <a:ext cx="5511800" cy="101600"/>
          </a:xfrm>
          <a:prstGeom prst="roundRect">
            <a:avLst>
              <a:gd name="adj" fmla="val 0"/>
            </a:avLst>
          </a:prstGeom>
          <a:solidFill>
            <a:srgbClr val="F2D4AA">
              <a:alpha val="100000"/>
            </a:srgbClr>
          </a:solidFill>
          <a:ln w="25400" cap="flat" cmpd="sng">
            <a:noFill/>
            <a:prstDash val="solid"/>
            <a:round/>
          </a:ln>
          <a:effectLst>
            <a:outerShdw blurRad="419100" dist="279400" dir="2700000" sx="98000" sy="98000" algn="tl" rotWithShape="0">
              <a:srgbClr val="808080">
                <a:alpha val="33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21" name="AutoShape 21"/>
          <p:cNvSpPr/>
          <p:nvPr/>
        </p:nvSpPr>
        <p:spPr>
          <a:xfrm>
            <a:off x="4508532" y="698500"/>
            <a:ext cx="5537200" cy="711200"/>
          </a:xfrm>
          <a:prstGeom prst="rect">
            <a:avLst/>
          </a:prstGeom>
          <a:noFill/>
          <a:ln w="12700" cap="flat" cmpd="sng">
            <a:noFill/>
            <a:prstDash val="solid"/>
            <a:round/>
          </a:ln>
        </p:spPr>
        <p:txBody>
          <a:bodyPr vert="horz" wrap="square" lIns="88900" tIns="50800" rIns="88900" bIns="508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w="12700">
                  <a:solidFill>
                    <a:srgbClr val="FFFFFF">
                      <a:alpha val="100000"/>
                    </a:srgbClr>
                  </a:solidFill>
                </a:ln>
                <a:solidFill>
                  <a:srgbClr val="FFFFFF"/>
                </a:solidFill>
                <a:effectLst/>
                <a:uLnTx/>
                <a:uFillTx/>
                <a:latin typeface="华文细黑" panose="02010600040101010101" charset="-122"/>
                <a:ea typeface="华文细黑" panose="02010600040101010101" charset="-122"/>
                <a:cs typeface="华文细黑" panose="02010600040101010101" charset="-122"/>
                <a:sym typeface="华文细黑" panose="02010600040101010101" charset="-122"/>
              </a:rPr>
              <a:t>AI3013 Machine Learning Course Project</a:t>
            </a:r>
            <a:endParaRPr kumimoji="0" lang="en-US" sz="1100" b="0" i="0" u="none" strike="noStrike" kern="1200" cap="none" spc="0" normalizeH="0" baseline="0" noProof="0">
              <a:ln>
                <a:noFill/>
              </a:ln>
              <a:solidFill>
                <a:prstClr val="black"/>
              </a:solidFill>
              <a:effectLst/>
              <a:uLnTx/>
              <a:uFillTx/>
              <a:latin typeface="华文细黑" panose="02010600040101010101" charset="-122"/>
              <a:ea typeface="华文细黑" panose="02010600040101010101" charset="-122"/>
              <a:cs typeface="+mn-cs"/>
            </a:endParaRPr>
          </a:p>
        </p:txBody>
      </p:sp>
      <p:sp>
        <p:nvSpPr>
          <p:cNvPr id="16" name="文本框 15"/>
          <p:cNvSpPr txBox="1"/>
          <p:nvPr/>
        </p:nvSpPr>
        <p:spPr>
          <a:xfrm>
            <a:off x="4272312" y="3013922"/>
            <a:ext cx="4993608" cy="1076325"/>
          </a:xfrm>
          <a:prstGeom prst="rect">
            <a:avLst/>
          </a:prstGeom>
          <a:noFill/>
        </p:spPr>
        <p:txBody>
          <a:bodyPr wrap="square" rtlCol="0">
            <a:spAutoFit/>
          </a:bodyPr>
          <a:lstStyle/>
          <a:p>
            <a:r>
              <a:rPr lang="en-US" altLang="zh-CN" sz="3200" dirty="0">
                <a:gradFill>
                  <a:gsLst>
                    <a:gs pos="54000">
                      <a:schemeClr val="accent1"/>
                    </a:gs>
                    <a:gs pos="100000">
                      <a:schemeClr val="accent1">
                        <a:lumMod val="60000"/>
                        <a:lumOff val="40000"/>
                      </a:schemeClr>
                    </a:gs>
                  </a:gsLst>
                </a:gradFill>
              </a:rPr>
              <a:t>Conclusion </a:t>
            </a:r>
            <a:r>
              <a:rPr lang="en-US" altLang="zh-CN" sz="3200" dirty="0">
                <a:gradFill>
                  <a:gsLst>
                    <a:gs pos="54000">
                      <a:schemeClr val="accent1"/>
                    </a:gs>
                    <a:gs pos="100000">
                      <a:schemeClr val="accent1">
                        <a:lumMod val="60000"/>
                        <a:lumOff val="40000"/>
                      </a:schemeClr>
                    </a:gs>
                  </a:gsLst>
                </a:gradFill>
              </a:rPr>
              <a:t>and </a:t>
            </a:r>
            <a:endParaRPr lang="en-US" altLang="zh-CN" sz="3200" dirty="0">
              <a:gradFill>
                <a:gsLst>
                  <a:gs pos="54000">
                    <a:schemeClr val="accent1"/>
                  </a:gs>
                  <a:gs pos="100000">
                    <a:schemeClr val="accent1">
                      <a:lumMod val="60000"/>
                      <a:lumOff val="40000"/>
                    </a:schemeClr>
                  </a:gs>
                </a:gsLst>
              </a:gradFill>
            </a:endParaRPr>
          </a:p>
          <a:p>
            <a:r>
              <a:rPr lang="en-US" altLang="zh-CN" sz="3200" dirty="0">
                <a:gradFill>
                  <a:gsLst>
                    <a:gs pos="54000">
                      <a:schemeClr val="accent1"/>
                    </a:gs>
                    <a:gs pos="100000">
                      <a:schemeClr val="accent1">
                        <a:lumMod val="60000"/>
                        <a:lumOff val="40000"/>
                      </a:schemeClr>
                    </a:gs>
                  </a:gsLst>
                </a:gradFill>
              </a:rPr>
              <a:t>Future Work</a:t>
            </a:r>
            <a:endParaRPr lang="en-US" altLang="zh-CN" sz="3200" dirty="0">
              <a:gradFill>
                <a:gsLst>
                  <a:gs pos="54000">
                    <a:schemeClr val="accent1"/>
                  </a:gs>
                  <a:gs pos="100000">
                    <a:schemeClr val="accent1">
                      <a:lumMod val="60000"/>
                      <a:lumOff val="40000"/>
                    </a:schemeClr>
                  </a:gs>
                </a:gsLst>
              </a:gra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721279" y="706666"/>
            <a:ext cx="2084160" cy="2084160"/>
          </a:xfrm>
          <a:prstGeom prst="rect">
            <a:avLst/>
          </a:prstGeom>
          <a:solidFill>
            <a:schemeClr val="bg2">
              <a:alpha val="40000"/>
            </a:schemeClr>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24116" y="614737"/>
            <a:ext cx="3483506" cy="730885"/>
          </a:xfrm>
          <a:prstGeom prst="rect">
            <a:avLst/>
          </a:prstGeom>
        </p:spPr>
        <p:txBody>
          <a:bodyPr wrap="square">
            <a:spAutoFit/>
          </a:bodyPr>
          <a:lstStyle/>
          <a:p>
            <a:pPr>
              <a:lnSpc>
                <a:spcPct val="130000"/>
              </a:lnSpc>
            </a:pPr>
            <a:r>
              <a:rPr lang="en-US" altLang="zh-CN" sz="3200" b="1" dirty="0">
                <a:gradFill flip="none" rotWithShape="1">
                  <a:gsLst>
                    <a:gs pos="0">
                      <a:schemeClr val="accent1"/>
                    </a:gs>
                    <a:gs pos="100000">
                      <a:schemeClr val="accent1">
                        <a:lumMod val="60000"/>
                        <a:lumOff val="40000"/>
                      </a:schemeClr>
                    </a:gs>
                  </a:gsLst>
                  <a:lin ang="18900000" scaled="1"/>
                  <a:tileRect/>
                </a:gradFill>
                <a:latin typeface="+mj-lt"/>
              </a:rPr>
              <a:t>Conclusion</a:t>
            </a:r>
            <a:endParaRPr lang="en-US" altLang="zh-CN" sz="3200" b="1" dirty="0">
              <a:gradFill flip="none" rotWithShape="1">
                <a:gsLst>
                  <a:gs pos="0">
                    <a:schemeClr val="accent1"/>
                  </a:gs>
                  <a:gs pos="100000">
                    <a:schemeClr val="accent1">
                      <a:lumMod val="60000"/>
                      <a:lumOff val="40000"/>
                    </a:schemeClr>
                  </a:gs>
                </a:gsLst>
                <a:lin ang="18900000" scaled="1"/>
                <a:tileRect/>
              </a:gradFill>
              <a:latin typeface="+mj-lt"/>
            </a:endParaRPr>
          </a:p>
        </p:txBody>
      </p:sp>
      <p:cxnSp>
        <p:nvCxnSpPr>
          <p:cNvPr id="15" name="直接连接符 14"/>
          <p:cNvCxnSpPr/>
          <p:nvPr/>
        </p:nvCxnSpPr>
        <p:spPr>
          <a:xfrm>
            <a:off x="345993" y="1345324"/>
            <a:ext cx="522514"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1" cstate="screen"/>
          <a:srcRect/>
          <a:stretch>
            <a:fillRect/>
          </a:stretch>
        </p:blipFill>
        <p:spPr>
          <a:xfrm>
            <a:off x="8604885" y="706755"/>
            <a:ext cx="3285490" cy="4911090"/>
          </a:xfrm>
          <a:custGeom>
            <a:avLst/>
            <a:gdLst>
              <a:gd name="connsiteX0" fmla="*/ 0 w 3178628"/>
              <a:gd name="connsiteY0" fmla="*/ 0 h 4223656"/>
              <a:gd name="connsiteX1" fmla="*/ 3178628 w 3178628"/>
              <a:gd name="connsiteY1" fmla="*/ 0 h 4223656"/>
              <a:gd name="connsiteX2" fmla="*/ 3178628 w 3178628"/>
              <a:gd name="connsiteY2" fmla="*/ 4223656 h 4223656"/>
              <a:gd name="connsiteX3" fmla="*/ 0 w 3178628"/>
              <a:gd name="connsiteY3" fmla="*/ 4223656 h 4223656"/>
            </a:gdLst>
            <a:ahLst/>
            <a:cxnLst>
              <a:cxn ang="0">
                <a:pos x="connsiteX0" y="connsiteY0"/>
              </a:cxn>
              <a:cxn ang="0">
                <a:pos x="connsiteX1" y="connsiteY1"/>
              </a:cxn>
              <a:cxn ang="0">
                <a:pos x="connsiteX2" y="connsiteY2"/>
              </a:cxn>
              <a:cxn ang="0">
                <a:pos x="connsiteX3" y="connsiteY3"/>
              </a:cxn>
            </a:cxnLst>
            <a:rect l="l" t="t" r="r" b="b"/>
            <a:pathLst>
              <a:path w="3178628" h="4223656">
                <a:moveTo>
                  <a:pt x="0" y="0"/>
                </a:moveTo>
                <a:lnTo>
                  <a:pt x="3178628" y="0"/>
                </a:lnTo>
                <a:lnTo>
                  <a:pt x="3178628" y="4223656"/>
                </a:lnTo>
                <a:lnTo>
                  <a:pt x="0" y="4223656"/>
                </a:lnTo>
                <a:close/>
              </a:path>
            </a:pathLst>
          </a:custGeom>
          <a:solidFill>
            <a:schemeClr val="bg1"/>
          </a:solidFill>
          <a:ln w="50800">
            <a:solidFill>
              <a:schemeClr val="bg1"/>
            </a:solidFill>
            <a:miter lim="800000"/>
            <a:headEnd/>
            <a:tailEnd/>
          </a:ln>
          <a:effectLst>
            <a:outerShdw blurRad="596900" dist="342900" dir="2700000" algn="tl" rotWithShape="0">
              <a:schemeClr val="tx1">
                <a:lumMod val="75000"/>
                <a:lumOff val="25000"/>
                <a:alpha val="18000"/>
              </a:schemeClr>
            </a:outerShdw>
          </a:effectLst>
        </p:spPr>
      </p:pic>
      <p:sp>
        <p:nvSpPr>
          <p:cNvPr id="2" name="文本框 1"/>
          <p:cNvSpPr txBox="1"/>
          <p:nvPr/>
        </p:nvSpPr>
        <p:spPr>
          <a:xfrm>
            <a:off x="721360" y="1345565"/>
            <a:ext cx="8260080" cy="4904740"/>
          </a:xfrm>
          <a:prstGeom prst="rect">
            <a:avLst/>
          </a:prstGeom>
          <a:noFill/>
        </p:spPr>
        <p:txBody>
          <a:bodyPr wrap="square" rtlCol="0">
            <a:noAutofit/>
          </a:bodyPr>
          <a:p>
            <a:r>
              <a:rPr lang="en-US" altLang="zh-CN">
                <a:latin typeface="Calibri" panose="020F0502020204030204" charset="0"/>
                <a:cs typeface="Calibri" panose="020F0502020204030204" charset="0"/>
              </a:rPr>
              <a:t>Main findings</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Gaussian Naive Bayes achieved the highest F1-score.</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Logistic Regression achieved the highest ROC-AUC.</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Gaussian Naive Bayes was the fastest model.</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Logistic Regression had the smallest generalization gap.</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The best threshold for Logistic Regression by F1 was 0.30.</a:t>
            </a:r>
            <a:endParaRPr lang="en-US" altLang="zh-CN">
              <a:latin typeface="Calibri" panose="020F0502020204030204" charset="0"/>
              <a:cs typeface="Calibri" panose="020F0502020204030204" charset="0"/>
            </a:endParaRPr>
          </a:p>
          <a:p>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Overall conclusion</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Classical machine learning models implemented from scratch can effectively solve telecom churn prediction.</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Different models are preferable under different business objectives.</a:t>
            </a:r>
            <a:endParaRPr lang="en-US" altLang="zh-CN">
              <a:latin typeface="Calibri" panose="020F0502020204030204" charset="0"/>
              <a:cs typeface="Calibri" panose="020F0502020204030204" charset="0"/>
            </a:endParaRPr>
          </a:p>
          <a:p>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Future work</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Test on more datasets</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Improve decision tree split strategy</a:t>
            </a:r>
            <a:endParaRPr lang="en-US" altLang="zh-CN">
              <a:latin typeface="Calibri" panose="020F0502020204030204" charset="0"/>
              <a:cs typeface="Calibri" panose="020F0502020204030204" charset="0"/>
            </a:endParaRPr>
          </a:p>
          <a:p>
            <a:r>
              <a:rPr lang="en-US" altLang="zh-CN">
                <a:latin typeface="Calibri" panose="020F0502020204030204" charset="0"/>
                <a:cs typeface="Calibri" panose="020F0502020204030204" charset="0"/>
              </a:rPr>
              <a:t>• Explore cost-sensitive learning</a:t>
            </a:r>
            <a:endParaRPr lang="en-US" altLang="zh-CN">
              <a:latin typeface="Calibri" panose="020F0502020204030204" charset="0"/>
              <a:cs typeface="Calibri" panose="020F0502020204030204" charset="0"/>
            </a:endParaRPr>
          </a:p>
        </p:txBody>
      </p:sp>
      <p:pic>
        <p:nvPicPr>
          <p:cNvPr id="3" name="图片 2"/>
          <p:cNvPicPr>
            <a:picLocks noChangeAspect="1"/>
          </p:cNvPicPr>
          <p:nvPr/>
        </p:nvPicPr>
        <p:blipFill>
          <a:blip r:embed="rId2"/>
          <a:stretch>
            <a:fillRect/>
          </a:stretch>
        </p:blipFill>
        <p:spPr>
          <a:xfrm>
            <a:off x="721360" y="1276350"/>
            <a:ext cx="7505700" cy="2041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childTnLst>
                                </p:cTn>
                              </p:par>
                              <p:par>
                                <p:cTn id="8" presetID="63" presetClass="path" presetSubtype="0" decel="50000" fill="hold" grpId="1" nodeType="withEffect">
                                  <p:stCondLst>
                                    <p:cond delay="0"/>
                                  </p:stCondLst>
                                  <p:childTnLst>
                                    <p:animMotion origin="layout" path="M -0.01563 -3.7037E-6 L 0.1108 -3.7037E-6 " pathEditMode="relative" rAng="0" ptsTypes="AA">
                                      <p:cBhvr>
                                        <p:cTn id="9" dur="750" spd="-100000" fill="hold"/>
                                        <p:tgtEl>
                                          <p:spTgt spid="14"/>
                                        </p:tgtEl>
                                        <p:attrNameLst>
                                          <p:attrName>ppt_x</p:attrName>
                                          <p:attrName>ppt_y</p:attrName>
                                        </p:attrNameLst>
                                      </p:cBhvr>
                                      <p:rCtr x="6315" y="0"/>
                                    </p:animMotion>
                                  </p:childTnLst>
                                </p:cTn>
                              </p:par>
                              <p:par>
                                <p:cTn id="10" presetID="35" presetClass="path" presetSubtype="0" accel="50000" decel="50000" fill="hold" grpId="2" nodeType="withEffect">
                                  <p:stCondLst>
                                    <p:cond delay="750"/>
                                  </p:stCondLst>
                                  <p:childTnLst>
                                    <p:animMotion origin="layout" path="M -0.01563 -3.7037E-6 L 3.33333E-6 -3.7037E-6 " pathEditMode="relative" rAng="0" ptsTypes="AA">
                                      <p:cBhvr>
                                        <p:cTn id="11" dur="750" fill="hold"/>
                                        <p:tgtEl>
                                          <p:spTgt spid="14"/>
                                        </p:tgtEl>
                                        <p:attrNameLst>
                                          <p:attrName>ppt_x</p:attrName>
                                          <p:attrName>ppt_y</p:attrName>
                                        </p:attrNameLst>
                                      </p:cBhvr>
                                      <p:rCtr x="781" y="0"/>
                                    </p:animMotion>
                                  </p:childTnLst>
                                </p:cTn>
                              </p:par>
                              <p:par>
                                <p:cTn id="12" presetID="22" presetClass="entr" presetSubtype="8"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left)">
                                      <p:cBhvr>
                                        <p:cTn id="14" dur="1250"/>
                                        <p:tgtEl>
                                          <p:spTgt spid="15"/>
                                        </p:tgtEl>
                                      </p:cBhvr>
                                    </p:animEffect>
                                  </p:childTnLst>
                                </p:cTn>
                              </p:par>
                              <p:par>
                                <p:cTn id="15" presetID="63" presetClass="path" presetSubtype="0" decel="50000" fill="hold" nodeType="withEffect">
                                  <p:stCondLst>
                                    <p:cond delay="0"/>
                                  </p:stCondLst>
                                  <p:childTnLst>
                                    <p:animMotion origin="layout" path="M -0.01563 -3.7037E-6 L 0.1108 -3.7037E-6 " pathEditMode="relative" rAng="0" ptsTypes="AA">
                                      <p:cBhvr>
                                        <p:cTn id="16" dur="750" spd="-100000" fill="hold"/>
                                        <p:tgtEl>
                                          <p:spTgt spid="15"/>
                                        </p:tgtEl>
                                        <p:attrNameLst>
                                          <p:attrName>ppt_x</p:attrName>
                                          <p:attrName>ppt_y</p:attrName>
                                        </p:attrNameLst>
                                      </p:cBhvr>
                                      <p:rCtr x="6315" y="0"/>
                                    </p:animMotion>
                                  </p:childTnLst>
                                </p:cTn>
                              </p:par>
                              <p:par>
                                <p:cTn id="17" presetID="35" presetClass="path" presetSubtype="0" accel="50000" decel="50000" fill="hold" nodeType="withEffect">
                                  <p:stCondLst>
                                    <p:cond delay="750"/>
                                  </p:stCondLst>
                                  <p:childTnLst>
                                    <p:animMotion origin="layout" path="M -0.01563 -3.7037E-6 L 3.33333E-6 -3.7037E-6 " pathEditMode="relative" rAng="0" ptsTypes="AA">
                                      <p:cBhvr>
                                        <p:cTn id="18" dur="750" fill="hold"/>
                                        <p:tgtEl>
                                          <p:spTgt spid="1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childTnLst>
                                </p:cTn>
                              </p:par>
                              <p:par>
                                <p:cTn id="22" presetID="63" presetClass="path" presetSubtype="0" decel="50000" fill="hold" grpId="1" nodeType="withEffect">
                                  <p:stCondLst>
                                    <p:cond delay="0"/>
                                  </p:stCondLst>
                                  <p:childTnLst>
                                    <p:animMotion origin="layout" path="M -0.05791 -0.10295 L 0 0 E" pathEditMode="relative" ptsTypes="">
                                      <p:cBhvr>
                                        <p:cTn id="23" dur="1000" fill="hold"/>
                                        <p:tgtEl>
                                          <p:spTgt spid="16"/>
                                        </p:tgtEl>
                                        <p:attrNameLst>
                                          <p:attrName>ppt_x</p:attrName>
                                          <p:attrName>ppt_y</p:attrName>
                                        </p:attrNameLst>
                                      </p:cBhvr>
                                    </p:animMotion>
                                  </p:childTnLst>
                                </p:cTn>
                              </p:par>
                              <p:par>
                                <p:cTn id="24" presetID="6" presetClass="emph" presetSubtype="0" decel="50000" fill="hold" grpId="2" nodeType="withEffect">
                                  <p:stCondLst>
                                    <p:cond delay="0"/>
                                  </p:stCondLst>
                                  <p:childTnLst>
                                    <p:animScale>
                                      <p:cBhvr>
                                        <p:cTn id="25" dur="1000" fill="hold"/>
                                        <p:tgtEl>
                                          <p:spTgt spid="16"/>
                                        </p:tgtEl>
                                      </p:cBhvr>
                                      <p:by x="150000" y="150000"/>
                                      <p:from x="32248" y="32248"/>
                                      <p:to x="100000" y="100000"/>
                                    </p:animScale>
                                  </p:childTnLst>
                                </p:cTn>
                              </p:par>
                              <p:par>
                                <p:cTn id="26" presetID="10" presetClass="entr" presetSubtype="0" fill="hold" nodeType="withEffect">
                                  <p:stCondLst>
                                    <p:cond delay="5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childTnLst>
                                </p:cTn>
                              </p:par>
                              <p:par>
                                <p:cTn id="29" presetID="63" presetClass="path" presetSubtype="0" decel="50000" fill="hold" nodeType="withEffect">
                                  <p:stCondLst>
                                    <p:cond delay="500"/>
                                  </p:stCondLst>
                                  <p:childTnLst>
                                    <p:animMotion origin="layout" path="M -0.082682 0.21967 L 0 0 E" pathEditMode="relative" ptsTypes="">
                                      <p:cBhvr>
                                        <p:cTn id="30" dur="1000" fill="hold"/>
                                        <p:tgtEl>
                                          <p:spTgt spid="11"/>
                                        </p:tgtEl>
                                        <p:attrNameLst>
                                          <p:attrName>ppt_x</p:attrName>
                                          <p:attrName>ppt_y</p:attrName>
                                        </p:attrNameLst>
                                      </p:cBhvr>
                                    </p:animMotion>
                                  </p:childTnLst>
                                </p:cTn>
                              </p:par>
                              <p:par>
                                <p:cTn id="31" presetID="6" presetClass="emph" presetSubtype="0" decel="50000" fill="hold" nodeType="withEffect">
                                  <p:stCondLst>
                                    <p:cond delay="500"/>
                                  </p:stCondLst>
                                  <p:childTnLst>
                                    <p:animScale>
                                      <p:cBhvr>
                                        <p:cTn id="32" dur="1000" fill="hold"/>
                                        <p:tgtEl>
                                          <p:spTgt spid="11"/>
                                        </p:tgtEl>
                                      </p:cBhvr>
                                      <p:by x="150000" y="150000"/>
                                      <p:from x="22830" y="2283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6" grpId="1" bldLvl="0" animBg="1"/>
      <p:bldP spid="16" grpId="2" bldLvl="0" animBg="1"/>
      <p:bldP spid="14" grpId="0"/>
      <p:bldP spid="14" grpId="1"/>
      <p:bldP spid="14" grpId="2"/>
    </p:bldLst>
  </p:timing>
</p:sld>
</file>

<file path=ppt/tags/tag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1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2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3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4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3.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4.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5.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6.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7.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8.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59.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60.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61.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62.xml><?xml version="1.0" encoding="utf-8"?>
<p:tagLst xmlns:p="http://schemas.openxmlformats.org/presentationml/2006/main">
  <p:tag name="KSO_WM_DIAGRAM_VIRTUALLY_FRAME" val="{&quot;height&quot;:393.9981102362205,&quot;left&quot;:74.0159842519685,&quot;top&quot;:71.34015748031496,&quot;width&quot;:811.0285039370078}"/>
</p:tagLst>
</file>

<file path=ppt/tags/tag63.xml><?xml version="1.0" encoding="utf-8"?>
<p:tagLst xmlns:p="http://schemas.openxmlformats.org/presentationml/2006/main">
  <p:tag name="KSO_WM_DIAGRAM_VIRTUALLY_FRAME" val="{&quot;height&quot;:298.08220472440945,&quot;left&quot;:56.79354330708661,&quot;top&quot;:183,&quot;width&quot;:721.4922047244094}"/>
</p:tagLst>
</file>

<file path=ppt/tags/tag64.xml><?xml version="1.0" encoding="utf-8"?>
<p:tagLst xmlns:p="http://schemas.openxmlformats.org/presentationml/2006/main">
  <p:tag name="KSO_WM_DIAGRAM_VIRTUALLY_FRAME" val="{&quot;height&quot;:298.08220472440945,&quot;left&quot;:56.79354330708661,&quot;top&quot;:183,&quot;width&quot;:721.4922047244094}"/>
</p:tagLst>
</file>

<file path=ppt/tags/tag65.xml><?xml version="1.0" encoding="utf-8"?>
<p:tagLst xmlns:p="http://schemas.openxmlformats.org/presentationml/2006/main">
  <p:tag name="KSO_WM_DIAGRAM_VIRTUALLY_FRAME" val="{&quot;height&quot;:298.08220472440945,&quot;left&quot;:56.79354330708661,&quot;top&quot;:183,&quot;width&quot;:721.4922047244094}"/>
</p:tagLst>
</file>

<file path=ppt/tags/tag66.xml><?xml version="1.0" encoding="utf-8"?>
<p:tagLst xmlns:p="http://schemas.openxmlformats.org/presentationml/2006/main">
  <p:tag name="KSO_WM_DIAGRAM_VIRTUALLY_FRAME" val="{&quot;height&quot;:298.08220472440945,&quot;left&quot;:56.79354330708661,&quot;top&quot;:183,&quot;width&quot;:721.4922047244094}"/>
</p:tagLst>
</file>

<file path=ppt/tags/tag67.xml><?xml version="1.0" encoding="utf-8"?>
<p:tagLst xmlns:p="http://schemas.openxmlformats.org/presentationml/2006/main">
  <p:tag name="KSO_WM_DIAGRAM_VIRTUALLY_FRAME" val="{&quot;height&quot;:298.08220472440945,&quot;left&quot;:56.79354330708661,&quot;top&quot;:183,&quot;width&quot;:721.4922047244094}"/>
</p:tagLst>
</file>

<file path=ppt/tags/tag68.xml><?xml version="1.0" encoding="utf-8"?>
<p:tagLst xmlns:p="http://schemas.openxmlformats.org/presentationml/2006/main">
  <p:tag name="KSO_WM_DIAGRAM_VIRTUALLY_FRAME" val="{&quot;height&quot;:298.08220472440945,&quot;left&quot;:56.79354330708661,&quot;top&quot;:183,&quot;width&quot;:721.4922047244094}"/>
</p:tagLst>
</file>

<file path=ppt/tags/tag69.xml><?xml version="1.0" encoding="utf-8"?>
<p:tagLst xmlns:p="http://schemas.openxmlformats.org/presentationml/2006/main">
  <p:tag name="KSO_WM_DIAGRAM_VIRTUALLY_FRAME" val="{&quot;height&quot;:298.08220472440945,&quot;left&quot;:56.79354330708661,&quot;top&quot;:183,&quot;width&quot;:721.4922047244094}"/>
</p:tagLst>
</file>

<file path=ppt/tags/tag70.xml><?xml version="1.0" encoding="utf-8"?>
<p:tagLst xmlns:p="http://schemas.openxmlformats.org/presentationml/2006/main">
  <p:tag name="KSO_WM_DIAGRAM_VIRTUALLY_FRAME" val="{&quot;height&quot;:298.08220472440945,&quot;left&quot;:56.79354330708661,&quot;top&quot;:183,&quot;width&quot;:721.4922047244094}"/>
</p:tagLst>
</file>

<file path=ppt/tags/tag71.xml><?xml version="1.0" encoding="utf-8"?>
<p:tagLst xmlns:p="http://schemas.openxmlformats.org/presentationml/2006/main">
  <p:tag name="KSO_WM_DIAGRAM_VIRTUALLY_FRAME" val="{&quot;height&quot;:298.08220472440945,&quot;left&quot;:56.79354330708661,&quot;top&quot;:183,&quot;width&quot;:721.4922047244094}"/>
</p:tagLst>
</file>

<file path=ppt/tags/tag72.xml><?xml version="1.0" encoding="utf-8"?>
<p:tagLst xmlns:p="http://schemas.openxmlformats.org/presentationml/2006/main">
  <p:tag name="KSO_WM_DIAGRAM_VIRTUALLY_FRAME" val="{&quot;height&quot;:298.08220472440945,&quot;left&quot;:56.79354330708661,&quot;top&quot;:183,&quot;width&quot;:721.4922047244094}"/>
</p:tagLst>
</file>

<file path=ppt/tags/tag73.xml><?xml version="1.0" encoding="utf-8"?>
<p:tagLst xmlns:p="http://schemas.openxmlformats.org/presentationml/2006/main">
  <p:tag name="KSO_WM_DIAGRAM_VIRTUALLY_FRAME" val="{&quot;height&quot;:298.08220472440945,&quot;left&quot;:56.79354330708661,&quot;top&quot;:183,&quot;width&quot;:721.4922047244094}"/>
</p:tagLst>
</file>

<file path=ppt/theme/theme1.xml><?xml version="1.0" encoding="utf-8"?>
<a:theme xmlns:a="http://schemas.openxmlformats.org/drawingml/2006/main" name="Office 主题">
  <a:themeElements>
    <a:clrScheme name="深灰蓝">
      <a:dk1>
        <a:sysClr val="windowText" lastClr="000000"/>
      </a:dk1>
      <a:lt1>
        <a:sysClr val="window" lastClr="FFFFFF"/>
      </a:lt1>
      <a:dk2>
        <a:srgbClr val="44546A"/>
      </a:dk2>
      <a:lt2>
        <a:srgbClr val="E7E6E6"/>
      </a:lt2>
      <a:accent1>
        <a:srgbClr val="485575"/>
      </a:accent1>
      <a:accent2>
        <a:srgbClr val="F2D4AA"/>
      </a:accent2>
      <a:accent3>
        <a:srgbClr val="ECEFF1"/>
      </a:accent3>
      <a:accent4>
        <a:srgbClr val="FFC000"/>
      </a:accent4>
      <a:accent5>
        <a:srgbClr val="4472C4"/>
      </a:accent5>
      <a:accent6>
        <a:srgbClr val="70AD47"/>
      </a:accent6>
      <a:hlink>
        <a:srgbClr val="0563C1"/>
      </a:hlink>
      <a:folHlink>
        <a:srgbClr val="954F72"/>
      </a:folHlink>
    </a:clrScheme>
    <a:fontScheme name="华文细黑">
      <a:majorFont>
        <a:latin typeface="华文细黑"/>
        <a:ea typeface="华文细黑"/>
        <a:cs typeface=""/>
      </a:majorFont>
      <a:minorFont>
        <a:latin typeface="华文细黑"/>
        <a:ea typeface="华文细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9028</Words>
  <Application>WPS 演示</Application>
  <PresentationFormat>宽屏</PresentationFormat>
  <Paragraphs>400</Paragraphs>
  <Slides>28</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28</vt:i4>
      </vt:variant>
    </vt:vector>
  </HeadingPairs>
  <TitlesOfParts>
    <vt:vector size="41" baseType="lpstr">
      <vt:lpstr>Arial</vt:lpstr>
      <vt:lpstr>宋体</vt:lpstr>
      <vt:lpstr>Wingdings</vt:lpstr>
      <vt:lpstr>Arial</vt:lpstr>
      <vt:lpstr>Arca Majora 2 Heavy</vt:lpstr>
      <vt:lpstr>华文细黑</vt:lpstr>
      <vt:lpstr>Calibri</vt:lpstr>
      <vt:lpstr>Noto Sans SC</vt:lpstr>
      <vt:lpstr>微软雅黑</vt:lpstr>
      <vt:lpstr>Arial Unicode MS</vt:lpstr>
      <vt:lpstr>Calibri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张涛</dc:creator>
  <cp:lastModifiedBy>YY</cp:lastModifiedBy>
  <cp:revision>1</cp:revision>
  <dcterms:created xsi:type="dcterms:W3CDTF">2026-06-08T14:57:39Z</dcterms:created>
  <dcterms:modified xsi:type="dcterms:W3CDTF">2026-06-08T14:57:39Z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944CDDC5EFA14E43B86503ABC9053EF9_13</vt:lpwstr>
  </property>
</Properties>
</file>